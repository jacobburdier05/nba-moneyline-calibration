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Thirty seconds: I tested whether NBA favorites win as often as their prices say. The answer turned out to depend on a modeling step almost every paper in this area settles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narrowness is the point. A vague question cannot be tested with enough power to mean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Professor Losak made exactly this point about my first draft. It became the opening paragraph of the new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confusion in this literature comes from treating these three as one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could have called this preregistered. It would not have been true, and the distinction is the kind of thing a reviewer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game is quoted with a booksum below one, which no single book would offer. That is independent evidence the series is a blend.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exact null mean and standard deviation match the analytic ones to four decimals, which is a free check on the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estimators, none rejects. The continuous calibration regression is less stable and I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picture behind the number, and the least surprising slide in the deck. That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reviewer caught this. It was the sharpest statistical point anyone made about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difference between an economically anchored threshold and an arbitrary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earlier draft marked 1.7 and 5.1 as the range claimed in prior work. Neither could be traced to a source I cited, so both were removed rather than re-sourced.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papers pick a rule in one sentence and never come back to it. That sentence turns out to decide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normalization is significant where the pre-set rule is not. On a fixed sample it still lands below the bar, by one hundredth of a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dependence, not the null, is what the paper is actually about. It is also why the title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paper reports favorite bias close to the overround, check whether they removed the vig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three or more outcomes they separate. The equivalence is specific to a two-way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rather show the corrections than have someone find them. This slide is deliberate.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verification runs first on purpose. If the inputs are wrong, nothing after it is worth computing.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reader remembers one slide, it should be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is in the paper. None of them was found by a reviewer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the hole, not the compliment. It is a better question and you get better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B5A28"/>
        </a:solidFill>
      </p:bgPr>
    </p:bg>
    <p:spTree>
      <p:nvGrpSpPr>
        <p:cNvPr id="1" name=""/>
        <p:cNvGrpSpPr/>
        <p:nvPr/>
      </p:nvGrpSpPr>
      <p:grpSpPr>
        <a:xfrm>
          <a:off x="0" y="0"/>
          <a:ext cx="0" cy="0"/>
          <a:chOff x="0" y="0"/>
          <a:chExt cx="0" cy="0"/>
        </a:xfrm>
      </p:grpSpPr>
      <p:sp>
        <p:nvSpPr>
          <p:cNvPr id="2" name="Shape 0"/>
          <p:cNvSpPr/>
          <p:nvPr/>
        </p:nvSpPr>
        <p:spPr>
          <a:xfrm>
            <a:off x="9509760" y="-1005840"/>
            <a:ext cx="3840480" cy="3840480"/>
          </a:xfrm>
          <a:prstGeom prst="ellipse">
            <a:avLst/>
          </a:prstGeom>
          <a:solidFill>
            <a:srgbClr val="FFFFFF">
              <a:alpha val="14000"/>
            </a:srgbClr>
          </a:solidFill>
          <a:ln/>
        </p:spPr>
      </p:sp>
      <p:sp>
        <p:nvSpPr>
          <p:cNvPr id="3" name="Shape 1"/>
          <p:cNvSpPr/>
          <p:nvPr/>
        </p:nvSpPr>
        <p:spPr>
          <a:xfrm>
            <a:off x="-914400" y="4754880"/>
            <a:ext cx="3108960" cy="3108960"/>
          </a:xfrm>
          <a:prstGeom prst="ellipse">
            <a:avLst/>
          </a:prstGeom>
          <a:solidFill>
            <a:srgbClr val="FFFFFF">
              <a:alpha val="10000"/>
            </a:srgbClr>
          </a:solidFill>
          <a:ln/>
        </p:spPr>
      </p:sp>
      <p:sp>
        <p:nvSpPr>
          <p:cNvPr id="4" name="Shape 2"/>
          <p:cNvSpPr/>
          <p:nvPr/>
        </p:nvSpPr>
        <p:spPr>
          <a:xfrm>
            <a:off x="10332720" y="4937760"/>
            <a:ext cx="1554480" cy="1554480"/>
          </a:xfrm>
          <a:prstGeom prst="ellipse">
            <a:avLst/>
          </a:prstGeom>
          <a:solidFill>
            <a:srgbClr val="FFF7EC">
              <a:alpha val="0"/>
            </a:srgbClr>
          </a:solidFill>
          <a:ln w="38100">
            <a:solidFill>
              <a:srgbClr val="FFFFFF"/>
            </a:solidFill>
            <a:prstDash val="solid"/>
          </a:ln>
        </p:spPr>
      </p:sp>
      <p:sp>
        <p:nvSpPr>
          <p:cNvPr id="5" name="Text 3"/>
          <p:cNvSpPr/>
          <p:nvPr/>
        </p:nvSpPr>
        <p:spPr>
          <a:xfrm>
            <a:off x="566928" y="1234440"/>
            <a:ext cx="9509760" cy="1828800"/>
          </a:xfrm>
          <a:prstGeom prst="rect">
            <a:avLst/>
          </a:prstGeom>
          <a:noFill/>
          <a:ln/>
        </p:spPr>
        <p:txBody>
          <a:bodyPr wrap="square" lIns="0" tIns="0" rIns="0" bIns="0" rtlCol="0" anchor="ctr"/>
          <a:lstStyle/>
          <a:p>
            <a:pPr algn="l" indent="0" marL="0">
              <a:lnSpc>
                <a:spcPct val="105000"/>
              </a:lnSpc>
              <a:buNone/>
            </a:pPr>
            <a:r>
              <a:rPr lang="en-US" sz="4600" b="1" dirty="0">
                <a:solidFill>
                  <a:srgbClr val="FFFFFF"/>
                </a:solidFill>
                <a:latin typeface="Century Gothic" pitchFamily="34" charset="0"/>
                <a:ea typeface="Century Gothic" pitchFamily="34" charset="-122"/>
                <a:cs typeface="Century Gothic" pitchFamily="34" charset="-120"/>
              </a:rPr>
              <a:t>Vig Removal</a:t>
            </a:r>
            <a:endParaRPr lang="en-US" sz="4600" dirty="0"/>
          </a:p>
          <a:p>
            <a:pPr algn="l" indent="0" marL="0">
              <a:lnSpc>
                <a:spcPct val="105000"/>
              </a:lnSpc>
              <a:buNone/>
            </a:pPr>
            <a:r>
              <a:rPr lang="en-US" sz="4600" b="1" dirty="0">
                <a:solidFill>
                  <a:srgbClr val="FFFFFF"/>
                </a:solidFill>
                <a:latin typeface="Century Gothic" pitchFamily="34" charset="0"/>
                <a:ea typeface="Century Gothic" pitchFamily="34" charset="-122"/>
                <a:cs typeface="Century Gothic" pitchFamily="34" charset="-120"/>
              </a:rPr>
              <a:t>Changes the Answer</a:t>
            </a:r>
            <a:endParaRPr lang="en-US" sz="4600" dirty="0"/>
          </a:p>
        </p:txBody>
      </p:sp>
      <p:sp>
        <p:nvSpPr>
          <p:cNvPr id="6" name="Text 4"/>
          <p:cNvSpPr/>
          <p:nvPr/>
        </p:nvSpPr>
        <p:spPr>
          <a:xfrm>
            <a:off x="566928" y="3200400"/>
            <a:ext cx="9509760" cy="457200"/>
          </a:xfrm>
          <a:prstGeom prst="rect">
            <a:avLst/>
          </a:prstGeom>
          <a:noFill/>
          <a:ln/>
        </p:spPr>
        <p:txBody>
          <a:bodyPr wrap="square" lIns="0" tIns="0" rIns="0" bIns="0" rtlCol="0" anchor="ctr"/>
          <a:lstStyle/>
          <a:p>
            <a:pPr algn="l" indent="0" marL="0">
              <a:buNone/>
            </a:pPr>
            <a:r>
              <a:rPr lang="en-US" sz="1800" dirty="0">
                <a:solidFill>
                  <a:srgbClr val="FFFFFF"/>
                </a:solidFill>
                <a:latin typeface="Calibri" pitchFamily="34" charset="0"/>
                <a:ea typeface="Calibri" pitchFamily="34" charset="-122"/>
                <a:cs typeface="Calibri" pitchFamily="34" charset="-120"/>
              </a:rPr>
              <a:t>A pre-specified calibration test of 15,351 archived NBA moneylines</a:t>
            </a:r>
            <a:endParaRPr lang="en-US" sz="1800" dirty="0"/>
          </a:p>
        </p:txBody>
      </p:sp>
      <p:sp>
        <p:nvSpPr>
          <p:cNvPr id="7" name="Text 5"/>
          <p:cNvSpPr/>
          <p:nvPr/>
        </p:nvSpPr>
        <p:spPr>
          <a:xfrm>
            <a:off x="566928" y="3703320"/>
            <a:ext cx="9509760" cy="36576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Jacob Burdier   ·   The Scholars’ Academy   ·   2026</a:t>
            </a:r>
            <a:endParaRPr lang="en-US" sz="1300" dirty="0"/>
          </a:p>
        </p:txBody>
      </p:sp>
      <p:sp>
        <p:nvSpPr>
          <p:cNvPr id="8" name="Shape 6"/>
          <p:cNvSpPr/>
          <p:nvPr/>
        </p:nvSpPr>
        <p:spPr>
          <a:xfrm>
            <a:off x="566928" y="4617720"/>
            <a:ext cx="2212848" cy="1170432"/>
          </a:xfrm>
          <a:prstGeom prst="roundRect">
            <a:avLst>
              <a:gd name="adj" fmla="val 12500"/>
            </a:avLst>
          </a:prstGeom>
          <a:solidFill>
            <a:srgbClr val="FFFFFF"/>
          </a:solidFill>
          <a:ln/>
        </p:spPr>
      </p:sp>
      <p:sp>
        <p:nvSpPr>
          <p:cNvPr id="9" name="Text 7"/>
          <p:cNvSpPr/>
          <p:nvPr/>
        </p:nvSpPr>
        <p:spPr>
          <a:xfrm>
            <a:off x="804672" y="4736592"/>
            <a:ext cx="1828800" cy="566928"/>
          </a:xfrm>
          <a:prstGeom prst="rect">
            <a:avLst/>
          </a:prstGeom>
          <a:noFill/>
          <a:ln/>
        </p:spPr>
        <p:txBody>
          <a:bodyPr wrap="square" lIns="0" tIns="0" rIns="0" bIns="0" rtlCol="0" anchor="ctr"/>
          <a:lstStyle/>
          <a:p>
            <a:pPr algn="l" indent="0" marL="0">
              <a:buNone/>
            </a:pPr>
            <a:r>
              <a:rPr lang="en-US" sz="2600" b="1" dirty="0">
                <a:solidFill>
                  <a:srgbClr val="DB5A28"/>
                </a:solidFill>
                <a:latin typeface="Century Gothic" pitchFamily="34" charset="0"/>
                <a:ea typeface="Century Gothic" pitchFamily="34" charset="-122"/>
                <a:cs typeface="Century Gothic" pitchFamily="34" charset="-120"/>
              </a:rPr>
              <a:t>15,351</a:t>
            </a:r>
            <a:endParaRPr lang="en-US" sz="2600" dirty="0"/>
          </a:p>
        </p:txBody>
      </p:sp>
      <p:sp>
        <p:nvSpPr>
          <p:cNvPr id="10" name="Text 8"/>
          <p:cNvSpPr/>
          <p:nvPr/>
        </p:nvSpPr>
        <p:spPr>
          <a:xfrm>
            <a:off x="804672" y="5303520"/>
            <a:ext cx="1828800" cy="329184"/>
          </a:xfrm>
          <a:prstGeom prst="rect">
            <a:avLst/>
          </a:prstGeom>
          <a:noFill/>
          <a:ln/>
        </p:spPr>
        <p:txBody>
          <a:bodyPr wrap="square" lIns="0" tIns="0" rIns="0" bIns="0" rtlCol="0" anchor="ctr"/>
          <a:lstStyle/>
          <a:p>
            <a:pPr algn="l" indent="0" marL="0">
              <a:buNone/>
            </a:pPr>
            <a:r>
              <a:rPr lang="en-US" sz="1200" dirty="0">
                <a:solidFill>
                  <a:srgbClr val="6E5A48"/>
                </a:solidFill>
                <a:latin typeface="Calibri" pitchFamily="34" charset="0"/>
                <a:ea typeface="Calibri" pitchFamily="34" charset="-122"/>
                <a:cs typeface="Calibri" pitchFamily="34" charset="-120"/>
              </a:rPr>
              <a:t>games</a:t>
            </a:r>
            <a:endParaRPr lang="en-US" sz="1200" dirty="0"/>
          </a:p>
        </p:txBody>
      </p:sp>
      <p:sp>
        <p:nvSpPr>
          <p:cNvPr id="11" name="Shape 9"/>
          <p:cNvSpPr/>
          <p:nvPr/>
        </p:nvSpPr>
        <p:spPr>
          <a:xfrm>
            <a:off x="3035808" y="4617720"/>
            <a:ext cx="2212848" cy="1170432"/>
          </a:xfrm>
          <a:prstGeom prst="roundRect">
            <a:avLst>
              <a:gd name="adj" fmla="val 12500"/>
            </a:avLst>
          </a:prstGeom>
          <a:solidFill>
            <a:srgbClr val="FFFFFF"/>
          </a:solidFill>
          <a:ln/>
        </p:spPr>
      </p:sp>
      <p:sp>
        <p:nvSpPr>
          <p:cNvPr id="12" name="Text 10"/>
          <p:cNvSpPr/>
          <p:nvPr/>
        </p:nvSpPr>
        <p:spPr>
          <a:xfrm>
            <a:off x="3273552" y="4736592"/>
            <a:ext cx="1828800" cy="566928"/>
          </a:xfrm>
          <a:prstGeom prst="rect">
            <a:avLst/>
          </a:prstGeom>
          <a:noFill/>
          <a:ln/>
        </p:spPr>
        <p:txBody>
          <a:bodyPr wrap="square" lIns="0" tIns="0" rIns="0" bIns="0" rtlCol="0" anchor="ctr"/>
          <a:lstStyle/>
          <a:p>
            <a:pPr algn="l" indent="0" marL="0">
              <a:buNone/>
            </a:pPr>
            <a:r>
              <a:rPr lang="en-US" sz="2600" b="1" dirty="0">
                <a:solidFill>
                  <a:srgbClr val="DB5A28"/>
                </a:solidFill>
                <a:latin typeface="Century Gothic" pitchFamily="34" charset="0"/>
                <a:ea typeface="Century Gothic" pitchFamily="34" charset="-122"/>
                <a:cs typeface="Century Gothic" pitchFamily="34" charset="-120"/>
              </a:rPr>
              <a:t>5</a:t>
            </a:r>
            <a:endParaRPr lang="en-US" sz="2600" dirty="0"/>
          </a:p>
        </p:txBody>
      </p:sp>
      <p:sp>
        <p:nvSpPr>
          <p:cNvPr id="13" name="Text 11"/>
          <p:cNvSpPr/>
          <p:nvPr/>
        </p:nvSpPr>
        <p:spPr>
          <a:xfrm>
            <a:off x="3273552" y="5303520"/>
            <a:ext cx="1828800" cy="329184"/>
          </a:xfrm>
          <a:prstGeom prst="rect">
            <a:avLst/>
          </a:prstGeom>
          <a:noFill/>
          <a:ln/>
        </p:spPr>
        <p:txBody>
          <a:bodyPr wrap="square" lIns="0" tIns="0" rIns="0" bIns="0" rtlCol="0" anchor="ctr"/>
          <a:lstStyle/>
          <a:p>
            <a:pPr algn="l" indent="0" marL="0">
              <a:buNone/>
            </a:pPr>
            <a:r>
              <a:rPr lang="en-US" sz="1200" dirty="0">
                <a:solidFill>
                  <a:srgbClr val="6E5A48"/>
                </a:solidFill>
                <a:latin typeface="Calibri" pitchFamily="34" charset="0"/>
                <a:ea typeface="Calibri" pitchFamily="34" charset="-122"/>
                <a:cs typeface="Calibri" pitchFamily="34" charset="-120"/>
              </a:rPr>
              <a:t>vig rules</a:t>
            </a:r>
            <a:endParaRPr lang="en-US" sz="1200" dirty="0"/>
          </a:p>
        </p:txBody>
      </p:sp>
      <p:sp>
        <p:nvSpPr>
          <p:cNvPr id="14" name="Shape 12"/>
          <p:cNvSpPr/>
          <p:nvPr/>
        </p:nvSpPr>
        <p:spPr>
          <a:xfrm>
            <a:off x="5504688" y="4617720"/>
            <a:ext cx="2212848" cy="1170432"/>
          </a:xfrm>
          <a:prstGeom prst="roundRect">
            <a:avLst>
              <a:gd name="adj" fmla="val 12500"/>
            </a:avLst>
          </a:prstGeom>
          <a:solidFill>
            <a:srgbClr val="FFFFFF"/>
          </a:solidFill>
          <a:ln/>
        </p:spPr>
      </p:sp>
      <p:sp>
        <p:nvSpPr>
          <p:cNvPr id="15" name="Text 13"/>
          <p:cNvSpPr/>
          <p:nvPr/>
        </p:nvSpPr>
        <p:spPr>
          <a:xfrm>
            <a:off x="5742432" y="4736592"/>
            <a:ext cx="1828800" cy="566928"/>
          </a:xfrm>
          <a:prstGeom prst="rect">
            <a:avLst/>
          </a:prstGeom>
          <a:noFill/>
          <a:ln/>
        </p:spPr>
        <p:txBody>
          <a:bodyPr wrap="square" lIns="0" tIns="0" rIns="0" bIns="0" rtlCol="0" anchor="ctr"/>
          <a:lstStyle/>
          <a:p>
            <a:pPr algn="l" indent="0" marL="0">
              <a:buNone/>
            </a:pPr>
            <a:r>
              <a:rPr lang="en-US" sz="2600" b="1" dirty="0">
                <a:solidFill>
                  <a:srgbClr val="DB5A28"/>
                </a:solidFill>
                <a:latin typeface="Century Gothic" pitchFamily="34" charset="0"/>
                <a:ea typeface="Century Gothic" pitchFamily="34" charset="-122"/>
                <a:cs typeface="Century Gothic" pitchFamily="34" charset="-120"/>
              </a:rPr>
              <a:t>1</a:t>
            </a:r>
            <a:endParaRPr lang="en-US" sz="2600" dirty="0"/>
          </a:p>
        </p:txBody>
      </p:sp>
      <p:sp>
        <p:nvSpPr>
          <p:cNvPr id="16" name="Text 14"/>
          <p:cNvSpPr/>
          <p:nvPr/>
        </p:nvSpPr>
        <p:spPr>
          <a:xfrm>
            <a:off x="5742432" y="5303520"/>
            <a:ext cx="1828800" cy="329184"/>
          </a:xfrm>
          <a:prstGeom prst="rect">
            <a:avLst/>
          </a:prstGeom>
          <a:noFill/>
          <a:ln/>
        </p:spPr>
        <p:txBody>
          <a:bodyPr wrap="square" lIns="0" tIns="0" rIns="0" bIns="0" rtlCol="0" anchor="ctr"/>
          <a:lstStyle/>
          <a:p>
            <a:pPr algn="l" indent="0" marL="0">
              <a:buNone/>
            </a:pPr>
            <a:r>
              <a:rPr lang="en-US" sz="1200" dirty="0">
                <a:solidFill>
                  <a:srgbClr val="6E5A48"/>
                </a:solidFill>
                <a:latin typeface="Calibri" pitchFamily="34" charset="0"/>
                <a:ea typeface="Calibri" pitchFamily="34" charset="-122"/>
                <a:cs typeface="Calibri" pitchFamily="34" charset="-120"/>
              </a:rPr>
              <a:t>pre-set test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7EC"/>
        </a:solidFill>
      </p:bgPr>
    </p:bg>
    <p:spTree>
      <p:nvGrpSpPr>
        <p:cNvPr id="1" name=""/>
        <p:cNvGrpSpPr/>
        <p:nvPr/>
      </p:nvGrpSpPr>
      <p:grpSpPr>
        <a:xfrm>
          <a:off x="0" y="0"/>
          <a:ext cx="0" cy="0"/>
          <a:chOff x="0" y="0"/>
          <a:chExt cx="0" cy="0"/>
        </a:xfrm>
      </p:grpSpPr>
      <p:sp>
        <p:nvSpPr>
          <p:cNvPr id="2" name="Shape 0"/>
          <p:cNvSpPr/>
          <p:nvPr/>
        </p:nvSpPr>
        <p:spPr>
          <a:xfrm>
            <a:off x="566928" y="310896"/>
            <a:ext cx="1984248" cy="384048"/>
          </a:xfrm>
          <a:prstGeom prst="roundRect">
            <a:avLst>
              <a:gd name="adj" fmla="val 119048"/>
            </a:avLst>
          </a:prstGeom>
          <a:solidFill>
            <a:srgbClr val="2E63C8"/>
          </a:solidFill>
          <a:ln/>
        </p:spPr>
      </p:sp>
      <p:sp>
        <p:nvSpPr>
          <p:cNvPr id="3" name="Text 1"/>
          <p:cNvSpPr/>
          <p:nvPr/>
        </p:nvSpPr>
        <p:spPr>
          <a:xfrm>
            <a:off x="566928" y="310896"/>
            <a:ext cx="1984248" cy="384048"/>
          </a:xfrm>
          <a:prstGeom prst="rect">
            <a:avLst/>
          </a:prstGeom>
          <a:noFill/>
          <a:ln/>
        </p:spPr>
        <p:txBody>
          <a:bodyPr wrap="square" lIns="0" tIns="0" rIns="0" bIns="0" rtlCol="0" anchor="ctr"/>
          <a:lstStyle/>
          <a:p>
            <a:pPr algn="ctr" indent="0" marL="0">
              <a:buNone/>
            </a:pPr>
            <a:r>
              <a:rPr lang="en-US" sz="1050" b="1" spc="140" kern="0" dirty="0">
                <a:solidFill>
                  <a:srgbClr val="FFFFFF"/>
                </a:solidFill>
                <a:latin typeface="Calibri" pitchFamily="34" charset="0"/>
                <a:ea typeface="Calibri" pitchFamily="34" charset="-122"/>
                <a:cs typeface="Calibri" pitchFamily="34" charset="-120"/>
              </a:rPr>
              <a:t>THE QUESTION</a:t>
            </a:r>
            <a:endParaRPr lang="en-US" sz="1050" dirty="0"/>
          </a:p>
        </p:txBody>
      </p:sp>
      <p:sp>
        <p:nvSpPr>
          <p:cNvPr id="4" name="Shape 2"/>
          <p:cNvSpPr/>
          <p:nvPr/>
        </p:nvSpPr>
        <p:spPr>
          <a:xfrm>
            <a:off x="10881360" y="5394960"/>
            <a:ext cx="2377440" cy="2377440"/>
          </a:xfrm>
          <a:prstGeom prst="ellipse">
            <a:avLst/>
          </a:prstGeom>
          <a:solidFill>
            <a:srgbClr val="DEE6F8"/>
          </a:solidFill>
          <a:ln/>
        </p:spPr>
      </p:sp>
      <p:sp>
        <p:nvSpPr>
          <p:cNvPr id="5" name="Shape 3"/>
          <p:cNvSpPr/>
          <p:nvPr/>
        </p:nvSpPr>
        <p:spPr>
          <a:xfrm>
            <a:off x="566928" y="960120"/>
            <a:ext cx="11055096" cy="1783080"/>
          </a:xfrm>
          <a:prstGeom prst="roundRect">
            <a:avLst>
              <a:gd name="adj" fmla="val 8205"/>
            </a:avLst>
          </a:prstGeom>
          <a:solidFill>
            <a:srgbClr val="2E63C8"/>
          </a:solidFill>
          <a:ln/>
        </p:spPr>
      </p:sp>
      <p:sp>
        <p:nvSpPr>
          <p:cNvPr id="6" name="Text 4"/>
          <p:cNvSpPr/>
          <p:nvPr/>
        </p:nvSpPr>
        <p:spPr>
          <a:xfrm>
            <a:off x="1024128" y="1097280"/>
            <a:ext cx="10140696" cy="1508760"/>
          </a:xfrm>
          <a:prstGeom prst="rect">
            <a:avLst/>
          </a:prstGeom>
          <a:noFill/>
          <a:ln/>
        </p:spPr>
        <p:txBody>
          <a:bodyPr wrap="square" lIns="0" tIns="0" rIns="0" bIns="0" rtlCol="0" anchor="ctr"/>
          <a:lstStyle/>
          <a:p>
            <a:pPr algn="l" indent="0" marL="0">
              <a:lnSpc>
                <a:spcPct val="120000"/>
              </a:lnSpc>
              <a:buNone/>
            </a:pPr>
            <a:r>
              <a:rPr lang="en-US" sz="2200" b="1" dirty="0">
                <a:solidFill>
                  <a:srgbClr val="FFFFFF"/>
                </a:solidFill>
                <a:latin typeface="Century Gothic" pitchFamily="34" charset="0"/>
                <a:ea typeface="Century Gothic" pitchFamily="34" charset="-122"/>
                <a:cs typeface="Century Gothic" pitchFamily="34" charset="-120"/>
              </a:rPr>
              <a:t>Do archived NBA moneylines misstate how often favorites win, by enough to be both statistically detectable and worth betting on?</a:t>
            </a:r>
            <a:endParaRPr lang="en-US" sz="2200" dirty="0"/>
          </a:p>
        </p:txBody>
      </p:sp>
      <p:sp>
        <p:nvSpPr>
          <p:cNvPr id="7" name="Shape 5"/>
          <p:cNvSpPr/>
          <p:nvPr/>
        </p:nvSpPr>
        <p:spPr>
          <a:xfrm>
            <a:off x="566928" y="2999232"/>
            <a:ext cx="5230368" cy="1481328"/>
          </a:xfrm>
          <a:prstGeom prst="roundRect">
            <a:avLst>
              <a:gd name="adj" fmla="val 9877"/>
            </a:avLst>
          </a:prstGeom>
          <a:solidFill>
            <a:srgbClr val="FDEEDC"/>
          </a:solidFill>
          <a:ln/>
        </p:spPr>
      </p:sp>
      <p:sp>
        <p:nvSpPr>
          <p:cNvPr id="8" name="Text 6"/>
          <p:cNvSpPr/>
          <p:nvPr/>
        </p:nvSpPr>
        <p:spPr>
          <a:xfrm>
            <a:off x="950976" y="3246120"/>
            <a:ext cx="4480560" cy="1097280"/>
          </a:xfrm>
          <a:prstGeom prst="rect">
            <a:avLst/>
          </a:prstGeom>
          <a:noFill/>
          <a:ln/>
        </p:spPr>
        <p:txBody>
          <a:bodyPr wrap="square" lIns="0" tIns="0" rIns="0" bIns="0" rtlCol="0" anchor="t"/>
          <a:lstStyle/>
          <a:p>
            <a:pPr algn="l" indent="0" marL="0">
              <a:lnSpc>
                <a:spcPct val="134000"/>
              </a:lnSpc>
              <a:buNone/>
            </a:pPr>
            <a:r>
              <a:rPr lang="en-US" sz="1450" dirty="0">
                <a:solidFill>
                  <a:srgbClr val="2A2118"/>
                </a:solidFill>
                <a:latin typeface="Calibri" pitchFamily="34" charset="0"/>
                <a:ea typeface="Calibri" pitchFamily="34" charset="-122"/>
                <a:cs typeface="Calibri" pitchFamily="34" charset="-120"/>
              </a:rPr>
              <a:t>Narrow on purpose. Not "are betting markets efficient." One population, one threshold, one test, all fixed before I looked at a single outcome.</a:t>
            </a:r>
            <a:endParaRPr lang="en-US" sz="1450" dirty="0"/>
          </a:p>
        </p:txBody>
      </p:sp>
      <p:sp>
        <p:nvSpPr>
          <p:cNvPr id="9" name="Shape 7"/>
          <p:cNvSpPr/>
          <p:nvPr/>
        </p:nvSpPr>
        <p:spPr>
          <a:xfrm>
            <a:off x="566928" y="4718304"/>
            <a:ext cx="5230368" cy="658368"/>
          </a:xfrm>
          <a:prstGeom prst="roundRect">
            <a:avLst>
              <a:gd name="adj" fmla="val 22222"/>
            </a:avLst>
          </a:prstGeom>
          <a:solidFill>
            <a:srgbClr val="0F8A6E"/>
          </a:solidFill>
          <a:ln/>
        </p:spPr>
      </p:sp>
      <p:sp>
        <p:nvSpPr>
          <p:cNvPr id="10" name="Text 8"/>
          <p:cNvSpPr/>
          <p:nvPr/>
        </p:nvSpPr>
        <p:spPr>
          <a:xfrm>
            <a:off x="950976" y="4718304"/>
            <a:ext cx="4480560" cy="658368"/>
          </a:xfrm>
          <a:prstGeom prst="rect">
            <a:avLst/>
          </a:prstGeom>
          <a:noFill/>
          <a:ln/>
        </p:spPr>
        <p:txBody>
          <a:bodyPr wrap="square" lIns="0" tIns="0" rIns="0" bIns="0" rtlCol="0" anchor="ctr"/>
          <a:lstStyle/>
          <a:p>
            <a:pPr algn="l" indent="0" marL="0">
              <a:buNone/>
            </a:pPr>
            <a:r>
              <a:rPr lang="en-US" sz="1250" b="1" dirty="0">
                <a:solidFill>
                  <a:srgbClr val="FFFFFF"/>
                </a:solidFill>
                <a:latin typeface="Century Gothic" pitchFamily="34" charset="0"/>
                <a:ea typeface="Century Gothic" pitchFamily="34" charset="-122"/>
                <a:cs typeface="Century Gothic" pitchFamily="34" charset="-120"/>
              </a:rPr>
              <a:t>Everything below was frozen before any outcome was seen.</a:t>
            </a:r>
            <a:endParaRPr lang="en-US" sz="1250" dirty="0"/>
          </a:p>
        </p:txBody>
      </p:sp>
      <p:sp>
        <p:nvSpPr>
          <p:cNvPr id="11" name="Shape 9"/>
          <p:cNvSpPr/>
          <p:nvPr/>
        </p:nvSpPr>
        <p:spPr>
          <a:xfrm>
            <a:off x="6053328" y="2999232"/>
            <a:ext cx="5568696" cy="713232"/>
          </a:xfrm>
          <a:prstGeom prst="roundRect">
            <a:avLst>
              <a:gd name="adj" fmla="val 20513"/>
            </a:avLst>
          </a:prstGeom>
          <a:solidFill>
            <a:srgbClr val="FFFFFF"/>
          </a:solidFill>
          <a:ln/>
        </p:spPr>
      </p:sp>
      <p:sp>
        <p:nvSpPr>
          <p:cNvPr id="12" name="Shape 10"/>
          <p:cNvSpPr/>
          <p:nvPr/>
        </p:nvSpPr>
        <p:spPr>
          <a:xfrm>
            <a:off x="6053328" y="2999232"/>
            <a:ext cx="118872" cy="713232"/>
          </a:xfrm>
          <a:prstGeom prst="roundRect">
            <a:avLst>
              <a:gd name="adj" fmla="val 384615"/>
            </a:avLst>
          </a:prstGeom>
          <a:solidFill>
            <a:srgbClr val="0F8A6E"/>
          </a:solidFill>
          <a:ln/>
        </p:spPr>
      </p:sp>
      <p:sp>
        <p:nvSpPr>
          <p:cNvPr id="13" name="Text 11"/>
          <p:cNvSpPr/>
          <p:nvPr/>
        </p:nvSpPr>
        <p:spPr>
          <a:xfrm>
            <a:off x="6355080" y="2999232"/>
            <a:ext cx="1371600" cy="713232"/>
          </a:xfrm>
          <a:prstGeom prst="rect">
            <a:avLst/>
          </a:prstGeom>
          <a:noFill/>
          <a:ln/>
        </p:spPr>
        <p:txBody>
          <a:bodyPr wrap="square" lIns="0" tIns="0" rIns="0" bIns="0" rtlCol="0" anchor="ctr"/>
          <a:lstStyle/>
          <a:p>
            <a:pPr algn="l" indent="0" marL="0">
              <a:buNone/>
            </a:pPr>
            <a:r>
              <a:rPr lang="en-US" sz="1250" b="1" dirty="0">
                <a:solidFill>
                  <a:srgbClr val="0F8A6E"/>
                </a:solidFill>
                <a:latin typeface="Century Gothic" pitchFamily="34" charset="0"/>
                <a:ea typeface="Century Gothic" pitchFamily="34" charset="-122"/>
                <a:cs typeface="Century Gothic" pitchFamily="34" charset="-120"/>
              </a:rPr>
              <a:t>Population</a:t>
            </a:r>
            <a:endParaRPr lang="en-US" sz="1250" dirty="0"/>
          </a:p>
        </p:txBody>
      </p:sp>
      <p:sp>
        <p:nvSpPr>
          <p:cNvPr id="14" name="Text 12"/>
          <p:cNvSpPr/>
          <p:nvPr/>
        </p:nvSpPr>
        <p:spPr>
          <a:xfrm>
            <a:off x="7726680" y="2999232"/>
            <a:ext cx="3749040" cy="713232"/>
          </a:xfrm>
          <a:prstGeom prst="rect">
            <a:avLst/>
          </a:prstGeom>
          <a:noFill/>
          <a:ln/>
        </p:spPr>
        <p:txBody>
          <a:bodyPr wrap="square" lIns="0" tIns="0" rIns="0" bIns="0" rtlCol="0" anchor="ctr"/>
          <a:lstStyle/>
          <a:p>
            <a:pPr algn="l" indent="0" marL="0">
              <a:buNone/>
            </a:pPr>
            <a:r>
              <a:rPr lang="en-US" sz="1250" dirty="0">
                <a:solidFill>
                  <a:srgbClr val="2A2118"/>
                </a:solidFill>
                <a:latin typeface="Calibri" pitchFamily="34" charset="0"/>
                <a:ea typeface="Calibri" pitchFamily="34" charset="-122"/>
                <a:cs typeface="Calibri" pitchFamily="34" charset="-120"/>
              </a:rPr>
              <a:t>NBA regular season, 2007-08 to 2019-20</a:t>
            </a:r>
            <a:endParaRPr lang="en-US" sz="1250" dirty="0"/>
          </a:p>
        </p:txBody>
      </p:sp>
      <p:sp>
        <p:nvSpPr>
          <p:cNvPr id="15" name="Shape 13"/>
          <p:cNvSpPr/>
          <p:nvPr/>
        </p:nvSpPr>
        <p:spPr>
          <a:xfrm>
            <a:off x="6053328" y="3822192"/>
            <a:ext cx="5568696" cy="713232"/>
          </a:xfrm>
          <a:prstGeom prst="roundRect">
            <a:avLst>
              <a:gd name="adj" fmla="val 20513"/>
            </a:avLst>
          </a:prstGeom>
          <a:solidFill>
            <a:srgbClr val="FFFFFF"/>
          </a:solidFill>
          <a:ln/>
        </p:spPr>
      </p:sp>
      <p:sp>
        <p:nvSpPr>
          <p:cNvPr id="16" name="Shape 14"/>
          <p:cNvSpPr/>
          <p:nvPr/>
        </p:nvSpPr>
        <p:spPr>
          <a:xfrm>
            <a:off x="6053328" y="3822192"/>
            <a:ext cx="118872" cy="713232"/>
          </a:xfrm>
          <a:prstGeom prst="roundRect">
            <a:avLst>
              <a:gd name="adj" fmla="val 384615"/>
            </a:avLst>
          </a:prstGeom>
          <a:solidFill>
            <a:srgbClr val="7A4F9E"/>
          </a:solidFill>
          <a:ln/>
        </p:spPr>
      </p:sp>
      <p:sp>
        <p:nvSpPr>
          <p:cNvPr id="17" name="Text 15"/>
          <p:cNvSpPr/>
          <p:nvPr/>
        </p:nvSpPr>
        <p:spPr>
          <a:xfrm>
            <a:off x="6355080" y="3822192"/>
            <a:ext cx="1371600" cy="713232"/>
          </a:xfrm>
          <a:prstGeom prst="rect">
            <a:avLst/>
          </a:prstGeom>
          <a:noFill/>
          <a:ln/>
        </p:spPr>
        <p:txBody>
          <a:bodyPr wrap="square" lIns="0" tIns="0" rIns="0" bIns="0" rtlCol="0" anchor="ctr"/>
          <a:lstStyle/>
          <a:p>
            <a:pPr algn="l" indent="0" marL="0">
              <a:buNone/>
            </a:pPr>
            <a:r>
              <a:rPr lang="en-US" sz="1250" b="1" dirty="0">
                <a:solidFill>
                  <a:srgbClr val="7A4F9E"/>
                </a:solidFill>
                <a:latin typeface="Century Gothic" pitchFamily="34" charset="0"/>
                <a:ea typeface="Century Gothic" pitchFamily="34" charset="-122"/>
                <a:cs typeface="Century Gothic" pitchFamily="34" charset="-120"/>
              </a:rPr>
              <a:t>Slice</a:t>
            </a:r>
            <a:endParaRPr lang="en-US" sz="1250" dirty="0"/>
          </a:p>
        </p:txBody>
      </p:sp>
      <p:sp>
        <p:nvSpPr>
          <p:cNvPr id="18" name="Text 16"/>
          <p:cNvSpPr/>
          <p:nvPr/>
        </p:nvSpPr>
        <p:spPr>
          <a:xfrm>
            <a:off x="7726680" y="3822192"/>
            <a:ext cx="3749040" cy="713232"/>
          </a:xfrm>
          <a:prstGeom prst="rect">
            <a:avLst/>
          </a:prstGeom>
          <a:noFill/>
          <a:ln/>
        </p:spPr>
        <p:txBody>
          <a:bodyPr wrap="square" lIns="0" tIns="0" rIns="0" bIns="0" rtlCol="0" anchor="ctr"/>
          <a:lstStyle/>
          <a:p>
            <a:pPr algn="l" indent="0" marL="0">
              <a:buNone/>
            </a:pPr>
            <a:r>
              <a:rPr lang="en-US" sz="1250" dirty="0">
                <a:solidFill>
                  <a:srgbClr val="2A2118"/>
                </a:solidFill>
                <a:latin typeface="Calibri" pitchFamily="34" charset="0"/>
                <a:ea typeface="Calibri" pitchFamily="34" charset="-122"/>
                <a:cs typeface="Calibri" pitchFamily="34" charset="-120"/>
              </a:rPr>
              <a:t>favorites above .70 vig-free probability</a:t>
            </a:r>
            <a:endParaRPr lang="en-US" sz="1250" dirty="0"/>
          </a:p>
        </p:txBody>
      </p:sp>
      <p:sp>
        <p:nvSpPr>
          <p:cNvPr id="19" name="Shape 17"/>
          <p:cNvSpPr/>
          <p:nvPr/>
        </p:nvSpPr>
        <p:spPr>
          <a:xfrm>
            <a:off x="6053328" y="4645152"/>
            <a:ext cx="5568696" cy="713232"/>
          </a:xfrm>
          <a:prstGeom prst="roundRect">
            <a:avLst>
              <a:gd name="adj" fmla="val 20513"/>
            </a:avLst>
          </a:prstGeom>
          <a:solidFill>
            <a:srgbClr val="FFFFFF"/>
          </a:solidFill>
          <a:ln/>
        </p:spPr>
      </p:sp>
      <p:sp>
        <p:nvSpPr>
          <p:cNvPr id="20" name="Shape 18"/>
          <p:cNvSpPr/>
          <p:nvPr/>
        </p:nvSpPr>
        <p:spPr>
          <a:xfrm>
            <a:off x="6053328" y="4645152"/>
            <a:ext cx="118872" cy="713232"/>
          </a:xfrm>
          <a:prstGeom prst="roundRect">
            <a:avLst>
              <a:gd name="adj" fmla="val 384615"/>
            </a:avLst>
          </a:prstGeom>
          <a:solidFill>
            <a:srgbClr val="DB5A28"/>
          </a:solidFill>
          <a:ln/>
        </p:spPr>
      </p:sp>
      <p:sp>
        <p:nvSpPr>
          <p:cNvPr id="21" name="Text 19"/>
          <p:cNvSpPr/>
          <p:nvPr/>
        </p:nvSpPr>
        <p:spPr>
          <a:xfrm>
            <a:off x="6355080" y="4645152"/>
            <a:ext cx="1371600" cy="713232"/>
          </a:xfrm>
          <a:prstGeom prst="rect">
            <a:avLst/>
          </a:prstGeom>
          <a:noFill/>
          <a:ln/>
        </p:spPr>
        <p:txBody>
          <a:bodyPr wrap="square" lIns="0" tIns="0" rIns="0" bIns="0" rtlCol="0" anchor="ctr"/>
          <a:lstStyle/>
          <a:p>
            <a:pPr algn="l" indent="0" marL="0">
              <a:buNone/>
            </a:pPr>
            <a:r>
              <a:rPr lang="en-US" sz="1250" b="1" dirty="0">
                <a:solidFill>
                  <a:srgbClr val="DB5A28"/>
                </a:solidFill>
                <a:latin typeface="Century Gothic" pitchFamily="34" charset="0"/>
                <a:ea typeface="Century Gothic" pitchFamily="34" charset="-122"/>
                <a:cs typeface="Century Gothic" pitchFamily="34" charset="-120"/>
              </a:rPr>
              <a:t>Estimate</a:t>
            </a:r>
            <a:endParaRPr lang="en-US" sz="1250" dirty="0"/>
          </a:p>
        </p:txBody>
      </p:sp>
      <p:sp>
        <p:nvSpPr>
          <p:cNvPr id="22" name="Text 20"/>
          <p:cNvSpPr/>
          <p:nvPr/>
        </p:nvSpPr>
        <p:spPr>
          <a:xfrm>
            <a:off x="7726680" y="4645152"/>
            <a:ext cx="3749040" cy="713232"/>
          </a:xfrm>
          <a:prstGeom prst="rect">
            <a:avLst/>
          </a:prstGeom>
          <a:noFill/>
          <a:ln/>
        </p:spPr>
        <p:txBody>
          <a:bodyPr wrap="square" lIns="0" tIns="0" rIns="0" bIns="0" rtlCol="0" anchor="ctr"/>
          <a:lstStyle/>
          <a:p>
            <a:pPr algn="l" indent="0" marL="0">
              <a:buNone/>
            </a:pPr>
            <a:r>
              <a:rPr lang="en-US" sz="1250" dirty="0">
                <a:solidFill>
                  <a:srgbClr val="2A2118"/>
                </a:solidFill>
                <a:latin typeface="Calibri" pitchFamily="34" charset="0"/>
                <a:ea typeface="Calibri" pitchFamily="34" charset="-122"/>
                <a:cs typeface="Calibri" pitchFamily="34" charset="-120"/>
              </a:rPr>
              <a:t>the calibration gap, in percentage points</a:t>
            </a:r>
            <a:endParaRPr lang="en-US" sz="1250" dirty="0"/>
          </a:p>
        </p:txBody>
      </p:sp>
      <p:sp>
        <p:nvSpPr>
          <p:cNvPr id="23" name="Text 21"/>
          <p:cNvSpPr/>
          <p:nvPr/>
        </p:nvSpPr>
        <p:spPr>
          <a:xfrm>
            <a:off x="566928" y="6254496"/>
            <a:ext cx="11055096" cy="365760"/>
          </a:xfrm>
          <a:prstGeom prst="rect">
            <a:avLst/>
          </a:prstGeom>
          <a:noFill/>
          <a:ln/>
        </p:spPr>
        <p:txBody>
          <a:bodyPr wrap="square" lIns="0" tIns="0" rIns="0" bIns="0" rtlCol="0" anchor="ctr"/>
          <a:lstStyle/>
          <a:p>
            <a:pPr algn="l" indent="0" marL="0">
              <a:buNone/>
            </a:pPr>
            <a:r>
              <a:rPr lang="en-US" sz="1050" i="1" dirty="0">
                <a:solidFill>
                  <a:srgbClr val="6E5A48"/>
                </a:solidFill>
                <a:latin typeface="Calibri" pitchFamily="34" charset="0"/>
                <a:ea typeface="Calibri" pitchFamily="34" charset="-122"/>
                <a:cs typeface="Calibri" pitchFamily="34" charset="-120"/>
              </a:rPr>
              <a:t>A vague question cannot be tested with enough power to mean anything.</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7EC"/>
        </a:solidFill>
      </p:bgPr>
    </p:bg>
    <p:spTree>
      <p:nvGrpSpPr>
        <p:cNvPr id="1" name=""/>
        <p:cNvGrpSpPr/>
        <p:nvPr/>
      </p:nvGrpSpPr>
      <p:grpSpPr>
        <a:xfrm>
          <a:off x="0" y="0"/>
          <a:ext cx="0" cy="0"/>
          <a:chOff x="0" y="0"/>
          <a:chExt cx="0" cy="0"/>
        </a:xfrm>
      </p:grpSpPr>
      <p:sp>
        <p:nvSpPr>
          <p:cNvPr id="2" name="Shape 0"/>
          <p:cNvSpPr/>
          <p:nvPr/>
        </p:nvSpPr>
        <p:spPr>
          <a:xfrm>
            <a:off x="566928" y="310896"/>
            <a:ext cx="4946904" cy="384048"/>
          </a:xfrm>
          <a:prstGeom prst="roundRect">
            <a:avLst>
              <a:gd name="adj" fmla="val 119048"/>
            </a:avLst>
          </a:prstGeom>
          <a:solidFill>
            <a:srgbClr val="7A4F9E"/>
          </a:solidFill>
          <a:ln/>
        </p:spPr>
      </p:sp>
      <p:sp>
        <p:nvSpPr>
          <p:cNvPr id="3" name="Text 1"/>
          <p:cNvSpPr/>
          <p:nvPr/>
        </p:nvSpPr>
        <p:spPr>
          <a:xfrm>
            <a:off x="566928" y="310896"/>
            <a:ext cx="4946904" cy="384048"/>
          </a:xfrm>
          <a:prstGeom prst="rect">
            <a:avLst/>
          </a:prstGeom>
          <a:noFill/>
          <a:ln/>
        </p:spPr>
        <p:txBody>
          <a:bodyPr wrap="square" lIns="0" tIns="0" rIns="0" bIns="0" rtlCol="0" anchor="ctr"/>
          <a:lstStyle/>
          <a:p>
            <a:pPr algn="ctr" indent="0" marL="0">
              <a:buNone/>
            </a:pPr>
            <a:r>
              <a:rPr lang="en-US" sz="1050" b="1" spc="140" kern="0" dirty="0">
                <a:solidFill>
                  <a:srgbClr val="FFFFFF"/>
                </a:solidFill>
                <a:latin typeface="Calibri" pitchFamily="34" charset="0"/>
                <a:ea typeface="Calibri" pitchFamily="34" charset="-122"/>
                <a:cs typeface="Calibri" pitchFamily="34" charset="-120"/>
              </a:rPr>
              <a:t>WHY MOST TESTS HERE CANNOT ANSWER IT</a:t>
            </a:r>
            <a:endParaRPr lang="en-US" sz="1050" dirty="0"/>
          </a:p>
        </p:txBody>
      </p:sp>
      <p:sp>
        <p:nvSpPr>
          <p:cNvPr id="4" name="Text 2"/>
          <p:cNvSpPr/>
          <p:nvPr/>
        </p:nvSpPr>
        <p:spPr>
          <a:xfrm>
            <a:off x="566928" y="841248"/>
            <a:ext cx="11055096" cy="786384"/>
          </a:xfrm>
          <a:prstGeom prst="rect">
            <a:avLst/>
          </a:prstGeom>
          <a:noFill/>
          <a:ln/>
        </p:spPr>
        <p:txBody>
          <a:bodyPr wrap="square" lIns="0" tIns="0" rIns="0" bIns="0" rtlCol="0" anchor="ctr"/>
          <a:lstStyle/>
          <a:p>
            <a:pPr algn="l" indent="0" marL="0">
              <a:buNone/>
            </a:pPr>
            <a:r>
              <a:rPr lang="en-US" sz="3100" b="1" dirty="0">
                <a:solidFill>
                  <a:srgbClr val="2A2118"/>
                </a:solidFill>
                <a:latin typeface="Century Gothic" pitchFamily="34" charset="0"/>
                <a:ea typeface="Century Gothic" pitchFamily="34" charset="-122"/>
                <a:cs typeface="Century Gothic" pitchFamily="34" charset="-120"/>
              </a:rPr>
              <a:t>A 74-game bucket decides nothing</a:t>
            </a:r>
            <a:endParaRPr lang="en-US" sz="3100" dirty="0"/>
          </a:p>
        </p:txBody>
      </p:sp>
      <p:sp>
        <p:nvSpPr>
          <p:cNvPr id="5" name="Shape 3"/>
          <p:cNvSpPr/>
          <p:nvPr/>
        </p:nvSpPr>
        <p:spPr>
          <a:xfrm>
            <a:off x="-914400" y="5394960"/>
            <a:ext cx="2194560" cy="2194560"/>
          </a:xfrm>
          <a:prstGeom prst="ellipse">
            <a:avLst/>
          </a:prstGeom>
          <a:solidFill>
            <a:srgbClr val="ECE3F4"/>
          </a:solidFill>
          <a:ln/>
        </p:spPr>
      </p:sp>
      <p:sp>
        <p:nvSpPr>
          <p:cNvPr id="6" name="Shape 4"/>
          <p:cNvSpPr/>
          <p:nvPr/>
        </p:nvSpPr>
        <p:spPr>
          <a:xfrm>
            <a:off x="566928" y="1828800"/>
            <a:ext cx="4114800" cy="1874520"/>
          </a:xfrm>
          <a:prstGeom prst="roundRect">
            <a:avLst>
              <a:gd name="adj" fmla="val 7805"/>
            </a:avLst>
          </a:prstGeom>
          <a:solidFill>
            <a:srgbClr val="7A4F9E"/>
          </a:solidFill>
          <a:ln/>
        </p:spPr>
      </p:sp>
      <p:sp>
        <p:nvSpPr>
          <p:cNvPr id="7" name="Text 5"/>
          <p:cNvSpPr/>
          <p:nvPr/>
        </p:nvSpPr>
        <p:spPr>
          <a:xfrm>
            <a:off x="822960" y="1975104"/>
            <a:ext cx="3657600" cy="1030986"/>
          </a:xfrm>
          <a:prstGeom prst="rect">
            <a:avLst/>
          </a:prstGeom>
          <a:noFill/>
          <a:ln/>
        </p:spPr>
        <p:txBody>
          <a:bodyPr wrap="square" lIns="0" tIns="0" rIns="0" bIns="0" rtlCol="0" anchor="ctr"/>
          <a:lstStyle/>
          <a:p>
            <a:pPr algn="l" indent="0" marL="0">
              <a:buNone/>
            </a:pPr>
            <a:r>
              <a:rPr lang="en-US" sz="5400" b="1" dirty="0">
                <a:solidFill>
                  <a:srgbClr val="FFFFFF"/>
                </a:solidFill>
                <a:latin typeface="Century Gothic" pitchFamily="34" charset="0"/>
                <a:ea typeface="Century Gothic" pitchFamily="34" charset="-122"/>
                <a:cs typeface="Century Gothic" pitchFamily="34" charset="-120"/>
              </a:rPr>
              <a:t>11%</a:t>
            </a:r>
            <a:endParaRPr lang="en-US" sz="5400" dirty="0"/>
          </a:p>
        </p:txBody>
      </p:sp>
      <p:sp>
        <p:nvSpPr>
          <p:cNvPr id="8" name="Text 6"/>
          <p:cNvSpPr/>
          <p:nvPr/>
        </p:nvSpPr>
        <p:spPr>
          <a:xfrm>
            <a:off x="822960" y="2991002"/>
            <a:ext cx="3657600" cy="599846"/>
          </a:xfrm>
          <a:prstGeom prst="rect">
            <a:avLst/>
          </a:prstGeom>
          <a:noFill/>
          <a:ln/>
        </p:spPr>
        <p:txBody>
          <a:bodyPr wrap="square" lIns="0" tIns="0" rIns="0" bIns="0" rtlCol="0" anchor="t"/>
          <a:lstStyle/>
          <a:p>
            <a:pPr algn="l" indent="0" marL="0">
              <a:lnSpc>
                <a:spcPct val="110000"/>
              </a:lnSpc>
              <a:buNone/>
            </a:pPr>
            <a:r>
              <a:rPr lang="en-US" sz="1150" dirty="0">
                <a:solidFill>
                  <a:srgbClr val="FFFFFF"/>
                </a:solidFill>
                <a:latin typeface="Calibri" pitchFamily="34" charset="0"/>
                <a:ea typeface="Calibri" pitchFamily="34" charset="-122"/>
                <a:cs typeface="Calibri" pitchFamily="34" charset="-120"/>
              </a:rPr>
              <a:t>chance of catching a gap big enough to bet on</a:t>
            </a:r>
            <a:endParaRPr lang="en-US" sz="1150" dirty="0"/>
          </a:p>
        </p:txBody>
      </p:sp>
      <p:sp>
        <p:nvSpPr>
          <p:cNvPr id="9" name="Shape 7"/>
          <p:cNvSpPr/>
          <p:nvPr/>
        </p:nvSpPr>
        <p:spPr>
          <a:xfrm>
            <a:off x="4937760" y="1828800"/>
            <a:ext cx="6684264" cy="1874520"/>
          </a:xfrm>
          <a:prstGeom prst="roundRect">
            <a:avLst>
              <a:gd name="adj" fmla="val 7805"/>
            </a:avLst>
          </a:prstGeom>
          <a:solidFill>
            <a:srgbClr val="FDEEDC"/>
          </a:solidFill>
          <a:ln/>
        </p:spPr>
      </p:sp>
      <p:sp>
        <p:nvSpPr>
          <p:cNvPr id="10" name="Text 8"/>
          <p:cNvSpPr/>
          <p:nvPr/>
        </p:nvSpPr>
        <p:spPr>
          <a:xfrm>
            <a:off x="5321808" y="2066544"/>
            <a:ext cx="5943600" cy="1463040"/>
          </a:xfrm>
          <a:prstGeom prst="rect">
            <a:avLst/>
          </a:prstGeom>
          <a:noFill/>
          <a:ln/>
        </p:spPr>
        <p:txBody>
          <a:bodyPr wrap="square" lIns="0" tIns="0" rIns="0" bIns="0" rtlCol="0" anchor="t"/>
          <a:lstStyle/>
          <a:p>
            <a:pPr algn="l" indent="0" marL="0">
              <a:lnSpc>
                <a:spcPct val="134000"/>
              </a:lnSpc>
              <a:buNone/>
            </a:pPr>
            <a:r>
              <a:rPr lang="en-US" sz="1450" dirty="0">
                <a:solidFill>
                  <a:srgbClr val="2A2118"/>
                </a:solidFill>
                <a:latin typeface="Calibri" pitchFamily="34" charset="0"/>
                <a:ea typeface="Calibri" pitchFamily="34" charset="-122"/>
                <a:cs typeface="Calibri" pitchFamily="34" charset="-120"/>
              </a:rPr>
              <a:t>Papers here routinely report a bucket of favorites priced near .85 with about 74 games in it. Run the power calculation and that test finds a break-even-sized gap 11 percent of the time.</a:t>
            </a:r>
            <a:endParaRPr lang="en-US" sz="1450" dirty="0"/>
          </a:p>
        </p:txBody>
      </p:sp>
      <p:sp>
        <p:nvSpPr>
          <p:cNvPr id="11" name="Shape 9"/>
          <p:cNvSpPr/>
          <p:nvPr/>
        </p:nvSpPr>
        <p:spPr>
          <a:xfrm>
            <a:off x="566928" y="4041648"/>
            <a:ext cx="11055096" cy="1051560"/>
          </a:xfrm>
          <a:prstGeom prst="roundRect">
            <a:avLst>
              <a:gd name="adj" fmla="val 13913"/>
            </a:avLst>
          </a:prstGeom>
          <a:solidFill>
            <a:srgbClr val="DB5A28"/>
          </a:solidFill>
          <a:ln/>
        </p:spPr>
      </p:sp>
      <p:sp>
        <p:nvSpPr>
          <p:cNvPr id="12" name="Text 10"/>
          <p:cNvSpPr/>
          <p:nvPr/>
        </p:nvSpPr>
        <p:spPr>
          <a:xfrm>
            <a:off x="1024128" y="4041648"/>
            <a:ext cx="10140696" cy="1051560"/>
          </a:xfrm>
          <a:prstGeom prst="rect">
            <a:avLst/>
          </a:prstGeom>
          <a:noFill/>
          <a:ln/>
        </p:spPr>
        <p:txBody>
          <a:bodyPr wrap="square" lIns="0" tIns="0" rIns="0" bIns="0" rtlCol="0" anchor="ctr"/>
          <a:lstStyle/>
          <a:p>
            <a:pPr algn="l" indent="0" marL="0">
              <a:buNone/>
            </a:pPr>
            <a:r>
              <a:rPr lang="en-US" sz="1700" b="1" dirty="0">
                <a:solidFill>
                  <a:srgbClr val="FFFFFF"/>
                </a:solidFill>
                <a:latin typeface="Century Gothic" pitchFamily="34" charset="0"/>
                <a:ea typeface="Century Gothic" pitchFamily="34" charset="-122"/>
                <a:cs typeface="Century Gothic" pitchFamily="34" charset="-120"/>
              </a:rPr>
              <a:t>This is not a small problem at the edges. It is the reason the published record disagrees with itself.</a:t>
            </a:r>
            <a:endParaRPr lang="en-US" sz="1700" dirty="0"/>
          </a:p>
        </p:txBody>
      </p:sp>
      <p:sp>
        <p:nvSpPr>
          <p:cNvPr id="13" name="Shape 11"/>
          <p:cNvSpPr/>
          <p:nvPr/>
        </p:nvSpPr>
        <p:spPr>
          <a:xfrm>
            <a:off x="566928" y="5230368"/>
            <a:ext cx="3520440" cy="841248"/>
          </a:xfrm>
          <a:prstGeom prst="roundRect">
            <a:avLst>
              <a:gd name="adj" fmla="val 17391"/>
            </a:avLst>
          </a:prstGeom>
          <a:solidFill>
            <a:srgbClr val="FFFFFF"/>
          </a:solidFill>
          <a:ln/>
        </p:spPr>
      </p:sp>
      <p:sp>
        <p:nvSpPr>
          <p:cNvPr id="14" name="Text 12"/>
          <p:cNvSpPr/>
          <p:nvPr/>
        </p:nvSpPr>
        <p:spPr>
          <a:xfrm>
            <a:off x="841248" y="5230368"/>
            <a:ext cx="1874520" cy="841248"/>
          </a:xfrm>
          <a:prstGeom prst="rect">
            <a:avLst/>
          </a:prstGeom>
          <a:noFill/>
          <a:ln/>
        </p:spPr>
        <p:txBody>
          <a:bodyPr wrap="square" lIns="0" tIns="0" rIns="0" bIns="0" rtlCol="0" anchor="ctr"/>
          <a:lstStyle/>
          <a:p>
            <a:pPr algn="l" indent="0" marL="0">
              <a:buNone/>
            </a:pPr>
            <a:r>
              <a:rPr lang="en-US" sz="1150" dirty="0">
                <a:solidFill>
                  <a:srgbClr val="6E5A48"/>
                </a:solidFill>
                <a:latin typeface="Calibri" pitchFamily="34" charset="0"/>
                <a:ea typeface="Calibri" pitchFamily="34" charset="-122"/>
                <a:cs typeface="Calibri" pitchFamily="34" charset="-120"/>
              </a:rPr>
              <a:t>74 games</a:t>
            </a:r>
            <a:endParaRPr lang="en-US" sz="1150" dirty="0"/>
          </a:p>
        </p:txBody>
      </p:sp>
      <p:sp>
        <p:nvSpPr>
          <p:cNvPr id="15" name="Text 13"/>
          <p:cNvSpPr/>
          <p:nvPr/>
        </p:nvSpPr>
        <p:spPr>
          <a:xfrm>
            <a:off x="2624328" y="5230368"/>
            <a:ext cx="1207008" cy="841248"/>
          </a:xfrm>
          <a:prstGeom prst="rect">
            <a:avLst/>
          </a:prstGeom>
          <a:noFill/>
          <a:ln/>
        </p:spPr>
        <p:txBody>
          <a:bodyPr wrap="square" lIns="0" tIns="0" rIns="0" bIns="0" rtlCol="0" anchor="ctr"/>
          <a:lstStyle/>
          <a:p>
            <a:pPr algn="r" indent="0" marL="0">
              <a:buNone/>
            </a:pPr>
            <a:r>
              <a:rPr lang="en-US" sz="1400" b="1" dirty="0">
                <a:solidFill>
                  <a:srgbClr val="7A4F9E"/>
                </a:solidFill>
                <a:latin typeface="Century Gothic" pitchFamily="34" charset="0"/>
                <a:ea typeface="Century Gothic" pitchFamily="34" charset="-122"/>
                <a:cs typeface="Century Gothic" pitchFamily="34" charset="-120"/>
              </a:rPr>
              <a:t>11%</a:t>
            </a:r>
            <a:endParaRPr lang="en-US" sz="1400" dirty="0"/>
          </a:p>
        </p:txBody>
      </p:sp>
      <p:sp>
        <p:nvSpPr>
          <p:cNvPr id="16" name="Shape 14"/>
          <p:cNvSpPr/>
          <p:nvPr/>
        </p:nvSpPr>
        <p:spPr>
          <a:xfrm>
            <a:off x="4334256" y="5230368"/>
            <a:ext cx="3520440" cy="841248"/>
          </a:xfrm>
          <a:prstGeom prst="roundRect">
            <a:avLst>
              <a:gd name="adj" fmla="val 17391"/>
            </a:avLst>
          </a:prstGeom>
          <a:solidFill>
            <a:srgbClr val="FFFFFF"/>
          </a:solidFill>
          <a:ln/>
        </p:spPr>
      </p:sp>
      <p:sp>
        <p:nvSpPr>
          <p:cNvPr id="17" name="Text 15"/>
          <p:cNvSpPr/>
          <p:nvPr/>
        </p:nvSpPr>
        <p:spPr>
          <a:xfrm>
            <a:off x="4608576" y="5230368"/>
            <a:ext cx="1874520" cy="841248"/>
          </a:xfrm>
          <a:prstGeom prst="rect">
            <a:avLst/>
          </a:prstGeom>
          <a:noFill/>
          <a:ln/>
        </p:spPr>
        <p:txBody>
          <a:bodyPr wrap="square" lIns="0" tIns="0" rIns="0" bIns="0" rtlCol="0" anchor="ctr"/>
          <a:lstStyle/>
          <a:p>
            <a:pPr algn="l" indent="0" marL="0">
              <a:buNone/>
            </a:pPr>
            <a:r>
              <a:rPr lang="en-US" sz="1150" dirty="0">
                <a:solidFill>
                  <a:srgbClr val="6E5A48"/>
                </a:solidFill>
                <a:latin typeface="Calibri" pitchFamily="34" charset="0"/>
                <a:ea typeface="Calibri" pitchFamily="34" charset="-122"/>
                <a:cs typeface="Calibri" pitchFamily="34" charset="-120"/>
              </a:rPr>
              <a:t>6,840 games</a:t>
            </a:r>
            <a:endParaRPr lang="en-US" sz="1150" dirty="0"/>
          </a:p>
        </p:txBody>
      </p:sp>
      <p:sp>
        <p:nvSpPr>
          <p:cNvPr id="18" name="Text 16"/>
          <p:cNvSpPr/>
          <p:nvPr/>
        </p:nvSpPr>
        <p:spPr>
          <a:xfrm>
            <a:off x="6391656" y="5230368"/>
            <a:ext cx="1207008" cy="841248"/>
          </a:xfrm>
          <a:prstGeom prst="rect">
            <a:avLst/>
          </a:prstGeom>
          <a:noFill/>
          <a:ln/>
        </p:spPr>
        <p:txBody>
          <a:bodyPr wrap="square" lIns="0" tIns="0" rIns="0" bIns="0" rtlCol="0" anchor="ctr"/>
          <a:lstStyle/>
          <a:p>
            <a:pPr algn="r" indent="0" marL="0">
              <a:buNone/>
            </a:pPr>
            <a:r>
              <a:rPr lang="en-US" sz="1400" b="1" dirty="0">
                <a:solidFill>
                  <a:srgbClr val="0F8A6E"/>
                </a:solidFill>
                <a:latin typeface="Century Gothic" pitchFamily="34" charset="0"/>
                <a:ea typeface="Century Gothic" pitchFamily="34" charset="-122"/>
                <a:cs typeface="Century Gothic" pitchFamily="34" charset="-120"/>
              </a:rPr>
              <a:t>&gt;99.9%</a:t>
            </a:r>
            <a:endParaRPr lang="en-US" sz="1400" dirty="0"/>
          </a:p>
        </p:txBody>
      </p:sp>
      <p:sp>
        <p:nvSpPr>
          <p:cNvPr id="19" name="Shape 17"/>
          <p:cNvSpPr/>
          <p:nvPr/>
        </p:nvSpPr>
        <p:spPr>
          <a:xfrm>
            <a:off x="8101584" y="5230368"/>
            <a:ext cx="3520440" cy="841248"/>
          </a:xfrm>
          <a:prstGeom prst="roundRect">
            <a:avLst>
              <a:gd name="adj" fmla="val 17391"/>
            </a:avLst>
          </a:prstGeom>
          <a:solidFill>
            <a:srgbClr val="FFFFFF"/>
          </a:solidFill>
          <a:ln/>
        </p:spPr>
      </p:sp>
      <p:sp>
        <p:nvSpPr>
          <p:cNvPr id="20" name="Text 18"/>
          <p:cNvSpPr/>
          <p:nvPr/>
        </p:nvSpPr>
        <p:spPr>
          <a:xfrm>
            <a:off x="8375904" y="5230368"/>
            <a:ext cx="1874520" cy="841248"/>
          </a:xfrm>
          <a:prstGeom prst="rect">
            <a:avLst/>
          </a:prstGeom>
          <a:noFill/>
          <a:ln/>
        </p:spPr>
        <p:txBody>
          <a:bodyPr wrap="square" lIns="0" tIns="0" rIns="0" bIns="0" rtlCol="0" anchor="ctr"/>
          <a:lstStyle/>
          <a:p>
            <a:pPr algn="l" indent="0" marL="0">
              <a:buNone/>
            </a:pPr>
            <a:r>
              <a:rPr lang="en-US" sz="1150" dirty="0">
                <a:solidFill>
                  <a:srgbClr val="6E5A48"/>
                </a:solidFill>
                <a:latin typeface="Calibri" pitchFamily="34" charset="0"/>
                <a:ea typeface="Calibri" pitchFamily="34" charset="-122"/>
                <a:cs typeface="Calibri" pitchFamily="34" charset="-120"/>
              </a:rPr>
              <a:t>the gap you would need</a:t>
            </a:r>
            <a:endParaRPr lang="en-US" sz="1150" dirty="0"/>
          </a:p>
        </p:txBody>
      </p:sp>
      <p:sp>
        <p:nvSpPr>
          <p:cNvPr id="21" name="Text 19"/>
          <p:cNvSpPr/>
          <p:nvPr/>
        </p:nvSpPr>
        <p:spPr>
          <a:xfrm>
            <a:off x="10158984" y="5230368"/>
            <a:ext cx="1207008" cy="841248"/>
          </a:xfrm>
          <a:prstGeom prst="rect">
            <a:avLst/>
          </a:prstGeom>
          <a:noFill/>
          <a:ln/>
        </p:spPr>
        <p:txBody>
          <a:bodyPr wrap="square" lIns="0" tIns="0" rIns="0" bIns="0" rtlCol="0" anchor="ctr"/>
          <a:lstStyle/>
          <a:p>
            <a:pPr algn="r" indent="0" marL="0">
              <a:buNone/>
            </a:pPr>
            <a:r>
              <a:rPr lang="en-US" sz="1400" b="1" dirty="0">
                <a:solidFill>
                  <a:srgbClr val="DB5A28"/>
                </a:solidFill>
                <a:latin typeface="Century Gothic" pitchFamily="34" charset="0"/>
                <a:ea typeface="Century Gothic" pitchFamily="34" charset="-122"/>
                <a:cs typeface="Century Gothic" pitchFamily="34" charset="-120"/>
              </a:rPr>
              <a:t>2.99 points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7EC"/>
        </a:solidFill>
      </p:bgPr>
    </p:bg>
    <p:spTree>
      <p:nvGrpSpPr>
        <p:cNvPr id="1" name=""/>
        <p:cNvGrpSpPr/>
        <p:nvPr/>
      </p:nvGrpSpPr>
      <p:grpSpPr>
        <a:xfrm>
          <a:off x="0" y="0"/>
          <a:ext cx="0" cy="0"/>
          <a:chOff x="0" y="0"/>
          <a:chExt cx="0" cy="0"/>
        </a:xfrm>
      </p:grpSpPr>
      <p:sp>
        <p:nvSpPr>
          <p:cNvPr id="2" name="Shape 0"/>
          <p:cNvSpPr/>
          <p:nvPr/>
        </p:nvSpPr>
        <p:spPr>
          <a:xfrm>
            <a:off x="566928" y="310896"/>
            <a:ext cx="4576572" cy="384048"/>
          </a:xfrm>
          <a:prstGeom prst="roundRect">
            <a:avLst>
              <a:gd name="adj" fmla="val 119048"/>
            </a:avLst>
          </a:prstGeom>
          <a:solidFill>
            <a:srgbClr val="0F8A6E"/>
          </a:solidFill>
          <a:ln/>
        </p:spPr>
      </p:sp>
      <p:sp>
        <p:nvSpPr>
          <p:cNvPr id="3" name="Text 1"/>
          <p:cNvSpPr/>
          <p:nvPr/>
        </p:nvSpPr>
        <p:spPr>
          <a:xfrm>
            <a:off x="566928" y="310896"/>
            <a:ext cx="4576572" cy="384048"/>
          </a:xfrm>
          <a:prstGeom prst="rect">
            <a:avLst/>
          </a:prstGeom>
          <a:noFill/>
          <a:ln/>
        </p:spPr>
        <p:txBody>
          <a:bodyPr wrap="square" lIns="0" tIns="0" rIns="0" bIns="0" rtlCol="0" anchor="ctr"/>
          <a:lstStyle/>
          <a:p>
            <a:pPr algn="ctr" indent="0" marL="0">
              <a:buNone/>
            </a:pPr>
            <a:r>
              <a:rPr lang="en-US" sz="1050" b="1" spc="140" kern="0" dirty="0">
                <a:solidFill>
                  <a:srgbClr val="FFFFFF"/>
                </a:solidFill>
                <a:latin typeface="Calibri" pitchFamily="34" charset="0"/>
                <a:ea typeface="Calibri" pitchFamily="34" charset="-122"/>
                <a:cs typeface="Calibri" pitchFamily="34" charset="-120"/>
              </a:rPr>
              <a:t>DEFINITIONS, BEFORE ANYTHING ELSE</a:t>
            </a:r>
            <a:endParaRPr lang="en-US" sz="1050" dirty="0"/>
          </a:p>
        </p:txBody>
      </p:sp>
      <p:sp>
        <p:nvSpPr>
          <p:cNvPr id="4" name="Text 2"/>
          <p:cNvSpPr/>
          <p:nvPr/>
        </p:nvSpPr>
        <p:spPr>
          <a:xfrm>
            <a:off x="566928" y="841248"/>
            <a:ext cx="11055096" cy="786384"/>
          </a:xfrm>
          <a:prstGeom prst="rect">
            <a:avLst/>
          </a:prstGeom>
          <a:noFill/>
          <a:ln/>
        </p:spPr>
        <p:txBody>
          <a:bodyPr wrap="square" lIns="0" tIns="0" rIns="0" bIns="0" rtlCol="0" anchor="ctr"/>
          <a:lstStyle/>
          <a:p>
            <a:pPr algn="l" indent="0" marL="0">
              <a:buNone/>
            </a:pPr>
            <a:r>
              <a:rPr lang="en-US" sz="3100" b="1" dirty="0">
                <a:solidFill>
                  <a:srgbClr val="2A2118"/>
                </a:solidFill>
                <a:latin typeface="Century Gothic" pitchFamily="34" charset="0"/>
                <a:ea typeface="Century Gothic" pitchFamily="34" charset="-122"/>
                <a:cs typeface="Century Gothic" pitchFamily="34" charset="-120"/>
              </a:rPr>
              <a:t>Three claims that are easy to mix up</a:t>
            </a:r>
            <a:endParaRPr lang="en-US" sz="3100" dirty="0"/>
          </a:p>
        </p:txBody>
      </p:sp>
      <p:sp>
        <p:nvSpPr>
          <p:cNvPr id="5" name="Shape 3"/>
          <p:cNvSpPr/>
          <p:nvPr/>
        </p:nvSpPr>
        <p:spPr>
          <a:xfrm>
            <a:off x="566928" y="1828800"/>
            <a:ext cx="3520440" cy="2743200"/>
          </a:xfrm>
          <a:prstGeom prst="roundRect">
            <a:avLst>
              <a:gd name="adj" fmla="val 5333"/>
            </a:avLst>
          </a:prstGeom>
          <a:solidFill>
            <a:srgbClr val="DCEFE9"/>
          </a:solidFill>
          <a:ln/>
        </p:spPr>
      </p:sp>
      <p:sp>
        <p:nvSpPr>
          <p:cNvPr id="6" name="Shape 4"/>
          <p:cNvSpPr/>
          <p:nvPr/>
        </p:nvSpPr>
        <p:spPr>
          <a:xfrm>
            <a:off x="566928" y="1828800"/>
            <a:ext cx="3520440" cy="566928"/>
          </a:xfrm>
          <a:prstGeom prst="roundRect">
            <a:avLst>
              <a:gd name="adj" fmla="val 22581"/>
            </a:avLst>
          </a:prstGeom>
          <a:solidFill>
            <a:srgbClr val="0F8A6E"/>
          </a:solidFill>
          <a:ln/>
        </p:spPr>
      </p:sp>
      <p:sp>
        <p:nvSpPr>
          <p:cNvPr id="7" name="Text 5"/>
          <p:cNvSpPr/>
          <p:nvPr/>
        </p:nvSpPr>
        <p:spPr>
          <a:xfrm>
            <a:off x="841248" y="1828800"/>
            <a:ext cx="3017520" cy="566928"/>
          </a:xfrm>
          <a:prstGeom prst="rect">
            <a:avLst/>
          </a:prstGeom>
          <a:noFill/>
          <a:ln/>
        </p:spPr>
        <p:txBody>
          <a:bodyPr wrap="square" lIns="0" tIns="0" rIns="0" bIns="0" rtlCol="0" anchor="ctr"/>
          <a:lstStyle/>
          <a:p>
            <a:pPr algn="l" indent="0" marL="0">
              <a:buNone/>
            </a:pPr>
            <a:r>
              <a:rPr lang="en-US" sz="1600" b="1" dirty="0">
                <a:solidFill>
                  <a:srgbClr val="FFFFFF"/>
                </a:solidFill>
                <a:latin typeface="Century Gothic" pitchFamily="34" charset="0"/>
                <a:ea typeface="Century Gothic" pitchFamily="34" charset="-122"/>
                <a:cs typeface="Century Gothic" pitchFamily="34" charset="-120"/>
              </a:rPr>
              <a:t>Calibration</a:t>
            </a:r>
            <a:endParaRPr lang="en-US" sz="1600" dirty="0"/>
          </a:p>
        </p:txBody>
      </p:sp>
      <p:sp>
        <p:nvSpPr>
          <p:cNvPr id="8" name="Text 6"/>
          <p:cNvSpPr/>
          <p:nvPr/>
        </p:nvSpPr>
        <p:spPr>
          <a:xfrm>
            <a:off x="841248" y="2606040"/>
            <a:ext cx="2971800" cy="1234440"/>
          </a:xfrm>
          <a:prstGeom prst="rect">
            <a:avLst/>
          </a:prstGeom>
          <a:noFill/>
          <a:ln/>
        </p:spPr>
        <p:txBody>
          <a:bodyPr wrap="square" lIns="0" tIns="0" rIns="0" bIns="0" rtlCol="0" anchor="t"/>
          <a:lstStyle/>
          <a:p>
            <a:pPr algn="l" indent="0" marL="0">
              <a:lnSpc>
                <a:spcPct val="134000"/>
              </a:lnSpc>
              <a:buNone/>
            </a:pPr>
            <a:r>
              <a:rPr lang="en-US" sz="1350" dirty="0">
                <a:solidFill>
                  <a:srgbClr val="2A2118"/>
                </a:solidFill>
                <a:latin typeface="Calibri" pitchFamily="34" charset="0"/>
                <a:ea typeface="Calibri" pitchFamily="34" charset="-122"/>
                <a:cs typeface="Calibri" pitchFamily="34" charset="-120"/>
              </a:rPr>
              <a:t>Do stated probabilities match how often those outcomes happen?</a:t>
            </a:r>
            <a:endParaRPr lang="en-US" sz="1350" dirty="0"/>
          </a:p>
        </p:txBody>
      </p:sp>
      <p:sp>
        <p:nvSpPr>
          <p:cNvPr id="9" name="Text 7"/>
          <p:cNvSpPr/>
          <p:nvPr/>
        </p:nvSpPr>
        <p:spPr>
          <a:xfrm>
            <a:off x="841248" y="3968496"/>
            <a:ext cx="2971800" cy="411480"/>
          </a:xfrm>
          <a:prstGeom prst="rect">
            <a:avLst/>
          </a:prstGeom>
          <a:noFill/>
          <a:ln/>
        </p:spPr>
        <p:txBody>
          <a:bodyPr wrap="square" lIns="0" tIns="0" rIns="0" bIns="0" rtlCol="0" anchor="ctr"/>
          <a:lstStyle/>
          <a:p>
            <a:pPr algn="l" indent="0" marL="0">
              <a:buNone/>
            </a:pPr>
            <a:r>
              <a:rPr lang="en-US" sz="1200" b="1" dirty="0">
                <a:solidFill>
                  <a:srgbClr val="0F8A6E"/>
                </a:solidFill>
                <a:latin typeface="Calibri" pitchFamily="34" charset="0"/>
                <a:ea typeface="Calibri" pitchFamily="34" charset="-122"/>
                <a:cs typeface="Calibri" pitchFamily="34" charset="-120"/>
              </a:rPr>
              <a:t>What this paper tests</a:t>
            </a:r>
            <a:endParaRPr lang="en-US" sz="1200" dirty="0"/>
          </a:p>
        </p:txBody>
      </p:sp>
      <p:sp>
        <p:nvSpPr>
          <p:cNvPr id="10" name="Shape 8"/>
          <p:cNvSpPr/>
          <p:nvPr/>
        </p:nvSpPr>
        <p:spPr>
          <a:xfrm>
            <a:off x="4334256" y="1828800"/>
            <a:ext cx="3520440" cy="2743200"/>
          </a:xfrm>
          <a:prstGeom prst="roundRect">
            <a:avLst>
              <a:gd name="adj" fmla="val 5333"/>
            </a:avLst>
          </a:prstGeom>
          <a:solidFill>
            <a:srgbClr val="DEE6F8"/>
          </a:solidFill>
          <a:ln/>
        </p:spPr>
      </p:sp>
      <p:sp>
        <p:nvSpPr>
          <p:cNvPr id="11" name="Shape 9"/>
          <p:cNvSpPr/>
          <p:nvPr/>
        </p:nvSpPr>
        <p:spPr>
          <a:xfrm>
            <a:off x="4334256" y="1828800"/>
            <a:ext cx="3520440" cy="566928"/>
          </a:xfrm>
          <a:prstGeom prst="roundRect">
            <a:avLst>
              <a:gd name="adj" fmla="val 22581"/>
            </a:avLst>
          </a:prstGeom>
          <a:solidFill>
            <a:srgbClr val="2E63C8"/>
          </a:solidFill>
          <a:ln/>
        </p:spPr>
      </p:sp>
      <p:sp>
        <p:nvSpPr>
          <p:cNvPr id="12" name="Text 10"/>
          <p:cNvSpPr/>
          <p:nvPr/>
        </p:nvSpPr>
        <p:spPr>
          <a:xfrm>
            <a:off x="4608576" y="1828800"/>
            <a:ext cx="3017520" cy="566928"/>
          </a:xfrm>
          <a:prstGeom prst="rect">
            <a:avLst/>
          </a:prstGeom>
          <a:noFill/>
          <a:ln/>
        </p:spPr>
        <p:txBody>
          <a:bodyPr wrap="square" lIns="0" tIns="0" rIns="0" bIns="0" rtlCol="0" anchor="ctr"/>
          <a:lstStyle/>
          <a:p>
            <a:pPr algn="l" indent="0" marL="0">
              <a:buNone/>
            </a:pPr>
            <a:r>
              <a:rPr lang="en-US" sz="1600" b="1" dirty="0">
                <a:solidFill>
                  <a:srgbClr val="FFFFFF"/>
                </a:solidFill>
                <a:latin typeface="Century Gothic" pitchFamily="34" charset="0"/>
                <a:ea typeface="Century Gothic" pitchFamily="34" charset="-122"/>
                <a:cs typeface="Century Gothic" pitchFamily="34" charset="-120"/>
              </a:rPr>
              <a:t>Profitability</a:t>
            </a:r>
            <a:endParaRPr lang="en-US" sz="1600" dirty="0"/>
          </a:p>
        </p:txBody>
      </p:sp>
      <p:sp>
        <p:nvSpPr>
          <p:cNvPr id="13" name="Text 11"/>
          <p:cNvSpPr/>
          <p:nvPr/>
        </p:nvSpPr>
        <p:spPr>
          <a:xfrm>
            <a:off x="4608576" y="2606040"/>
            <a:ext cx="2971800" cy="1234440"/>
          </a:xfrm>
          <a:prstGeom prst="rect">
            <a:avLst/>
          </a:prstGeom>
          <a:noFill/>
          <a:ln/>
        </p:spPr>
        <p:txBody>
          <a:bodyPr wrap="square" lIns="0" tIns="0" rIns="0" bIns="0" rtlCol="0" anchor="t"/>
          <a:lstStyle/>
          <a:p>
            <a:pPr algn="l" indent="0" marL="0">
              <a:lnSpc>
                <a:spcPct val="134000"/>
              </a:lnSpc>
              <a:buNone/>
            </a:pPr>
            <a:r>
              <a:rPr lang="en-US" sz="1350" dirty="0">
                <a:solidFill>
                  <a:srgbClr val="2A2118"/>
                </a:solidFill>
                <a:latin typeface="Calibri" pitchFamily="34" charset="0"/>
                <a:ea typeface="Calibri" pitchFamily="34" charset="-122"/>
                <a:cs typeface="Calibri" pitchFamily="34" charset="-120"/>
              </a:rPr>
              <a:t>Does a betting rule make money after paying the quoted price?</a:t>
            </a:r>
            <a:endParaRPr lang="en-US" sz="1350" dirty="0"/>
          </a:p>
        </p:txBody>
      </p:sp>
      <p:sp>
        <p:nvSpPr>
          <p:cNvPr id="14" name="Text 12"/>
          <p:cNvSpPr/>
          <p:nvPr/>
        </p:nvSpPr>
        <p:spPr>
          <a:xfrm>
            <a:off x="4608576" y="3968496"/>
            <a:ext cx="2971800" cy="411480"/>
          </a:xfrm>
          <a:prstGeom prst="rect">
            <a:avLst/>
          </a:prstGeom>
          <a:noFill/>
          <a:ln/>
        </p:spPr>
        <p:txBody>
          <a:bodyPr wrap="square" lIns="0" tIns="0" rIns="0" bIns="0" rtlCol="0" anchor="ctr"/>
          <a:lstStyle/>
          <a:p>
            <a:pPr algn="l" indent="0" marL="0">
              <a:buNone/>
            </a:pPr>
            <a:r>
              <a:rPr lang="en-US" sz="1200" b="1" dirty="0">
                <a:solidFill>
                  <a:srgbClr val="2E63C8"/>
                </a:solidFill>
                <a:latin typeface="Calibri" pitchFamily="34" charset="0"/>
                <a:ea typeface="Calibri" pitchFamily="34" charset="-122"/>
                <a:cs typeface="Calibri" pitchFamily="34" charset="-120"/>
              </a:rPr>
              <a:t>Tested second, directly</a:t>
            </a:r>
            <a:endParaRPr lang="en-US" sz="1200" dirty="0"/>
          </a:p>
        </p:txBody>
      </p:sp>
      <p:sp>
        <p:nvSpPr>
          <p:cNvPr id="15" name="Shape 13"/>
          <p:cNvSpPr/>
          <p:nvPr/>
        </p:nvSpPr>
        <p:spPr>
          <a:xfrm>
            <a:off x="8101584" y="1828800"/>
            <a:ext cx="3520440" cy="2743200"/>
          </a:xfrm>
          <a:prstGeom prst="roundRect">
            <a:avLst>
              <a:gd name="adj" fmla="val 5333"/>
            </a:avLst>
          </a:prstGeom>
          <a:solidFill>
            <a:srgbClr val="ECE3F4"/>
          </a:solidFill>
          <a:ln/>
        </p:spPr>
      </p:sp>
      <p:sp>
        <p:nvSpPr>
          <p:cNvPr id="16" name="Shape 14"/>
          <p:cNvSpPr/>
          <p:nvPr/>
        </p:nvSpPr>
        <p:spPr>
          <a:xfrm>
            <a:off x="8101584" y="1828800"/>
            <a:ext cx="3520440" cy="566928"/>
          </a:xfrm>
          <a:prstGeom prst="roundRect">
            <a:avLst>
              <a:gd name="adj" fmla="val 22581"/>
            </a:avLst>
          </a:prstGeom>
          <a:solidFill>
            <a:srgbClr val="7A4F9E"/>
          </a:solidFill>
          <a:ln/>
        </p:spPr>
      </p:sp>
      <p:sp>
        <p:nvSpPr>
          <p:cNvPr id="17" name="Text 15"/>
          <p:cNvSpPr/>
          <p:nvPr/>
        </p:nvSpPr>
        <p:spPr>
          <a:xfrm>
            <a:off x="8375904" y="1828800"/>
            <a:ext cx="3017520" cy="566928"/>
          </a:xfrm>
          <a:prstGeom prst="rect">
            <a:avLst/>
          </a:prstGeom>
          <a:noFill/>
          <a:ln/>
        </p:spPr>
        <p:txBody>
          <a:bodyPr wrap="square" lIns="0" tIns="0" rIns="0" bIns="0" rtlCol="0" anchor="ctr"/>
          <a:lstStyle/>
          <a:p>
            <a:pPr algn="l" indent="0" marL="0">
              <a:buNone/>
            </a:pPr>
            <a:r>
              <a:rPr lang="en-US" sz="1600" b="1" dirty="0">
                <a:solidFill>
                  <a:srgbClr val="FFFFFF"/>
                </a:solidFill>
                <a:latin typeface="Century Gothic" pitchFamily="34" charset="0"/>
                <a:ea typeface="Century Gothic" pitchFamily="34" charset="-122"/>
                <a:cs typeface="Century Gothic" pitchFamily="34" charset="-120"/>
              </a:rPr>
              <a:t>Efficiency</a:t>
            </a:r>
            <a:endParaRPr lang="en-US" sz="1600" dirty="0"/>
          </a:p>
        </p:txBody>
      </p:sp>
      <p:sp>
        <p:nvSpPr>
          <p:cNvPr id="18" name="Text 16"/>
          <p:cNvSpPr/>
          <p:nvPr/>
        </p:nvSpPr>
        <p:spPr>
          <a:xfrm>
            <a:off x="8375904" y="2606040"/>
            <a:ext cx="2971800" cy="1234440"/>
          </a:xfrm>
          <a:prstGeom prst="rect">
            <a:avLst/>
          </a:prstGeom>
          <a:noFill/>
          <a:ln/>
        </p:spPr>
        <p:txBody>
          <a:bodyPr wrap="square" lIns="0" tIns="0" rIns="0" bIns="0" rtlCol="0" anchor="t"/>
          <a:lstStyle/>
          <a:p>
            <a:pPr algn="l" indent="0" marL="0">
              <a:lnSpc>
                <a:spcPct val="134000"/>
              </a:lnSpc>
              <a:buNone/>
            </a:pPr>
            <a:r>
              <a:rPr lang="en-US" sz="1350" dirty="0">
                <a:solidFill>
                  <a:srgbClr val="2A2118"/>
                </a:solidFill>
                <a:latin typeface="Calibri" pitchFamily="34" charset="0"/>
                <a:ea typeface="Calibri" pitchFamily="34" charset="-122"/>
                <a:cs typeface="Calibri" pitchFamily="34" charset="-120"/>
              </a:rPr>
              <a:t>Do prices absorb information so well that no strategy beats them?</a:t>
            </a:r>
            <a:endParaRPr lang="en-US" sz="1350" dirty="0"/>
          </a:p>
        </p:txBody>
      </p:sp>
      <p:sp>
        <p:nvSpPr>
          <p:cNvPr id="19" name="Text 17"/>
          <p:cNvSpPr/>
          <p:nvPr/>
        </p:nvSpPr>
        <p:spPr>
          <a:xfrm>
            <a:off x="8375904" y="3968496"/>
            <a:ext cx="2971800" cy="411480"/>
          </a:xfrm>
          <a:prstGeom prst="rect">
            <a:avLst/>
          </a:prstGeom>
          <a:noFill/>
          <a:ln/>
        </p:spPr>
        <p:txBody>
          <a:bodyPr wrap="square" lIns="0" tIns="0" rIns="0" bIns="0" rtlCol="0" anchor="ctr"/>
          <a:lstStyle/>
          <a:p>
            <a:pPr algn="l" indent="0" marL="0">
              <a:buNone/>
            </a:pPr>
            <a:r>
              <a:rPr lang="en-US" sz="1200" b="1" dirty="0">
                <a:solidFill>
                  <a:srgbClr val="7A4F9E"/>
                </a:solidFill>
                <a:latin typeface="Calibri" pitchFamily="34" charset="0"/>
                <a:ea typeface="Calibri" pitchFamily="34" charset="-122"/>
                <a:cs typeface="Calibri" pitchFamily="34" charset="-120"/>
              </a:rPr>
              <a:t>Not claimed at all</a:t>
            </a:r>
            <a:endParaRPr lang="en-US" sz="1200" dirty="0"/>
          </a:p>
        </p:txBody>
      </p:sp>
      <p:sp>
        <p:nvSpPr>
          <p:cNvPr id="20" name="Shape 18"/>
          <p:cNvSpPr/>
          <p:nvPr/>
        </p:nvSpPr>
        <p:spPr>
          <a:xfrm>
            <a:off x="566928" y="4800600"/>
            <a:ext cx="11055096" cy="1051560"/>
          </a:xfrm>
          <a:prstGeom prst="roundRect">
            <a:avLst>
              <a:gd name="adj" fmla="val 13913"/>
            </a:avLst>
          </a:prstGeom>
          <a:solidFill>
            <a:srgbClr val="FDEEDC"/>
          </a:solidFill>
          <a:ln/>
        </p:spPr>
      </p:sp>
      <p:sp>
        <p:nvSpPr>
          <p:cNvPr id="21" name="Text 19"/>
          <p:cNvSpPr/>
          <p:nvPr/>
        </p:nvSpPr>
        <p:spPr>
          <a:xfrm>
            <a:off x="950976" y="4956048"/>
            <a:ext cx="10287000" cy="822960"/>
          </a:xfrm>
          <a:prstGeom prst="rect">
            <a:avLst/>
          </a:prstGeom>
          <a:noFill/>
          <a:ln/>
        </p:spPr>
        <p:txBody>
          <a:bodyPr wrap="square" lIns="0" tIns="0" rIns="0" bIns="0" rtlCol="0" anchor="t"/>
          <a:lstStyle/>
          <a:p>
            <a:pPr algn="l" indent="0" marL="0">
              <a:lnSpc>
                <a:spcPct val="134000"/>
              </a:lnSpc>
              <a:buNone/>
            </a:pPr>
            <a:r>
              <a:rPr lang="en-US" sz="1350" dirty="0">
                <a:solidFill>
                  <a:srgbClr val="2A2118"/>
                </a:solidFill>
                <a:latin typeface="Calibri" pitchFamily="34" charset="0"/>
                <a:ea typeface="Calibri" pitchFamily="34" charset="-122"/>
                <a:cs typeface="Calibri" pitchFamily="34" charset="-120"/>
              </a:rPr>
              <a:t>A market can be well calibrated on average and still hold predictable patterns in particular situations. It can also carry errors too small to turn into profit once the margin is paid.</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7EC"/>
        </a:solidFill>
      </p:bgPr>
    </p:bg>
    <p:spTree>
      <p:nvGrpSpPr>
        <p:cNvPr id="1" name=""/>
        <p:cNvGrpSpPr/>
        <p:nvPr/>
      </p:nvGrpSpPr>
      <p:grpSpPr>
        <a:xfrm>
          <a:off x="0" y="0"/>
          <a:ext cx="0" cy="0"/>
          <a:chOff x="0" y="0"/>
          <a:chExt cx="0" cy="0"/>
        </a:xfrm>
      </p:grpSpPr>
      <p:sp>
        <p:nvSpPr>
          <p:cNvPr id="2" name="Shape 0"/>
          <p:cNvSpPr/>
          <p:nvPr/>
        </p:nvSpPr>
        <p:spPr>
          <a:xfrm>
            <a:off x="566928" y="310896"/>
            <a:ext cx="1243584" cy="384048"/>
          </a:xfrm>
          <a:prstGeom prst="roundRect">
            <a:avLst>
              <a:gd name="adj" fmla="val 119048"/>
            </a:avLst>
          </a:prstGeom>
          <a:solidFill>
            <a:srgbClr val="9A6410"/>
          </a:solidFill>
          <a:ln/>
        </p:spPr>
      </p:sp>
      <p:sp>
        <p:nvSpPr>
          <p:cNvPr id="3" name="Text 1"/>
          <p:cNvSpPr/>
          <p:nvPr/>
        </p:nvSpPr>
        <p:spPr>
          <a:xfrm>
            <a:off x="566928" y="310896"/>
            <a:ext cx="1243584" cy="384048"/>
          </a:xfrm>
          <a:prstGeom prst="rect">
            <a:avLst/>
          </a:prstGeom>
          <a:noFill/>
          <a:ln/>
        </p:spPr>
        <p:txBody>
          <a:bodyPr wrap="square" lIns="0" tIns="0" rIns="0" bIns="0" rtlCol="0" anchor="ctr"/>
          <a:lstStyle/>
          <a:p>
            <a:pPr algn="ctr" indent="0" marL="0">
              <a:buNone/>
            </a:pPr>
            <a:r>
              <a:rPr lang="en-US" sz="1050" b="1" spc="140" kern="0" dirty="0">
                <a:solidFill>
                  <a:srgbClr val="FFFFFF"/>
                </a:solidFill>
                <a:latin typeface="Calibri" pitchFamily="34" charset="0"/>
                <a:ea typeface="Calibri" pitchFamily="34" charset="-122"/>
                <a:cs typeface="Calibri" pitchFamily="34" charset="-120"/>
              </a:rPr>
              <a:t>DESIGN</a:t>
            </a:r>
            <a:endParaRPr lang="en-US" sz="1050" dirty="0"/>
          </a:p>
        </p:txBody>
      </p:sp>
      <p:sp>
        <p:nvSpPr>
          <p:cNvPr id="4" name="Text 2"/>
          <p:cNvSpPr/>
          <p:nvPr/>
        </p:nvSpPr>
        <p:spPr>
          <a:xfrm>
            <a:off x="566928" y="841248"/>
            <a:ext cx="11055096" cy="786384"/>
          </a:xfrm>
          <a:prstGeom prst="rect">
            <a:avLst/>
          </a:prstGeom>
          <a:noFill/>
          <a:ln/>
        </p:spPr>
        <p:txBody>
          <a:bodyPr wrap="square" lIns="0" tIns="0" rIns="0" bIns="0" rtlCol="0" anchor="ctr"/>
          <a:lstStyle/>
          <a:p>
            <a:pPr algn="l" indent="0" marL="0">
              <a:buNone/>
            </a:pPr>
            <a:r>
              <a:rPr lang="en-US" sz="3100" b="1" dirty="0">
                <a:solidFill>
                  <a:srgbClr val="2A2118"/>
                </a:solidFill>
                <a:latin typeface="Century Gothic" pitchFamily="34" charset="0"/>
                <a:ea typeface="Century Gothic" pitchFamily="34" charset="-122"/>
                <a:cs typeface="Century Gothic" pitchFamily="34" charset="-120"/>
              </a:rPr>
              <a:t>What was fixed before I saw any outcome</a:t>
            </a:r>
            <a:endParaRPr lang="en-US" sz="3100" dirty="0"/>
          </a:p>
        </p:txBody>
      </p:sp>
      <p:sp>
        <p:nvSpPr>
          <p:cNvPr id="5" name="Shape 3"/>
          <p:cNvSpPr/>
          <p:nvPr/>
        </p:nvSpPr>
        <p:spPr>
          <a:xfrm>
            <a:off x="11064240" y="5486400"/>
            <a:ext cx="2011680" cy="2011680"/>
          </a:xfrm>
          <a:prstGeom prst="ellipse">
            <a:avLst/>
          </a:prstGeom>
          <a:solidFill>
            <a:srgbClr val="FDF0D6"/>
          </a:solidFill>
          <a:ln/>
        </p:spPr>
      </p:sp>
      <p:sp>
        <p:nvSpPr>
          <p:cNvPr id="6" name="Shape 4"/>
          <p:cNvSpPr/>
          <p:nvPr/>
        </p:nvSpPr>
        <p:spPr>
          <a:xfrm>
            <a:off x="566928" y="1828800"/>
            <a:ext cx="5358384" cy="3749040"/>
          </a:xfrm>
          <a:prstGeom prst="roundRect">
            <a:avLst>
              <a:gd name="adj" fmla="val 3902"/>
            </a:avLst>
          </a:prstGeom>
          <a:solidFill>
            <a:srgbClr val="DCEFE9"/>
          </a:solidFill>
          <a:ln/>
        </p:spPr>
      </p:sp>
      <p:sp>
        <p:nvSpPr>
          <p:cNvPr id="7" name="Text 5"/>
          <p:cNvSpPr/>
          <p:nvPr/>
        </p:nvSpPr>
        <p:spPr>
          <a:xfrm>
            <a:off x="877824" y="2066544"/>
            <a:ext cx="4736592" cy="365760"/>
          </a:xfrm>
          <a:prstGeom prst="rect">
            <a:avLst/>
          </a:prstGeom>
          <a:noFill/>
          <a:ln/>
        </p:spPr>
        <p:txBody>
          <a:bodyPr wrap="square" lIns="0" tIns="0" rIns="0" bIns="0" rtlCol="0" anchor="ctr"/>
          <a:lstStyle/>
          <a:p>
            <a:pPr algn="l" indent="0" marL="0">
              <a:buNone/>
            </a:pPr>
            <a:r>
              <a:rPr lang="en-US" sz="1500" b="1" dirty="0">
                <a:solidFill>
                  <a:srgbClr val="0F8A6E"/>
                </a:solidFill>
                <a:latin typeface="Century Gothic" pitchFamily="34" charset="0"/>
                <a:ea typeface="Century Gothic" pitchFamily="34" charset="-122"/>
                <a:cs typeface="Century Gothic" pitchFamily="34" charset="-120"/>
              </a:rPr>
              <a:t>Confirmatory  ·  fixed in the plan</a:t>
            </a:r>
            <a:endParaRPr lang="en-US" sz="1500" dirty="0"/>
          </a:p>
        </p:txBody>
      </p:sp>
      <p:sp>
        <p:nvSpPr>
          <p:cNvPr id="8" name="Text 6"/>
          <p:cNvSpPr/>
          <p:nvPr/>
        </p:nvSpPr>
        <p:spPr>
          <a:xfrm>
            <a:off x="877824" y="2542032"/>
            <a:ext cx="4754880" cy="2926080"/>
          </a:xfrm>
          <a:prstGeom prst="rect">
            <a:avLst/>
          </a:prstGeom>
          <a:noFill/>
          <a:ln/>
        </p:spPr>
        <p:txBody>
          <a:bodyPr wrap="square" lIns="0" tIns="0" rIns="0" bIns="0" rtlCol="0" anchor="t"/>
          <a:lstStyle/>
          <a:p>
            <a:pPr algn="l" marL="342900" indent="-342900">
              <a:lnSpc>
                <a:spcPct val="125000"/>
              </a:lnSpc>
              <a:spcAft>
                <a:spcPts val="1200"/>
              </a:spcAft>
              <a:buSzPct val="100000"/>
              <a:buChar char="●"/>
            </a:pPr>
            <a:r>
              <a:rPr lang="en-US" sz="1350" dirty="0">
                <a:solidFill>
                  <a:srgbClr val="2A2118"/>
                </a:solidFill>
                <a:latin typeface="Calibri" pitchFamily="34" charset="0"/>
                <a:ea typeface="Calibri" pitchFamily="34" charset="-122"/>
                <a:cs typeface="Calibri" pitchFamily="34" charset="-120"/>
              </a:rPr>
              <a:t>The .70 threshold</a:t>
            </a:r>
            <a:endParaRPr lang="en-US" sz="1350" dirty="0"/>
          </a:p>
          <a:p>
            <a:pPr algn="l" marL="342900" indent="-342900">
              <a:lnSpc>
                <a:spcPct val="125000"/>
              </a:lnSpc>
              <a:spcAft>
                <a:spcPts val="1200"/>
              </a:spcAft>
              <a:buSzPct val="100000"/>
              <a:buChar char="●"/>
            </a:pPr>
            <a:r>
              <a:rPr lang="en-US" sz="1350" dirty="0">
                <a:solidFill>
                  <a:srgbClr val="2A2118"/>
                </a:solidFill>
                <a:latin typeface="Calibri" pitchFamily="34" charset="0"/>
                <a:ea typeface="Calibri" pitchFamily="34" charset="-122"/>
                <a:cs typeface="Calibri" pitchFamily="34" charset="-120"/>
              </a:rPr>
              <a:t>The Poisson-binomial primary test</a:t>
            </a:r>
            <a:endParaRPr lang="en-US" sz="1350" dirty="0"/>
          </a:p>
          <a:p>
            <a:pPr algn="l" marL="342900" indent="-342900">
              <a:lnSpc>
                <a:spcPct val="125000"/>
              </a:lnSpc>
              <a:spcAft>
                <a:spcPts val="1200"/>
              </a:spcAft>
              <a:buSzPct val="100000"/>
              <a:buChar char="●"/>
            </a:pPr>
            <a:r>
              <a:rPr lang="en-US" sz="1350" dirty="0">
                <a:solidFill>
                  <a:srgbClr val="2A2118"/>
                </a:solidFill>
                <a:latin typeface="Calibri" pitchFamily="34" charset="0"/>
                <a:ea typeface="Calibri" pitchFamily="34" charset="-122"/>
                <a:cs typeface="Calibri" pitchFamily="34" charset="-120"/>
              </a:rPr>
              <a:t>Proportional vig removal</a:t>
            </a:r>
            <a:endParaRPr lang="en-US" sz="1350" dirty="0"/>
          </a:p>
          <a:p>
            <a:pPr algn="l" marL="342900" indent="-342900">
              <a:lnSpc>
                <a:spcPct val="125000"/>
              </a:lnSpc>
              <a:spcAft>
                <a:spcPts val="1200"/>
              </a:spcAft>
              <a:buSzPct val="100000"/>
              <a:buChar char="●"/>
            </a:pPr>
            <a:r>
              <a:rPr lang="en-US" sz="1350" dirty="0">
                <a:solidFill>
                  <a:srgbClr val="2A2118"/>
                </a:solidFill>
                <a:latin typeface="Calibri" pitchFamily="34" charset="0"/>
                <a:ea typeface="Calibri" pitchFamily="34" charset="-122"/>
                <a:cs typeface="Calibri" pitchFamily="34" charset="-120"/>
              </a:rPr>
              <a:t>Five probability buckets, Holm corrected</a:t>
            </a:r>
            <a:endParaRPr lang="en-US" sz="1350" dirty="0"/>
          </a:p>
          <a:p>
            <a:pPr algn="l" marL="342900" indent="-342900">
              <a:lnSpc>
                <a:spcPct val="125000"/>
              </a:lnSpc>
              <a:spcAft>
                <a:spcPts val="1200"/>
              </a:spcAft>
              <a:buSzPct val="100000"/>
              <a:buChar char="●"/>
            </a:pPr>
            <a:r>
              <a:rPr lang="en-US" sz="1350" dirty="0">
                <a:solidFill>
                  <a:srgbClr val="2A2118"/>
                </a:solidFill>
                <a:latin typeface="Calibri" pitchFamily="34" charset="0"/>
                <a:ea typeface="Calibri" pitchFamily="34" charset="-122"/>
                <a:cs typeface="Calibri" pitchFamily="34" charset="-120"/>
              </a:rPr>
              <a:t>Flat-stake returns</a:t>
            </a:r>
            <a:endParaRPr lang="en-US" sz="1350" dirty="0"/>
          </a:p>
          <a:p>
            <a:pPr algn="l" marL="342900" indent="-342900">
              <a:lnSpc>
                <a:spcPct val="125000"/>
              </a:lnSpc>
              <a:spcAft>
                <a:spcPts val="1200"/>
              </a:spcAft>
              <a:buSzPct val="100000"/>
              <a:buChar char="●"/>
            </a:pPr>
            <a:r>
              <a:rPr lang="en-US" sz="1350" dirty="0">
                <a:solidFill>
                  <a:srgbClr val="2A2118"/>
                </a:solidFill>
                <a:latin typeface="Calibri" pitchFamily="34" charset="0"/>
                <a:ea typeface="Calibri" pitchFamily="34" charset="-122"/>
                <a:cs typeface="Calibri" pitchFamily="34" charset="-120"/>
              </a:rPr>
              <a:t>The smallest effect worth detecting</a:t>
            </a:r>
            <a:endParaRPr lang="en-US" sz="1350" dirty="0"/>
          </a:p>
        </p:txBody>
      </p:sp>
      <p:sp>
        <p:nvSpPr>
          <p:cNvPr id="9" name="Shape 7"/>
          <p:cNvSpPr/>
          <p:nvPr/>
        </p:nvSpPr>
        <p:spPr>
          <a:xfrm>
            <a:off x="6263640" y="1828800"/>
            <a:ext cx="5358384" cy="3749040"/>
          </a:xfrm>
          <a:prstGeom prst="roundRect">
            <a:avLst>
              <a:gd name="adj" fmla="val 3902"/>
            </a:avLst>
          </a:prstGeom>
          <a:solidFill>
            <a:srgbClr val="FDEEDC"/>
          </a:solidFill>
          <a:ln/>
        </p:spPr>
      </p:sp>
      <p:sp>
        <p:nvSpPr>
          <p:cNvPr id="10" name="Text 8"/>
          <p:cNvSpPr/>
          <p:nvPr/>
        </p:nvSpPr>
        <p:spPr>
          <a:xfrm>
            <a:off x="6574536" y="2066544"/>
            <a:ext cx="4736592" cy="365760"/>
          </a:xfrm>
          <a:prstGeom prst="rect">
            <a:avLst/>
          </a:prstGeom>
          <a:noFill/>
          <a:ln/>
        </p:spPr>
        <p:txBody>
          <a:bodyPr wrap="square" lIns="0" tIns="0" rIns="0" bIns="0" rtlCol="0" anchor="ctr"/>
          <a:lstStyle/>
          <a:p>
            <a:pPr algn="l" indent="0" marL="0">
              <a:buNone/>
            </a:pPr>
            <a:r>
              <a:rPr lang="en-US" sz="1500" b="1" dirty="0">
                <a:solidFill>
                  <a:srgbClr val="6E5A48"/>
                </a:solidFill>
                <a:latin typeface="Century Gothic" pitchFamily="34" charset="0"/>
                <a:ea typeface="Century Gothic" pitchFamily="34" charset="-122"/>
                <a:cs typeface="Century Gothic" pitchFamily="34" charset="-120"/>
              </a:rPr>
              <a:t>Exploratory  ·  added at review</a:t>
            </a:r>
            <a:endParaRPr lang="en-US" sz="1500" dirty="0"/>
          </a:p>
        </p:txBody>
      </p:sp>
      <p:sp>
        <p:nvSpPr>
          <p:cNvPr id="11" name="Text 9"/>
          <p:cNvSpPr/>
          <p:nvPr/>
        </p:nvSpPr>
        <p:spPr>
          <a:xfrm>
            <a:off x="6574536" y="2542032"/>
            <a:ext cx="4754880" cy="2926080"/>
          </a:xfrm>
          <a:prstGeom prst="rect">
            <a:avLst/>
          </a:prstGeom>
          <a:noFill/>
          <a:ln/>
        </p:spPr>
        <p:txBody>
          <a:bodyPr wrap="square" lIns="0" tIns="0" rIns="0" bIns="0" rtlCol="0" anchor="t"/>
          <a:lstStyle/>
          <a:p>
            <a:pPr algn="l" marL="342900" indent="-342900">
              <a:lnSpc>
                <a:spcPct val="125000"/>
              </a:lnSpc>
              <a:spcAft>
                <a:spcPts val="1200"/>
              </a:spcAft>
              <a:buSzPct val="100000"/>
              <a:buChar char="●"/>
            </a:pPr>
            <a:r>
              <a:rPr lang="en-US" sz="1350" dirty="0">
                <a:solidFill>
                  <a:srgbClr val="6E5A48"/>
                </a:solidFill>
                <a:latin typeface="Calibri" pitchFamily="34" charset="0"/>
                <a:ea typeface="Calibri" pitchFamily="34" charset="-122"/>
                <a:cs typeface="Calibri" pitchFamily="34" charset="-120"/>
              </a:rPr>
              <a:t>Season-by-season gaps</a:t>
            </a:r>
            <a:endParaRPr lang="en-US" sz="1350" dirty="0"/>
          </a:p>
          <a:p>
            <a:pPr algn="l" marL="342900" indent="-342900">
              <a:lnSpc>
                <a:spcPct val="125000"/>
              </a:lnSpc>
              <a:spcAft>
                <a:spcPts val="1200"/>
              </a:spcAft>
              <a:buSzPct val="100000"/>
              <a:buChar char="●"/>
            </a:pPr>
            <a:r>
              <a:rPr lang="en-US" sz="1350" dirty="0">
                <a:solidFill>
                  <a:srgbClr val="6E5A48"/>
                </a:solidFill>
                <a:latin typeface="Calibri" pitchFamily="34" charset="0"/>
                <a:ea typeface="Calibri" pitchFamily="34" charset="-122"/>
                <a:cs typeface="Calibri" pitchFamily="34" charset="-120"/>
              </a:rPr>
              <a:t>Cluster-robust variance</a:t>
            </a:r>
            <a:endParaRPr lang="en-US" sz="1350" dirty="0"/>
          </a:p>
          <a:p>
            <a:pPr algn="l" marL="342900" indent="-342900">
              <a:lnSpc>
                <a:spcPct val="125000"/>
              </a:lnSpc>
              <a:spcAft>
                <a:spcPts val="1200"/>
              </a:spcAft>
              <a:buSzPct val="100000"/>
              <a:buChar char="●"/>
            </a:pPr>
            <a:r>
              <a:rPr lang="en-US" sz="1350" dirty="0">
                <a:solidFill>
                  <a:srgbClr val="6E5A48"/>
                </a:solidFill>
                <a:latin typeface="Calibri" pitchFamily="34" charset="0"/>
                <a:ea typeface="Calibri" pitchFamily="34" charset="-122"/>
                <a:cs typeface="Calibri" pitchFamily="34" charset="-120"/>
              </a:rPr>
              <a:t>Block bootstraps</a:t>
            </a:r>
            <a:endParaRPr lang="en-US" sz="1350" dirty="0"/>
          </a:p>
          <a:p>
            <a:pPr algn="l" marL="342900" indent="-342900">
              <a:lnSpc>
                <a:spcPct val="125000"/>
              </a:lnSpc>
              <a:spcAft>
                <a:spcPts val="1200"/>
              </a:spcAft>
              <a:buSzPct val="100000"/>
              <a:buChar char="●"/>
            </a:pPr>
            <a:r>
              <a:rPr lang="en-US" sz="1350" dirty="0">
                <a:solidFill>
                  <a:srgbClr val="6E5A48"/>
                </a:solidFill>
                <a:latin typeface="Calibri" pitchFamily="34" charset="0"/>
                <a:ea typeface="Calibri" pitchFamily="34" charset="-122"/>
                <a:cs typeface="Calibri" pitchFamily="34" charset="-120"/>
              </a:rPr>
              <a:t>The other four vig-removal rules</a:t>
            </a:r>
            <a:endParaRPr lang="en-US" sz="1350" dirty="0"/>
          </a:p>
          <a:p>
            <a:pPr algn="l" marL="342900" indent="-342900">
              <a:lnSpc>
                <a:spcPct val="125000"/>
              </a:lnSpc>
              <a:spcAft>
                <a:spcPts val="1200"/>
              </a:spcAft>
              <a:buSzPct val="100000"/>
              <a:buChar char="●"/>
            </a:pPr>
            <a:r>
              <a:rPr lang="en-US" sz="1350" dirty="0">
                <a:solidFill>
                  <a:srgbClr val="6E5A48"/>
                </a:solidFill>
                <a:latin typeface="Calibri" pitchFamily="34" charset="0"/>
                <a:ea typeface="Calibri" pitchFamily="34" charset="-122"/>
                <a:cs typeface="Calibri" pitchFamily="34" charset="-120"/>
              </a:rPr>
              <a:t>Equivalence testing</a:t>
            </a:r>
            <a:endParaRPr lang="en-US" sz="1350" dirty="0"/>
          </a:p>
        </p:txBody>
      </p:sp>
      <p:sp>
        <p:nvSpPr>
          <p:cNvPr id="12" name="Text 10"/>
          <p:cNvSpPr/>
          <p:nvPr/>
        </p:nvSpPr>
        <p:spPr>
          <a:xfrm>
            <a:off x="566928" y="6254496"/>
            <a:ext cx="11055096" cy="365760"/>
          </a:xfrm>
          <a:prstGeom prst="rect">
            <a:avLst/>
          </a:prstGeom>
          <a:noFill/>
          <a:ln/>
        </p:spPr>
        <p:txBody>
          <a:bodyPr wrap="square" lIns="0" tIns="0" rIns="0" bIns="0" rtlCol="0" anchor="ctr"/>
          <a:lstStyle/>
          <a:p>
            <a:pPr algn="l" indent="0" marL="0">
              <a:buNone/>
            </a:pPr>
            <a:r>
              <a:rPr lang="en-US" sz="1050" i="1" dirty="0">
                <a:solidFill>
                  <a:srgbClr val="6E5A48"/>
                </a:solidFill>
                <a:latin typeface="Calibri" pitchFamily="34" charset="0"/>
                <a:ea typeface="Calibri" pitchFamily="34" charset="-122"/>
                <a:cs typeface="Calibri" pitchFamily="34" charset="-120"/>
              </a:rPr>
              <a:t>Pre-specified, not pre-registered. The freeze is in my own files, not with a registry, and the paper says so in three places.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7EC"/>
        </a:solidFill>
      </p:bgPr>
    </p:bg>
    <p:spTree>
      <p:nvGrpSpPr>
        <p:cNvPr id="1" name=""/>
        <p:cNvGrpSpPr/>
        <p:nvPr/>
      </p:nvGrpSpPr>
      <p:grpSpPr>
        <a:xfrm>
          <a:off x="0" y="0"/>
          <a:ext cx="0" cy="0"/>
          <a:chOff x="0" y="0"/>
          <a:chExt cx="0" cy="0"/>
        </a:xfrm>
      </p:grpSpPr>
      <p:sp>
        <p:nvSpPr>
          <p:cNvPr id="2" name="Shape 0"/>
          <p:cNvSpPr/>
          <p:nvPr/>
        </p:nvSpPr>
        <p:spPr>
          <a:xfrm>
            <a:off x="566928" y="310896"/>
            <a:ext cx="996696" cy="384048"/>
          </a:xfrm>
          <a:prstGeom prst="roundRect">
            <a:avLst>
              <a:gd name="adj" fmla="val 119048"/>
            </a:avLst>
          </a:prstGeom>
          <a:solidFill>
            <a:srgbClr val="0F8A6E"/>
          </a:solidFill>
          <a:ln/>
        </p:spPr>
      </p:sp>
      <p:sp>
        <p:nvSpPr>
          <p:cNvPr id="3" name="Text 1"/>
          <p:cNvSpPr/>
          <p:nvPr/>
        </p:nvSpPr>
        <p:spPr>
          <a:xfrm>
            <a:off x="566928" y="310896"/>
            <a:ext cx="996696" cy="384048"/>
          </a:xfrm>
          <a:prstGeom prst="rect">
            <a:avLst/>
          </a:prstGeom>
          <a:noFill/>
          <a:ln/>
        </p:spPr>
        <p:txBody>
          <a:bodyPr wrap="square" lIns="0" tIns="0" rIns="0" bIns="0" rtlCol="0" anchor="ctr"/>
          <a:lstStyle/>
          <a:p>
            <a:pPr algn="ctr" indent="0" marL="0">
              <a:buNone/>
            </a:pPr>
            <a:r>
              <a:rPr lang="en-US" sz="1050" b="1" spc="140" kern="0" dirty="0">
                <a:solidFill>
                  <a:srgbClr val="FFFFFF"/>
                </a:solidFill>
                <a:latin typeface="Calibri" pitchFamily="34" charset="0"/>
                <a:ea typeface="Calibri" pitchFamily="34" charset="-122"/>
                <a:cs typeface="Calibri" pitchFamily="34" charset="-120"/>
              </a:rPr>
              <a:t>DATA</a:t>
            </a:r>
            <a:endParaRPr lang="en-US" sz="1050" dirty="0"/>
          </a:p>
        </p:txBody>
      </p:sp>
      <p:sp>
        <p:nvSpPr>
          <p:cNvPr id="4" name="Text 2"/>
          <p:cNvSpPr/>
          <p:nvPr/>
        </p:nvSpPr>
        <p:spPr>
          <a:xfrm>
            <a:off x="566928" y="841248"/>
            <a:ext cx="11055096" cy="786384"/>
          </a:xfrm>
          <a:prstGeom prst="rect">
            <a:avLst/>
          </a:prstGeom>
          <a:noFill/>
          <a:ln/>
        </p:spPr>
        <p:txBody>
          <a:bodyPr wrap="square" lIns="0" tIns="0" rIns="0" bIns="0" rtlCol="0" anchor="ctr"/>
          <a:lstStyle/>
          <a:p>
            <a:pPr algn="l" indent="0" marL="0">
              <a:buNone/>
            </a:pPr>
            <a:r>
              <a:rPr lang="en-US" sz="3100" b="1" dirty="0">
                <a:solidFill>
                  <a:srgbClr val="2A2118"/>
                </a:solidFill>
                <a:latin typeface="Century Gothic" pitchFamily="34" charset="0"/>
                <a:ea typeface="Century Gothic" pitchFamily="34" charset="-122"/>
                <a:cs typeface="Century Gothic" pitchFamily="34" charset="-120"/>
              </a:rPr>
              <a:t>Checked before it was analyzed</a:t>
            </a:r>
            <a:endParaRPr lang="en-US" sz="3100" dirty="0"/>
          </a:p>
        </p:txBody>
      </p:sp>
      <p:sp>
        <p:nvSpPr>
          <p:cNvPr id="5" name="Shape 3"/>
          <p:cNvSpPr/>
          <p:nvPr/>
        </p:nvSpPr>
        <p:spPr>
          <a:xfrm>
            <a:off x="566928" y="1828800"/>
            <a:ext cx="2615184" cy="1481328"/>
          </a:xfrm>
          <a:prstGeom prst="roundRect">
            <a:avLst>
              <a:gd name="adj" fmla="val 9877"/>
            </a:avLst>
          </a:prstGeom>
          <a:solidFill>
            <a:srgbClr val="2E63C8"/>
          </a:solidFill>
          <a:ln/>
        </p:spPr>
      </p:sp>
      <p:sp>
        <p:nvSpPr>
          <p:cNvPr id="6" name="Text 4"/>
          <p:cNvSpPr/>
          <p:nvPr/>
        </p:nvSpPr>
        <p:spPr>
          <a:xfrm>
            <a:off x="822960" y="1975104"/>
            <a:ext cx="2157984" cy="814730"/>
          </a:xfrm>
          <a:prstGeom prst="rect">
            <a:avLst/>
          </a:prstGeom>
          <a:noFill/>
          <a:ln/>
        </p:spPr>
        <p:txBody>
          <a:bodyPr wrap="square" lIns="0" tIns="0" rIns="0" bIns="0" rtlCol="0" anchor="ctr"/>
          <a:lstStyle/>
          <a:p>
            <a:pPr algn="l" indent="0" marL="0">
              <a:buNone/>
            </a:pPr>
            <a:r>
              <a:rPr lang="en-US" sz="3200" b="1" dirty="0">
                <a:solidFill>
                  <a:srgbClr val="FFFFFF"/>
                </a:solidFill>
                <a:latin typeface="Century Gothic" pitchFamily="34" charset="0"/>
                <a:ea typeface="Century Gothic" pitchFamily="34" charset="-122"/>
                <a:cs typeface="Century Gothic" pitchFamily="34" charset="-120"/>
              </a:rPr>
              <a:t>15,351</a:t>
            </a:r>
            <a:endParaRPr lang="en-US" sz="3200" dirty="0"/>
          </a:p>
        </p:txBody>
      </p:sp>
      <p:sp>
        <p:nvSpPr>
          <p:cNvPr id="7" name="Text 5"/>
          <p:cNvSpPr/>
          <p:nvPr/>
        </p:nvSpPr>
        <p:spPr>
          <a:xfrm>
            <a:off x="822960" y="2747223"/>
            <a:ext cx="2157984" cy="474025"/>
          </a:xfrm>
          <a:prstGeom prst="rect">
            <a:avLst/>
          </a:prstGeom>
          <a:noFill/>
          <a:ln/>
        </p:spPr>
        <p:txBody>
          <a:bodyPr wrap="square" lIns="0" tIns="0" rIns="0" bIns="0" rtlCol="0" anchor="t"/>
          <a:lstStyle/>
          <a:p>
            <a:pPr algn="l" indent="0" marL="0">
              <a:lnSpc>
                <a:spcPct val="110000"/>
              </a:lnSpc>
              <a:buNone/>
            </a:pPr>
            <a:r>
              <a:rPr lang="en-US" sz="1150" dirty="0">
                <a:solidFill>
                  <a:srgbClr val="FFFFFF"/>
                </a:solidFill>
                <a:latin typeface="Calibri" pitchFamily="34" charset="0"/>
                <a:ea typeface="Calibri" pitchFamily="34" charset="-122"/>
                <a:cs typeface="Calibri" pitchFamily="34" charset="-120"/>
              </a:rPr>
              <a:t>games analyzed</a:t>
            </a:r>
            <a:endParaRPr lang="en-US" sz="1150" dirty="0"/>
          </a:p>
        </p:txBody>
      </p:sp>
      <p:sp>
        <p:nvSpPr>
          <p:cNvPr id="8" name="Shape 6"/>
          <p:cNvSpPr/>
          <p:nvPr/>
        </p:nvSpPr>
        <p:spPr>
          <a:xfrm>
            <a:off x="3380232" y="1828800"/>
            <a:ext cx="2615184" cy="1481328"/>
          </a:xfrm>
          <a:prstGeom prst="roundRect">
            <a:avLst>
              <a:gd name="adj" fmla="val 9877"/>
            </a:avLst>
          </a:prstGeom>
          <a:solidFill>
            <a:srgbClr val="0F8A6E"/>
          </a:solidFill>
          <a:ln/>
        </p:spPr>
      </p:sp>
      <p:sp>
        <p:nvSpPr>
          <p:cNvPr id="9" name="Text 7"/>
          <p:cNvSpPr/>
          <p:nvPr/>
        </p:nvSpPr>
        <p:spPr>
          <a:xfrm>
            <a:off x="3636264" y="1975104"/>
            <a:ext cx="2157984" cy="814730"/>
          </a:xfrm>
          <a:prstGeom prst="rect">
            <a:avLst/>
          </a:prstGeom>
          <a:noFill/>
          <a:ln/>
        </p:spPr>
        <p:txBody>
          <a:bodyPr wrap="square" lIns="0" tIns="0" rIns="0" bIns="0" rtlCol="0" anchor="ctr"/>
          <a:lstStyle/>
          <a:p>
            <a:pPr algn="l" indent="0" marL="0">
              <a:buNone/>
            </a:pPr>
            <a:r>
              <a:rPr lang="en-US" sz="3200" b="1" dirty="0">
                <a:solidFill>
                  <a:srgbClr val="FFFFFF"/>
                </a:solidFill>
                <a:latin typeface="Century Gothic" pitchFamily="34" charset="0"/>
                <a:ea typeface="Century Gothic" pitchFamily="34" charset="-122"/>
                <a:cs typeface="Century Gothic" pitchFamily="34" charset="-120"/>
              </a:rPr>
              <a:t>30,978</a:t>
            </a:r>
            <a:endParaRPr lang="en-US" sz="3200" dirty="0"/>
          </a:p>
        </p:txBody>
      </p:sp>
      <p:sp>
        <p:nvSpPr>
          <p:cNvPr id="10" name="Text 8"/>
          <p:cNvSpPr/>
          <p:nvPr/>
        </p:nvSpPr>
        <p:spPr>
          <a:xfrm>
            <a:off x="3636264" y="2747223"/>
            <a:ext cx="2157984" cy="474025"/>
          </a:xfrm>
          <a:prstGeom prst="rect">
            <a:avLst/>
          </a:prstGeom>
          <a:noFill/>
          <a:ln/>
        </p:spPr>
        <p:txBody>
          <a:bodyPr wrap="square" lIns="0" tIns="0" rIns="0" bIns="0" rtlCol="0" anchor="t"/>
          <a:lstStyle/>
          <a:p>
            <a:pPr algn="l" indent="0" marL="0">
              <a:lnSpc>
                <a:spcPct val="110000"/>
              </a:lnSpc>
              <a:buNone/>
            </a:pPr>
            <a:r>
              <a:rPr lang="en-US" sz="1150" dirty="0">
                <a:solidFill>
                  <a:srgbClr val="FFFFFF"/>
                </a:solidFill>
                <a:latin typeface="Calibri" pitchFamily="34" charset="0"/>
                <a:ea typeface="Calibri" pitchFamily="34" charset="-122"/>
                <a:cs typeface="Calibri" pitchFamily="34" charset="-120"/>
              </a:rPr>
              <a:t>prices cross-checked</a:t>
            </a:r>
            <a:endParaRPr lang="en-US" sz="1150" dirty="0"/>
          </a:p>
        </p:txBody>
      </p:sp>
      <p:sp>
        <p:nvSpPr>
          <p:cNvPr id="11" name="Shape 9"/>
          <p:cNvSpPr/>
          <p:nvPr/>
        </p:nvSpPr>
        <p:spPr>
          <a:xfrm>
            <a:off x="6193536" y="1828800"/>
            <a:ext cx="2615184" cy="1481328"/>
          </a:xfrm>
          <a:prstGeom prst="roundRect">
            <a:avLst>
              <a:gd name="adj" fmla="val 9877"/>
            </a:avLst>
          </a:prstGeom>
          <a:solidFill>
            <a:srgbClr val="DB5A28"/>
          </a:solidFill>
          <a:ln/>
        </p:spPr>
      </p:sp>
      <p:sp>
        <p:nvSpPr>
          <p:cNvPr id="12" name="Text 10"/>
          <p:cNvSpPr/>
          <p:nvPr/>
        </p:nvSpPr>
        <p:spPr>
          <a:xfrm>
            <a:off x="6449568" y="1975104"/>
            <a:ext cx="2157984" cy="814730"/>
          </a:xfrm>
          <a:prstGeom prst="rect">
            <a:avLst/>
          </a:prstGeom>
          <a:noFill/>
          <a:ln/>
        </p:spPr>
        <p:txBody>
          <a:bodyPr wrap="square" lIns="0" tIns="0" rIns="0" bIns="0" rtlCol="0" anchor="ctr"/>
          <a:lstStyle/>
          <a:p>
            <a:pPr algn="l" indent="0" marL="0">
              <a:buNone/>
            </a:pPr>
            <a:r>
              <a:rPr lang="en-US" sz="3200" b="1" dirty="0">
                <a:solidFill>
                  <a:srgbClr val="FFFFFF"/>
                </a:solidFill>
                <a:latin typeface="Century Gothic" pitchFamily="34" charset="0"/>
                <a:ea typeface="Century Gothic" pitchFamily="34" charset="-122"/>
                <a:cs typeface="Century Gothic" pitchFamily="34" charset="-120"/>
              </a:rPr>
              <a:t>0</a:t>
            </a:r>
            <a:endParaRPr lang="en-US" sz="3200" dirty="0"/>
          </a:p>
        </p:txBody>
      </p:sp>
      <p:sp>
        <p:nvSpPr>
          <p:cNvPr id="13" name="Text 11"/>
          <p:cNvSpPr/>
          <p:nvPr/>
        </p:nvSpPr>
        <p:spPr>
          <a:xfrm>
            <a:off x="6449568" y="2747223"/>
            <a:ext cx="2157984" cy="474025"/>
          </a:xfrm>
          <a:prstGeom prst="rect">
            <a:avLst/>
          </a:prstGeom>
          <a:noFill/>
          <a:ln/>
        </p:spPr>
        <p:txBody>
          <a:bodyPr wrap="square" lIns="0" tIns="0" rIns="0" bIns="0" rtlCol="0" anchor="t"/>
          <a:lstStyle/>
          <a:p>
            <a:pPr algn="l" indent="0" marL="0">
              <a:lnSpc>
                <a:spcPct val="110000"/>
              </a:lnSpc>
              <a:buNone/>
            </a:pPr>
            <a:r>
              <a:rPr lang="en-US" sz="1150" dirty="0">
                <a:solidFill>
                  <a:srgbClr val="FFFFFF"/>
                </a:solidFill>
                <a:latin typeface="Calibri" pitchFamily="34" charset="0"/>
                <a:ea typeface="Calibri" pitchFamily="34" charset="-122"/>
                <a:cs typeface="Calibri" pitchFamily="34" charset="-120"/>
              </a:rPr>
              <a:t>mismatches found</a:t>
            </a:r>
            <a:endParaRPr lang="en-US" sz="1150" dirty="0"/>
          </a:p>
        </p:txBody>
      </p:sp>
      <p:sp>
        <p:nvSpPr>
          <p:cNvPr id="14" name="Shape 12"/>
          <p:cNvSpPr/>
          <p:nvPr/>
        </p:nvSpPr>
        <p:spPr>
          <a:xfrm>
            <a:off x="9006840" y="1828800"/>
            <a:ext cx="2615184" cy="1481328"/>
          </a:xfrm>
          <a:prstGeom prst="roundRect">
            <a:avLst>
              <a:gd name="adj" fmla="val 9877"/>
            </a:avLst>
          </a:prstGeom>
          <a:solidFill>
            <a:srgbClr val="7A4F9E"/>
          </a:solidFill>
          <a:ln/>
        </p:spPr>
      </p:sp>
      <p:sp>
        <p:nvSpPr>
          <p:cNvPr id="15" name="Text 13"/>
          <p:cNvSpPr/>
          <p:nvPr/>
        </p:nvSpPr>
        <p:spPr>
          <a:xfrm>
            <a:off x="9262872" y="1975104"/>
            <a:ext cx="2157984" cy="814730"/>
          </a:xfrm>
          <a:prstGeom prst="rect">
            <a:avLst/>
          </a:prstGeom>
          <a:noFill/>
          <a:ln/>
        </p:spPr>
        <p:txBody>
          <a:bodyPr wrap="square" lIns="0" tIns="0" rIns="0" bIns="0" rtlCol="0" anchor="ctr"/>
          <a:lstStyle/>
          <a:p>
            <a:pPr algn="l" indent="0" marL="0">
              <a:buNone/>
            </a:pPr>
            <a:r>
              <a:rPr lang="en-US" sz="3200" b="1" dirty="0">
                <a:solidFill>
                  <a:srgbClr val="FFFFFF"/>
                </a:solidFill>
                <a:latin typeface="Century Gothic" pitchFamily="34" charset="0"/>
                <a:ea typeface="Century Gothic" pitchFamily="34" charset="-122"/>
                <a:cs typeface="Century Gothic" pitchFamily="34" charset="-120"/>
              </a:rPr>
              <a:t>13</a:t>
            </a:r>
            <a:endParaRPr lang="en-US" sz="3200" dirty="0"/>
          </a:p>
        </p:txBody>
      </p:sp>
      <p:sp>
        <p:nvSpPr>
          <p:cNvPr id="16" name="Text 14"/>
          <p:cNvSpPr/>
          <p:nvPr/>
        </p:nvSpPr>
        <p:spPr>
          <a:xfrm>
            <a:off x="9262872" y="2747223"/>
            <a:ext cx="2157984" cy="474025"/>
          </a:xfrm>
          <a:prstGeom prst="rect">
            <a:avLst/>
          </a:prstGeom>
          <a:noFill/>
          <a:ln/>
        </p:spPr>
        <p:txBody>
          <a:bodyPr wrap="square" lIns="0" tIns="0" rIns="0" bIns="0" rtlCol="0" anchor="t"/>
          <a:lstStyle/>
          <a:p>
            <a:pPr algn="l" indent="0" marL="0">
              <a:lnSpc>
                <a:spcPct val="110000"/>
              </a:lnSpc>
              <a:buNone/>
            </a:pPr>
            <a:r>
              <a:rPr lang="en-US" sz="1150" dirty="0">
                <a:solidFill>
                  <a:srgbClr val="FFFFFF"/>
                </a:solidFill>
                <a:latin typeface="Calibri" pitchFamily="34" charset="0"/>
                <a:ea typeface="Calibri" pitchFamily="34" charset="-122"/>
                <a:cs typeface="Calibri" pitchFamily="34" charset="-120"/>
              </a:rPr>
              <a:t>season counts verified</a:t>
            </a:r>
            <a:endParaRPr lang="en-US" sz="1150" dirty="0"/>
          </a:p>
        </p:txBody>
      </p:sp>
      <p:sp>
        <p:nvSpPr>
          <p:cNvPr id="17" name="Shape 15"/>
          <p:cNvSpPr/>
          <p:nvPr/>
        </p:nvSpPr>
        <p:spPr>
          <a:xfrm>
            <a:off x="566928" y="3611880"/>
            <a:ext cx="11055096" cy="2286000"/>
          </a:xfrm>
          <a:prstGeom prst="roundRect">
            <a:avLst>
              <a:gd name="adj" fmla="val 6400"/>
            </a:avLst>
          </a:prstGeom>
          <a:solidFill>
            <a:srgbClr val="FFFFFF"/>
          </a:solidFill>
          <a:ln/>
        </p:spPr>
      </p:sp>
      <p:sp>
        <p:nvSpPr>
          <p:cNvPr id="18" name="Text 16"/>
          <p:cNvSpPr/>
          <p:nvPr/>
        </p:nvSpPr>
        <p:spPr>
          <a:xfrm>
            <a:off x="978408" y="3840480"/>
            <a:ext cx="10232136" cy="1828800"/>
          </a:xfrm>
          <a:prstGeom prst="rect">
            <a:avLst/>
          </a:prstGeom>
          <a:noFill/>
          <a:ln/>
        </p:spPr>
        <p:txBody>
          <a:bodyPr wrap="square" lIns="0" tIns="0" rIns="0" bIns="0" rtlCol="0" anchor="t"/>
          <a:lstStyle/>
          <a:p>
            <a:pPr algn="l" indent="0" marL="0">
              <a:lnSpc>
                <a:spcPct val="134000"/>
              </a:lnSpc>
              <a:buNone/>
            </a:pPr>
            <a:r>
              <a:rPr lang="en-US" sz="1350" dirty="0">
                <a:solidFill>
                  <a:srgbClr val="2A2118"/>
                </a:solidFill>
                <a:latin typeface="Calibri" pitchFamily="34" charset="0"/>
                <a:ea typeface="Calibri" pitchFamily="34" charset="-122"/>
                <a:cs typeface="Calibri" pitchFamily="34" charset="-120"/>
              </a:rPr>
              <a:t>The archive passed through two other hands before it reached me, so it was audited first. A separate team-level extraction in the same source repository was compared value by value against the analysis file. Season totals were checked against the real NBA schedule, including the 990-game lockout year and the 971 games played before the March 2020 shutdown.</a:t>
            </a:r>
            <a:endParaRPr lang="en-US" sz="1350" dirty="0"/>
          </a:p>
          <a:p>
            <a:pPr algn="l" indent="0" marL="0">
              <a:lnSpc>
                <a:spcPct val="134000"/>
              </a:lnSpc>
              <a:buNone/>
            </a:pPr>
            <a:endParaRPr lang="en-US" sz="1350" dirty="0"/>
          </a:p>
          <a:p>
            <a:pPr algn="l" indent="0" marL="0">
              <a:lnSpc>
                <a:spcPct val="134000"/>
              </a:lnSpc>
              <a:buNone/>
            </a:pPr>
            <a:r>
              <a:rPr lang="en-US" sz="1350" dirty="0">
                <a:solidFill>
                  <a:srgbClr val="2A2118"/>
                </a:solidFill>
                <a:latin typeface="Calibri" pitchFamily="34" charset="0"/>
                <a:ea typeface="Calibri" pitchFamily="34" charset="-122"/>
                <a:cs typeface="Calibri" pitchFamily="34" charset="-120"/>
              </a:rPr>
              <a:t>A hand-drawn 260-game spot check against the live original archive also matched, but that is a sanity check. The automated full-file comparison is the real audit.</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7EC"/>
        </a:solidFill>
      </p:bgPr>
    </p:bg>
    <p:spTree>
      <p:nvGrpSpPr>
        <p:cNvPr id="1" name=""/>
        <p:cNvGrpSpPr/>
        <p:nvPr/>
      </p:nvGrpSpPr>
      <p:grpSpPr>
        <a:xfrm>
          <a:off x="0" y="0"/>
          <a:ext cx="0" cy="0"/>
          <a:chOff x="0" y="0"/>
          <a:chExt cx="0" cy="0"/>
        </a:xfrm>
      </p:grpSpPr>
      <p:sp>
        <p:nvSpPr>
          <p:cNvPr id="2" name="Shape 0"/>
          <p:cNvSpPr/>
          <p:nvPr/>
        </p:nvSpPr>
        <p:spPr>
          <a:xfrm>
            <a:off x="566928" y="310896"/>
            <a:ext cx="1243584" cy="384048"/>
          </a:xfrm>
          <a:prstGeom prst="roundRect">
            <a:avLst>
              <a:gd name="adj" fmla="val 119048"/>
            </a:avLst>
          </a:prstGeom>
          <a:solidFill>
            <a:srgbClr val="2E63C8"/>
          </a:solidFill>
          <a:ln/>
        </p:spPr>
      </p:sp>
      <p:sp>
        <p:nvSpPr>
          <p:cNvPr id="3" name="Text 1"/>
          <p:cNvSpPr/>
          <p:nvPr/>
        </p:nvSpPr>
        <p:spPr>
          <a:xfrm>
            <a:off x="566928" y="310896"/>
            <a:ext cx="1243584" cy="384048"/>
          </a:xfrm>
          <a:prstGeom prst="rect">
            <a:avLst/>
          </a:prstGeom>
          <a:noFill/>
          <a:ln/>
        </p:spPr>
        <p:txBody>
          <a:bodyPr wrap="square" lIns="0" tIns="0" rIns="0" bIns="0" rtlCol="0" anchor="ctr"/>
          <a:lstStyle/>
          <a:p>
            <a:pPr algn="ctr" indent="0" marL="0">
              <a:buNone/>
            </a:pPr>
            <a:r>
              <a:rPr lang="en-US" sz="1050" b="1" spc="140" kern="0" dirty="0">
                <a:solidFill>
                  <a:srgbClr val="FFFFFF"/>
                </a:solidFill>
                <a:latin typeface="Calibri" pitchFamily="34" charset="0"/>
                <a:ea typeface="Calibri" pitchFamily="34" charset="-122"/>
                <a:cs typeface="Calibri" pitchFamily="34" charset="-120"/>
              </a:rPr>
              <a:t>METHOD</a:t>
            </a:r>
            <a:endParaRPr lang="en-US" sz="1050" dirty="0"/>
          </a:p>
        </p:txBody>
      </p:sp>
      <p:sp>
        <p:nvSpPr>
          <p:cNvPr id="4" name="Text 2"/>
          <p:cNvSpPr/>
          <p:nvPr/>
        </p:nvSpPr>
        <p:spPr>
          <a:xfrm>
            <a:off x="566928" y="841248"/>
            <a:ext cx="11055096" cy="786384"/>
          </a:xfrm>
          <a:prstGeom prst="rect">
            <a:avLst/>
          </a:prstGeom>
          <a:noFill/>
          <a:ln/>
        </p:spPr>
        <p:txBody>
          <a:bodyPr wrap="square" lIns="0" tIns="0" rIns="0" bIns="0" rtlCol="0" anchor="ctr"/>
          <a:lstStyle/>
          <a:p>
            <a:pPr algn="l" indent="0" marL="0">
              <a:buNone/>
            </a:pPr>
            <a:r>
              <a:rPr lang="en-US" sz="3100" b="1" dirty="0">
                <a:solidFill>
                  <a:srgbClr val="2A2118"/>
                </a:solidFill>
                <a:latin typeface="Century Gothic" pitchFamily="34" charset="0"/>
                <a:ea typeface="Century Gothic" pitchFamily="34" charset="-122"/>
                <a:cs typeface="Century Gothic" pitchFamily="34" charset="-120"/>
              </a:rPr>
              <a:t>Every game gets its own probability</a:t>
            </a:r>
            <a:endParaRPr lang="en-US" sz="3100" dirty="0"/>
          </a:p>
        </p:txBody>
      </p:sp>
      <p:sp>
        <p:nvSpPr>
          <p:cNvPr id="5" name="Shape 3"/>
          <p:cNvSpPr/>
          <p:nvPr/>
        </p:nvSpPr>
        <p:spPr>
          <a:xfrm>
            <a:off x="-1325880" y="1600200"/>
            <a:ext cx="2011680" cy="2011680"/>
          </a:xfrm>
          <a:prstGeom prst="ellipse">
            <a:avLst/>
          </a:prstGeom>
          <a:solidFill>
            <a:srgbClr val="DEE6F8"/>
          </a:solidFill>
          <a:ln/>
        </p:spPr>
      </p:sp>
      <p:sp>
        <p:nvSpPr>
          <p:cNvPr id="6" name="Shape 4"/>
          <p:cNvSpPr/>
          <p:nvPr/>
        </p:nvSpPr>
        <p:spPr>
          <a:xfrm>
            <a:off x="566928" y="1828800"/>
            <a:ext cx="5358384" cy="2487168"/>
          </a:xfrm>
          <a:prstGeom prst="roundRect">
            <a:avLst>
              <a:gd name="adj" fmla="val 5882"/>
            </a:avLst>
          </a:prstGeom>
          <a:solidFill>
            <a:srgbClr val="FDEEDC"/>
          </a:solidFill>
          <a:ln/>
        </p:spPr>
      </p:sp>
      <p:sp>
        <p:nvSpPr>
          <p:cNvPr id="7" name="Text 5"/>
          <p:cNvSpPr/>
          <p:nvPr/>
        </p:nvSpPr>
        <p:spPr>
          <a:xfrm>
            <a:off x="950976" y="2103120"/>
            <a:ext cx="4572000" cy="2011680"/>
          </a:xfrm>
          <a:prstGeom prst="rect">
            <a:avLst/>
          </a:prstGeom>
          <a:noFill/>
          <a:ln/>
        </p:spPr>
        <p:txBody>
          <a:bodyPr wrap="square" lIns="0" tIns="0" rIns="0" bIns="0" rtlCol="0" anchor="t"/>
          <a:lstStyle/>
          <a:p>
            <a:pPr algn="l" indent="0" marL="0">
              <a:lnSpc>
                <a:spcPct val="134000"/>
              </a:lnSpc>
              <a:buNone/>
            </a:pPr>
            <a:r>
              <a:rPr lang="en-US" sz="1450" dirty="0">
                <a:solidFill>
                  <a:srgbClr val="2A2118"/>
                </a:solidFill>
                <a:latin typeface="Calibri" pitchFamily="34" charset="0"/>
                <a:ea typeface="Calibri" pitchFamily="34" charset="-122"/>
                <a:cs typeface="Calibri" pitchFamily="34" charset="-120"/>
              </a:rPr>
              <a:t>Bucket tests pretend every game in a range shares one probability. They do not. A -450 favorite and a -240 favorite are different bets.</a:t>
            </a:r>
            <a:endParaRPr lang="en-US" sz="1450" dirty="0"/>
          </a:p>
          <a:p>
            <a:pPr algn="l" indent="0" marL="0">
              <a:lnSpc>
                <a:spcPct val="134000"/>
              </a:lnSpc>
              <a:buNone/>
            </a:pPr>
            <a:endParaRPr lang="en-US" sz="1450" dirty="0"/>
          </a:p>
          <a:p>
            <a:pPr algn="l" indent="0" marL="0">
              <a:lnSpc>
                <a:spcPct val="134000"/>
              </a:lnSpc>
              <a:buNone/>
            </a:pPr>
            <a:r>
              <a:rPr lang="en-US" sz="1450" dirty="0">
                <a:solidFill>
                  <a:srgbClr val="2A2118"/>
                </a:solidFill>
                <a:latin typeface="Calibri" pitchFamily="34" charset="0"/>
                <a:ea typeface="Calibri" pitchFamily="34" charset="-122"/>
                <a:cs typeface="Calibri" pitchFamily="34" charset="-120"/>
              </a:rPr>
              <a:t>So each game is its own coin with its own weight, and the number of favorite wins follows a Poisson-binomial distribution.</a:t>
            </a:r>
            <a:endParaRPr lang="en-US" sz="1450" dirty="0"/>
          </a:p>
        </p:txBody>
      </p:sp>
      <p:sp>
        <p:nvSpPr>
          <p:cNvPr id="8" name="Shape 6"/>
          <p:cNvSpPr/>
          <p:nvPr/>
        </p:nvSpPr>
        <p:spPr>
          <a:xfrm>
            <a:off x="566928" y="4480560"/>
            <a:ext cx="5358384" cy="1005840"/>
          </a:xfrm>
          <a:prstGeom prst="roundRect">
            <a:avLst>
              <a:gd name="adj" fmla="val 14545"/>
            </a:avLst>
          </a:prstGeom>
          <a:solidFill>
            <a:srgbClr val="7A4F9E"/>
          </a:solidFill>
          <a:ln/>
        </p:spPr>
      </p:sp>
      <p:sp>
        <p:nvSpPr>
          <p:cNvPr id="9" name="Text 7"/>
          <p:cNvSpPr/>
          <p:nvPr/>
        </p:nvSpPr>
        <p:spPr>
          <a:xfrm>
            <a:off x="950976" y="4480560"/>
            <a:ext cx="4572000" cy="1005840"/>
          </a:xfrm>
          <a:prstGeom prst="rect">
            <a:avLst/>
          </a:prstGeom>
          <a:noFill/>
          <a:ln/>
        </p:spPr>
        <p:txBody>
          <a:bodyPr wrap="square" lIns="0" tIns="0" rIns="0" bIns="0" rtlCol="0" anchor="ctr"/>
          <a:lstStyle/>
          <a:p>
            <a:pPr algn="l" indent="0" marL="0">
              <a:buNone/>
            </a:pPr>
            <a:r>
              <a:rPr lang="en-US" sz="1500" b="1" dirty="0">
                <a:solidFill>
                  <a:srgbClr val="FFFFFF"/>
                </a:solidFill>
                <a:latin typeface="Century Gothic" pitchFamily="34" charset="0"/>
                <a:ea typeface="Century Gothic" pitchFamily="34" charset="-122"/>
                <a:cs typeface="Century Gothic" pitchFamily="34" charset="-120"/>
              </a:rPr>
              <a:t>One coin per game, not one coin per bucket.</a:t>
            </a:r>
            <a:endParaRPr lang="en-US" sz="1500" dirty="0"/>
          </a:p>
        </p:txBody>
      </p:sp>
      <p:sp>
        <p:nvSpPr>
          <p:cNvPr id="10" name="Shape 8"/>
          <p:cNvSpPr/>
          <p:nvPr/>
        </p:nvSpPr>
        <p:spPr>
          <a:xfrm>
            <a:off x="6263640" y="1828800"/>
            <a:ext cx="5358384" cy="3657600"/>
          </a:xfrm>
          <a:prstGeom prst="roundRect">
            <a:avLst>
              <a:gd name="adj" fmla="val 4000"/>
            </a:avLst>
          </a:prstGeom>
          <a:solidFill>
            <a:srgbClr val="2E63C8"/>
          </a:solidFill>
          <a:ln/>
        </p:spPr>
      </p:sp>
      <p:sp>
        <p:nvSpPr>
          <p:cNvPr id="11" name="Text 9"/>
          <p:cNvSpPr/>
          <p:nvPr/>
        </p:nvSpPr>
        <p:spPr>
          <a:xfrm>
            <a:off x="6629400" y="2212848"/>
            <a:ext cx="2011680" cy="54864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Expected</a:t>
            </a:r>
            <a:endParaRPr lang="en-US" sz="1400" dirty="0"/>
          </a:p>
        </p:txBody>
      </p:sp>
      <p:sp>
        <p:nvSpPr>
          <p:cNvPr id="12" name="Text 10"/>
          <p:cNvSpPr/>
          <p:nvPr/>
        </p:nvSpPr>
        <p:spPr>
          <a:xfrm>
            <a:off x="8549640" y="2212848"/>
            <a:ext cx="2743200" cy="548640"/>
          </a:xfrm>
          <a:prstGeom prst="rect">
            <a:avLst/>
          </a:prstGeom>
          <a:noFill/>
          <a:ln/>
        </p:spPr>
        <p:txBody>
          <a:bodyPr wrap="square" lIns="0" tIns="0" rIns="0" bIns="0" rtlCol="0" anchor="ctr"/>
          <a:lstStyle/>
          <a:p>
            <a:pPr algn="r" indent="0" marL="0">
              <a:buNone/>
            </a:pPr>
            <a:r>
              <a:rPr lang="en-US" sz="1600" b="1" dirty="0">
                <a:solidFill>
                  <a:srgbClr val="FFFFFF"/>
                </a:solidFill>
                <a:latin typeface="Consolas" pitchFamily="34" charset="0"/>
                <a:ea typeface="Consolas" pitchFamily="34" charset="-122"/>
                <a:cs typeface="Consolas" pitchFamily="34" charset="-120"/>
              </a:rPr>
              <a:t>5,489.45</a:t>
            </a:r>
            <a:endParaRPr lang="en-US" sz="1600" dirty="0"/>
          </a:p>
        </p:txBody>
      </p:sp>
      <p:sp>
        <p:nvSpPr>
          <p:cNvPr id="13" name="Text 11"/>
          <p:cNvSpPr/>
          <p:nvPr/>
        </p:nvSpPr>
        <p:spPr>
          <a:xfrm>
            <a:off x="6629400" y="2962656"/>
            <a:ext cx="2011680" cy="54864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Observed</a:t>
            </a:r>
            <a:endParaRPr lang="en-US" sz="1400" dirty="0"/>
          </a:p>
        </p:txBody>
      </p:sp>
      <p:sp>
        <p:nvSpPr>
          <p:cNvPr id="14" name="Text 12"/>
          <p:cNvSpPr/>
          <p:nvPr/>
        </p:nvSpPr>
        <p:spPr>
          <a:xfrm>
            <a:off x="8549640" y="2962656"/>
            <a:ext cx="2743200" cy="548640"/>
          </a:xfrm>
          <a:prstGeom prst="rect">
            <a:avLst/>
          </a:prstGeom>
          <a:noFill/>
          <a:ln/>
        </p:spPr>
        <p:txBody>
          <a:bodyPr wrap="square" lIns="0" tIns="0" rIns="0" bIns="0" rtlCol="0" anchor="ctr"/>
          <a:lstStyle/>
          <a:p>
            <a:pPr algn="r" indent="0" marL="0">
              <a:buNone/>
            </a:pPr>
            <a:r>
              <a:rPr lang="en-US" sz="1600" b="1" dirty="0">
                <a:solidFill>
                  <a:srgbClr val="FFFFFF"/>
                </a:solidFill>
                <a:latin typeface="Consolas" pitchFamily="34" charset="0"/>
                <a:ea typeface="Consolas" pitchFamily="34" charset="-122"/>
                <a:cs typeface="Consolas" pitchFamily="34" charset="-120"/>
              </a:rPr>
              <a:t>5,529</a:t>
            </a:r>
            <a:endParaRPr lang="en-US" sz="1600" dirty="0"/>
          </a:p>
        </p:txBody>
      </p:sp>
      <p:sp>
        <p:nvSpPr>
          <p:cNvPr id="15" name="Text 13"/>
          <p:cNvSpPr/>
          <p:nvPr/>
        </p:nvSpPr>
        <p:spPr>
          <a:xfrm>
            <a:off x="6629400" y="3712464"/>
            <a:ext cx="2011680" cy="54864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Gap</a:t>
            </a:r>
            <a:endParaRPr lang="en-US" sz="1400" dirty="0"/>
          </a:p>
        </p:txBody>
      </p:sp>
      <p:sp>
        <p:nvSpPr>
          <p:cNvPr id="16" name="Text 14"/>
          <p:cNvSpPr/>
          <p:nvPr/>
        </p:nvSpPr>
        <p:spPr>
          <a:xfrm>
            <a:off x="8549640" y="3712464"/>
            <a:ext cx="2743200" cy="548640"/>
          </a:xfrm>
          <a:prstGeom prst="rect">
            <a:avLst/>
          </a:prstGeom>
          <a:noFill/>
          <a:ln/>
        </p:spPr>
        <p:txBody>
          <a:bodyPr wrap="square" lIns="0" tIns="0" rIns="0" bIns="0" rtlCol="0" anchor="ctr"/>
          <a:lstStyle/>
          <a:p>
            <a:pPr algn="r" indent="0" marL="0">
              <a:buNone/>
            </a:pPr>
            <a:r>
              <a:rPr lang="en-US" sz="1600" b="1" dirty="0">
                <a:solidFill>
                  <a:srgbClr val="FFFFFF"/>
                </a:solidFill>
                <a:latin typeface="Consolas" pitchFamily="34" charset="0"/>
                <a:ea typeface="Consolas" pitchFamily="34" charset="-122"/>
                <a:cs typeface="Consolas" pitchFamily="34" charset="-120"/>
              </a:rPr>
              <a:t>+0.58 pp</a:t>
            </a:r>
            <a:endParaRPr lang="en-US" sz="1600" dirty="0"/>
          </a:p>
        </p:txBody>
      </p:sp>
      <p:sp>
        <p:nvSpPr>
          <p:cNvPr id="17" name="Text 15"/>
          <p:cNvSpPr/>
          <p:nvPr/>
        </p:nvSpPr>
        <p:spPr>
          <a:xfrm>
            <a:off x="6629400" y="4462272"/>
            <a:ext cx="2011680" cy="54864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z / p</a:t>
            </a:r>
            <a:endParaRPr lang="en-US" sz="1400" dirty="0"/>
          </a:p>
        </p:txBody>
      </p:sp>
      <p:sp>
        <p:nvSpPr>
          <p:cNvPr id="18" name="Text 16"/>
          <p:cNvSpPr/>
          <p:nvPr/>
        </p:nvSpPr>
        <p:spPr>
          <a:xfrm>
            <a:off x="8549640" y="4462272"/>
            <a:ext cx="2743200" cy="548640"/>
          </a:xfrm>
          <a:prstGeom prst="rect">
            <a:avLst/>
          </a:prstGeom>
          <a:noFill/>
          <a:ln/>
        </p:spPr>
        <p:txBody>
          <a:bodyPr wrap="square" lIns="0" tIns="0" rIns="0" bIns="0" rtlCol="0" anchor="ctr"/>
          <a:lstStyle/>
          <a:p>
            <a:pPr algn="r" indent="0" marL="0">
              <a:buNone/>
            </a:pPr>
            <a:r>
              <a:rPr lang="en-US" sz="1600" b="1" dirty="0">
                <a:solidFill>
                  <a:srgbClr val="FFFFFF"/>
                </a:solidFill>
                <a:latin typeface="Consolas" pitchFamily="34" charset="0"/>
                <a:ea typeface="Consolas" pitchFamily="34" charset="-122"/>
                <a:cs typeface="Consolas" pitchFamily="34" charset="-120"/>
              </a:rPr>
              <a:t>1.22  /  .223</a:t>
            </a:r>
            <a:endParaRPr lang="en-US" sz="1600" dirty="0"/>
          </a:p>
        </p:txBody>
      </p:sp>
      <p:sp>
        <p:nvSpPr>
          <p:cNvPr id="19" name="Shape 17"/>
          <p:cNvSpPr/>
          <p:nvPr/>
        </p:nvSpPr>
        <p:spPr>
          <a:xfrm>
            <a:off x="6629400" y="4974336"/>
            <a:ext cx="4663440" cy="18288"/>
          </a:xfrm>
          <a:prstGeom prst="rect">
            <a:avLst/>
          </a:prstGeom>
          <a:solidFill>
            <a:srgbClr val="FFFFFF">
              <a:alpha val="40000"/>
            </a:srgbClr>
          </a:solidFill>
          <a:ln/>
        </p:spPr>
      </p:sp>
      <p:sp>
        <p:nvSpPr>
          <p:cNvPr id="20" name="Text 18"/>
          <p:cNvSpPr/>
          <p:nvPr/>
        </p:nvSpPr>
        <p:spPr>
          <a:xfrm>
            <a:off x="6629400" y="5047488"/>
            <a:ext cx="4663440" cy="310896"/>
          </a:xfrm>
          <a:prstGeom prst="rect">
            <a:avLst/>
          </a:prstGeom>
          <a:noFill/>
          <a:ln/>
        </p:spPr>
        <p:txBody>
          <a:bodyPr wrap="square" lIns="0" tIns="0" rIns="0" bIns="0" rtlCol="0" anchor="ctr"/>
          <a:lstStyle/>
          <a:p>
            <a:pPr algn="l" indent="0" marL="0">
              <a:buNone/>
            </a:pPr>
            <a:r>
              <a:rPr lang="en-US" sz="1150" i="1" dirty="0">
                <a:solidFill>
                  <a:srgbClr val="FFFFFF"/>
                </a:solidFill>
                <a:latin typeface="Calibri" pitchFamily="34" charset="0"/>
                <a:ea typeface="Calibri" pitchFamily="34" charset="-122"/>
                <a:cs typeface="Calibri" pitchFamily="34" charset="-120"/>
              </a:rPr>
              <a:t>exact, not a normal approximation</a:t>
            </a:r>
            <a:endParaRPr lang="en-US" sz="1150" dirty="0"/>
          </a:p>
        </p:txBody>
      </p:sp>
      <p:sp>
        <p:nvSpPr>
          <p:cNvPr id="21" name="Text 19"/>
          <p:cNvSpPr/>
          <p:nvPr/>
        </p:nvSpPr>
        <p:spPr>
          <a:xfrm>
            <a:off x="566928" y="6254496"/>
            <a:ext cx="11055096" cy="365760"/>
          </a:xfrm>
          <a:prstGeom prst="rect">
            <a:avLst/>
          </a:prstGeom>
          <a:noFill/>
          <a:ln/>
        </p:spPr>
        <p:txBody>
          <a:bodyPr wrap="square" lIns="0" tIns="0" rIns="0" bIns="0" rtlCol="0" anchor="ctr"/>
          <a:lstStyle/>
          <a:p>
            <a:pPr algn="l" indent="0" marL="0">
              <a:buNone/>
            </a:pPr>
            <a:r>
              <a:rPr lang="en-US" sz="1050" i="1" dirty="0">
                <a:solidFill>
                  <a:srgbClr val="6E5A48"/>
                </a:solidFill>
                <a:latin typeface="Calibri" pitchFamily="34" charset="0"/>
                <a:ea typeface="Calibri" pitchFamily="34" charset="-122"/>
                <a:cs typeface="Calibri" pitchFamily="34" charset="-120"/>
              </a:rPr>
              <a:t>The exact distribution is built by discrete Fourier transform of its characteristic function.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7EC"/>
        </a:solidFill>
      </p:bgPr>
    </p:bg>
    <p:spTree>
      <p:nvGrpSpPr>
        <p:cNvPr id="1" name=""/>
        <p:cNvGrpSpPr/>
        <p:nvPr/>
      </p:nvGrpSpPr>
      <p:grpSpPr>
        <a:xfrm>
          <a:off x="0" y="0"/>
          <a:ext cx="0" cy="0"/>
          <a:chOff x="0" y="0"/>
          <a:chExt cx="0" cy="0"/>
        </a:xfrm>
      </p:grpSpPr>
      <p:sp>
        <p:nvSpPr>
          <p:cNvPr id="2" name="Shape 0"/>
          <p:cNvSpPr/>
          <p:nvPr/>
        </p:nvSpPr>
        <p:spPr>
          <a:xfrm>
            <a:off x="566928" y="310896"/>
            <a:ext cx="2231136" cy="384048"/>
          </a:xfrm>
          <a:prstGeom prst="roundRect">
            <a:avLst>
              <a:gd name="adj" fmla="val 119048"/>
            </a:avLst>
          </a:prstGeom>
          <a:solidFill>
            <a:srgbClr val="DB5A28"/>
          </a:solidFill>
          <a:ln/>
        </p:spPr>
      </p:sp>
      <p:sp>
        <p:nvSpPr>
          <p:cNvPr id="3" name="Text 1"/>
          <p:cNvSpPr/>
          <p:nvPr/>
        </p:nvSpPr>
        <p:spPr>
          <a:xfrm>
            <a:off x="566928" y="310896"/>
            <a:ext cx="2231136" cy="384048"/>
          </a:xfrm>
          <a:prstGeom prst="rect">
            <a:avLst/>
          </a:prstGeom>
          <a:noFill/>
          <a:ln/>
        </p:spPr>
        <p:txBody>
          <a:bodyPr wrap="square" lIns="0" tIns="0" rIns="0" bIns="0" rtlCol="0" anchor="ctr"/>
          <a:lstStyle/>
          <a:p>
            <a:pPr algn="ctr" indent="0" marL="0">
              <a:buNone/>
            </a:pPr>
            <a:r>
              <a:rPr lang="en-US" sz="1050" b="1" spc="140" kern="0" dirty="0">
                <a:solidFill>
                  <a:srgbClr val="FFFFFF"/>
                </a:solidFill>
                <a:latin typeface="Calibri" pitchFamily="34" charset="0"/>
                <a:ea typeface="Calibri" pitchFamily="34" charset="-122"/>
                <a:cs typeface="Calibri" pitchFamily="34" charset="-120"/>
              </a:rPr>
              <a:t>PRIMARY RESULT</a:t>
            </a:r>
            <a:endParaRPr lang="en-US" sz="1050" dirty="0"/>
          </a:p>
        </p:txBody>
      </p:sp>
      <p:sp>
        <p:nvSpPr>
          <p:cNvPr id="4" name="Shape 2"/>
          <p:cNvSpPr/>
          <p:nvPr/>
        </p:nvSpPr>
        <p:spPr>
          <a:xfrm>
            <a:off x="10881360" y="-731520"/>
            <a:ext cx="2377440" cy="2377440"/>
          </a:xfrm>
          <a:prstGeom prst="ellipse">
            <a:avLst/>
          </a:prstGeom>
          <a:solidFill>
            <a:srgbClr val="FBE3D6"/>
          </a:solidFill>
          <a:ln/>
        </p:spPr>
      </p:sp>
      <p:sp>
        <p:nvSpPr>
          <p:cNvPr id="5" name="Text 3"/>
          <p:cNvSpPr/>
          <p:nvPr/>
        </p:nvSpPr>
        <p:spPr>
          <a:xfrm>
            <a:off x="566928" y="1417320"/>
            <a:ext cx="5486400" cy="1737360"/>
          </a:xfrm>
          <a:prstGeom prst="rect">
            <a:avLst/>
          </a:prstGeom>
          <a:noFill/>
          <a:ln/>
        </p:spPr>
        <p:txBody>
          <a:bodyPr wrap="square" lIns="0" tIns="0" rIns="0" bIns="0" rtlCol="0" anchor="ctr"/>
          <a:lstStyle/>
          <a:p>
            <a:pPr algn="l" indent="0" marL="0">
              <a:buNone/>
            </a:pPr>
            <a:r>
              <a:rPr lang="en-US" sz="9600" b="1" dirty="0">
                <a:solidFill>
                  <a:srgbClr val="DB5A28"/>
                </a:solidFill>
                <a:latin typeface="Century Gothic" pitchFamily="34" charset="0"/>
                <a:ea typeface="Century Gothic" pitchFamily="34" charset="-122"/>
                <a:cs typeface="Century Gothic" pitchFamily="34" charset="-120"/>
              </a:rPr>
              <a:t>+0.58</a:t>
            </a:r>
            <a:endParaRPr lang="en-US" sz="9600" dirty="0"/>
          </a:p>
        </p:txBody>
      </p:sp>
      <p:sp>
        <p:nvSpPr>
          <p:cNvPr id="6" name="Text 4"/>
          <p:cNvSpPr/>
          <p:nvPr/>
        </p:nvSpPr>
        <p:spPr>
          <a:xfrm>
            <a:off x="658368" y="3154680"/>
            <a:ext cx="5120640" cy="457200"/>
          </a:xfrm>
          <a:prstGeom prst="rect">
            <a:avLst/>
          </a:prstGeom>
          <a:noFill/>
          <a:ln/>
        </p:spPr>
        <p:txBody>
          <a:bodyPr wrap="square" lIns="0" tIns="0" rIns="0" bIns="0" rtlCol="0" anchor="ctr"/>
          <a:lstStyle/>
          <a:p>
            <a:pPr algn="l" indent="0" marL="0">
              <a:buNone/>
            </a:pPr>
            <a:r>
              <a:rPr lang="en-US" sz="1700" dirty="0">
                <a:solidFill>
                  <a:srgbClr val="6E5A48"/>
                </a:solidFill>
                <a:latin typeface="Calibri" pitchFamily="34" charset="0"/>
                <a:ea typeface="Calibri" pitchFamily="34" charset="-122"/>
                <a:cs typeface="Calibri" pitchFamily="34" charset="-120"/>
              </a:rPr>
              <a:t>percentage points</a:t>
            </a:r>
            <a:endParaRPr lang="en-US" sz="1700" dirty="0"/>
          </a:p>
        </p:txBody>
      </p:sp>
      <p:sp>
        <p:nvSpPr>
          <p:cNvPr id="7" name="Shape 5"/>
          <p:cNvSpPr/>
          <p:nvPr/>
        </p:nvSpPr>
        <p:spPr>
          <a:xfrm>
            <a:off x="566928" y="3794760"/>
            <a:ext cx="5394960" cy="1371600"/>
          </a:xfrm>
          <a:prstGeom prst="roundRect">
            <a:avLst>
              <a:gd name="adj" fmla="val 10667"/>
            </a:avLst>
          </a:prstGeom>
          <a:solidFill>
            <a:srgbClr val="FDEEDC"/>
          </a:solidFill>
          <a:ln/>
        </p:spPr>
      </p:sp>
      <p:sp>
        <p:nvSpPr>
          <p:cNvPr id="8" name="Text 6"/>
          <p:cNvSpPr/>
          <p:nvPr/>
        </p:nvSpPr>
        <p:spPr>
          <a:xfrm>
            <a:off x="932688" y="4005072"/>
            <a:ext cx="4663440" cy="1005840"/>
          </a:xfrm>
          <a:prstGeom prst="rect">
            <a:avLst/>
          </a:prstGeom>
          <a:noFill/>
          <a:ln/>
        </p:spPr>
        <p:txBody>
          <a:bodyPr wrap="square" lIns="0" tIns="0" rIns="0" bIns="0" rtlCol="0" anchor="t"/>
          <a:lstStyle/>
          <a:p>
            <a:pPr algn="l" indent="0" marL="0">
              <a:lnSpc>
                <a:spcPct val="134000"/>
              </a:lnSpc>
              <a:buNone/>
            </a:pPr>
            <a:r>
              <a:rPr lang="en-US" sz="1400" dirty="0">
                <a:solidFill>
                  <a:srgbClr val="2A2118"/>
                </a:solidFill>
                <a:latin typeface="Calibri" pitchFamily="34" charset="0"/>
                <a:ea typeface="Calibri" pitchFamily="34" charset="-122"/>
                <a:cs typeface="Calibri" pitchFamily="34" charset="-120"/>
              </a:rPr>
              <a:t>Across 6,840 games, favorites above .70 won 80.83% of the time against a stated 80.26%.</a:t>
            </a:r>
            <a:endParaRPr lang="en-US" sz="1400" dirty="0"/>
          </a:p>
        </p:txBody>
      </p:sp>
      <p:sp>
        <p:nvSpPr>
          <p:cNvPr id="9" name="Shape 7"/>
          <p:cNvSpPr/>
          <p:nvPr/>
        </p:nvSpPr>
        <p:spPr>
          <a:xfrm>
            <a:off x="6263640" y="1234440"/>
            <a:ext cx="5358384" cy="4480560"/>
          </a:xfrm>
          <a:prstGeom prst="roundRect">
            <a:avLst>
              <a:gd name="adj" fmla="val 3265"/>
            </a:avLst>
          </a:prstGeom>
          <a:solidFill>
            <a:srgbClr val="FFFFFF"/>
          </a:solidFill>
          <a:ln/>
        </p:spPr>
      </p:sp>
      <p:sp>
        <p:nvSpPr>
          <p:cNvPr id="10" name="Shape 8"/>
          <p:cNvSpPr/>
          <p:nvPr/>
        </p:nvSpPr>
        <p:spPr>
          <a:xfrm>
            <a:off x="6263640" y="1234440"/>
            <a:ext cx="5358384" cy="603504"/>
          </a:xfrm>
          <a:prstGeom prst="roundRect">
            <a:avLst>
              <a:gd name="adj" fmla="val 21212"/>
            </a:avLst>
          </a:prstGeom>
          <a:solidFill>
            <a:srgbClr val="0F8A6E"/>
          </a:solidFill>
          <a:ln/>
        </p:spPr>
      </p:sp>
      <p:sp>
        <p:nvSpPr>
          <p:cNvPr id="11" name="Text 9"/>
          <p:cNvSpPr/>
          <p:nvPr/>
        </p:nvSpPr>
        <p:spPr>
          <a:xfrm>
            <a:off x="6601968" y="1234440"/>
            <a:ext cx="4754880" cy="603504"/>
          </a:xfrm>
          <a:prstGeom prst="rect">
            <a:avLst/>
          </a:prstGeom>
          <a:noFill/>
          <a:ln/>
        </p:spPr>
        <p:txBody>
          <a:bodyPr wrap="square" lIns="0" tIns="0" rIns="0" bIns="0" rtlCol="0" anchor="ctr"/>
          <a:lstStyle/>
          <a:p>
            <a:pPr algn="l" indent="0" marL="0">
              <a:buNone/>
            </a:pPr>
            <a:r>
              <a:rPr lang="en-US" sz="1400" b="1" dirty="0">
                <a:solidFill>
                  <a:srgbClr val="FFFFFF"/>
                </a:solidFill>
                <a:latin typeface="Century Gothic" pitchFamily="34" charset="0"/>
                <a:ea typeface="Century Gothic" pitchFamily="34" charset="-122"/>
                <a:cs typeface="Century Gothic" pitchFamily="34" charset="-120"/>
              </a:rPr>
              <a:t>Holds under every variance estimator</a:t>
            </a:r>
            <a:endParaRPr lang="en-US" sz="1400" dirty="0"/>
          </a:p>
        </p:txBody>
      </p:sp>
      <p:sp>
        <p:nvSpPr>
          <p:cNvPr id="12" name="Shape 10"/>
          <p:cNvSpPr/>
          <p:nvPr/>
        </p:nvSpPr>
        <p:spPr>
          <a:xfrm>
            <a:off x="6446520" y="1984248"/>
            <a:ext cx="4992624" cy="512064"/>
          </a:xfrm>
          <a:prstGeom prst="roundRect">
            <a:avLst>
              <a:gd name="adj" fmla="val 28571"/>
            </a:avLst>
          </a:prstGeom>
          <a:solidFill>
            <a:srgbClr val="FDEEDC"/>
          </a:solidFill>
          <a:ln/>
        </p:spPr>
      </p:sp>
      <p:sp>
        <p:nvSpPr>
          <p:cNvPr id="13" name="Text 11"/>
          <p:cNvSpPr/>
          <p:nvPr/>
        </p:nvSpPr>
        <p:spPr>
          <a:xfrm>
            <a:off x="6629400" y="2011680"/>
            <a:ext cx="3017520" cy="457200"/>
          </a:xfrm>
          <a:prstGeom prst="rect">
            <a:avLst/>
          </a:prstGeom>
          <a:noFill/>
          <a:ln/>
        </p:spPr>
        <p:txBody>
          <a:bodyPr wrap="square" lIns="0" tIns="0" rIns="0" bIns="0" rtlCol="0" anchor="ctr"/>
          <a:lstStyle/>
          <a:p>
            <a:pPr algn="l" indent="0" marL="0">
              <a:buNone/>
            </a:pPr>
            <a:r>
              <a:rPr lang="en-US" sz="1250" dirty="0">
                <a:solidFill>
                  <a:srgbClr val="2A2118"/>
                </a:solidFill>
                <a:latin typeface="Calibri" pitchFamily="34" charset="0"/>
                <a:ea typeface="Calibri" pitchFamily="34" charset="-122"/>
                <a:cs typeface="Calibri" pitchFamily="34" charset="-120"/>
              </a:rPr>
              <a:t>Poisson-binomial</a:t>
            </a:r>
            <a:endParaRPr lang="en-US" sz="1250" dirty="0"/>
          </a:p>
        </p:txBody>
      </p:sp>
      <p:sp>
        <p:nvSpPr>
          <p:cNvPr id="14" name="Text 12"/>
          <p:cNvSpPr/>
          <p:nvPr/>
        </p:nvSpPr>
        <p:spPr>
          <a:xfrm>
            <a:off x="9692640" y="2011680"/>
            <a:ext cx="1600200" cy="457200"/>
          </a:xfrm>
          <a:prstGeom prst="rect">
            <a:avLst/>
          </a:prstGeom>
          <a:noFill/>
          <a:ln/>
        </p:spPr>
        <p:txBody>
          <a:bodyPr wrap="square" lIns="0" tIns="0" rIns="0" bIns="0" rtlCol="0" anchor="ctr"/>
          <a:lstStyle/>
          <a:p>
            <a:pPr algn="r" indent="0" marL="0">
              <a:buNone/>
            </a:pPr>
            <a:r>
              <a:rPr lang="en-US" sz="1250" dirty="0">
                <a:solidFill>
                  <a:srgbClr val="0F8A6E"/>
                </a:solidFill>
                <a:latin typeface="Consolas" pitchFamily="34" charset="0"/>
                <a:ea typeface="Consolas" pitchFamily="34" charset="-122"/>
                <a:cs typeface="Consolas" pitchFamily="34" charset="-120"/>
              </a:rPr>
              <a:t>p = .223</a:t>
            </a:r>
            <a:endParaRPr lang="en-US" sz="1250" dirty="0"/>
          </a:p>
        </p:txBody>
      </p:sp>
      <p:sp>
        <p:nvSpPr>
          <p:cNvPr id="15" name="Text 13"/>
          <p:cNvSpPr/>
          <p:nvPr/>
        </p:nvSpPr>
        <p:spPr>
          <a:xfrm>
            <a:off x="6629400" y="2560320"/>
            <a:ext cx="3017520" cy="457200"/>
          </a:xfrm>
          <a:prstGeom prst="rect">
            <a:avLst/>
          </a:prstGeom>
          <a:noFill/>
          <a:ln/>
        </p:spPr>
        <p:txBody>
          <a:bodyPr wrap="square" lIns="0" tIns="0" rIns="0" bIns="0" rtlCol="0" anchor="ctr"/>
          <a:lstStyle/>
          <a:p>
            <a:pPr algn="l" indent="0" marL="0">
              <a:buNone/>
            </a:pPr>
            <a:r>
              <a:rPr lang="en-US" sz="1250" dirty="0">
                <a:solidFill>
                  <a:srgbClr val="2A2118"/>
                </a:solidFill>
                <a:latin typeface="Calibri" pitchFamily="34" charset="0"/>
                <a:ea typeface="Calibri" pitchFamily="34" charset="-122"/>
                <a:cs typeface="Calibri" pitchFamily="34" charset="-120"/>
              </a:rPr>
              <a:t>Classical</a:t>
            </a:r>
            <a:endParaRPr lang="en-US" sz="1250" dirty="0"/>
          </a:p>
        </p:txBody>
      </p:sp>
      <p:sp>
        <p:nvSpPr>
          <p:cNvPr id="16" name="Text 14"/>
          <p:cNvSpPr/>
          <p:nvPr/>
        </p:nvSpPr>
        <p:spPr>
          <a:xfrm>
            <a:off x="9692640" y="2560320"/>
            <a:ext cx="1600200" cy="457200"/>
          </a:xfrm>
          <a:prstGeom prst="rect">
            <a:avLst/>
          </a:prstGeom>
          <a:noFill/>
          <a:ln/>
        </p:spPr>
        <p:txBody>
          <a:bodyPr wrap="square" lIns="0" tIns="0" rIns="0" bIns="0" rtlCol="0" anchor="ctr"/>
          <a:lstStyle/>
          <a:p>
            <a:pPr algn="r" indent="0" marL="0">
              <a:buNone/>
            </a:pPr>
            <a:r>
              <a:rPr lang="en-US" sz="1250" dirty="0">
                <a:solidFill>
                  <a:srgbClr val="0F8A6E"/>
                </a:solidFill>
                <a:latin typeface="Consolas" pitchFamily="34" charset="0"/>
                <a:ea typeface="Consolas" pitchFamily="34" charset="-122"/>
                <a:cs typeface="Consolas" pitchFamily="34" charset="-120"/>
              </a:rPr>
              <a:t>p = .218</a:t>
            </a:r>
            <a:endParaRPr lang="en-US" sz="1250" dirty="0"/>
          </a:p>
        </p:txBody>
      </p:sp>
      <p:sp>
        <p:nvSpPr>
          <p:cNvPr id="17" name="Shape 15"/>
          <p:cNvSpPr/>
          <p:nvPr/>
        </p:nvSpPr>
        <p:spPr>
          <a:xfrm>
            <a:off x="6446520" y="3081528"/>
            <a:ext cx="4992624" cy="512064"/>
          </a:xfrm>
          <a:prstGeom prst="roundRect">
            <a:avLst>
              <a:gd name="adj" fmla="val 28571"/>
            </a:avLst>
          </a:prstGeom>
          <a:solidFill>
            <a:srgbClr val="FDEEDC"/>
          </a:solidFill>
          <a:ln/>
        </p:spPr>
      </p:sp>
      <p:sp>
        <p:nvSpPr>
          <p:cNvPr id="18" name="Text 16"/>
          <p:cNvSpPr/>
          <p:nvPr/>
        </p:nvSpPr>
        <p:spPr>
          <a:xfrm>
            <a:off x="6629400" y="3108960"/>
            <a:ext cx="3017520" cy="457200"/>
          </a:xfrm>
          <a:prstGeom prst="rect">
            <a:avLst/>
          </a:prstGeom>
          <a:noFill/>
          <a:ln/>
        </p:spPr>
        <p:txBody>
          <a:bodyPr wrap="square" lIns="0" tIns="0" rIns="0" bIns="0" rtlCol="0" anchor="ctr"/>
          <a:lstStyle/>
          <a:p>
            <a:pPr algn="l" indent="0" marL="0">
              <a:buNone/>
            </a:pPr>
            <a:r>
              <a:rPr lang="en-US" sz="1250" dirty="0">
                <a:solidFill>
                  <a:srgbClr val="2A2118"/>
                </a:solidFill>
                <a:latin typeface="Calibri" pitchFamily="34" charset="0"/>
                <a:ea typeface="Calibri" pitchFamily="34" charset="-122"/>
                <a:cs typeface="Calibri" pitchFamily="34" charset="-120"/>
              </a:rPr>
              <a:t>By season (13)</a:t>
            </a:r>
            <a:endParaRPr lang="en-US" sz="1250" dirty="0"/>
          </a:p>
        </p:txBody>
      </p:sp>
      <p:sp>
        <p:nvSpPr>
          <p:cNvPr id="19" name="Text 17"/>
          <p:cNvSpPr/>
          <p:nvPr/>
        </p:nvSpPr>
        <p:spPr>
          <a:xfrm>
            <a:off x="9692640" y="3108960"/>
            <a:ext cx="1600200" cy="457200"/>
          </a:xfrm>
          <a:prstGeom prst="rect">
            <a:avLst/>
          </a:prstGeom>
          <a:noFill/>
          <a:ln/>
        </p:spPr>
        <p:txBody>
          <a:bodyPr wrap="square" lIns="0" tIns="0" rIns="0" bIns="0" rtlCol="0" anchor="ctr"/>
          <a:lstStyle/>
          <a:p>
            <a:pPr algn="r" indent="0" marL="0">
              <a:buNone/>
            </a:pPr>
            <a:r>
              <a:rPr lang="en-US" sz="1250" dirty="0">
                <a:solidFill>
                  <a:srgbClr val="0F8A6E"/>
                </a:solidFill>
                <a:latin typeface="Consolas" pitchFamily="34" charset="0"/>
                <a:ea typeface="Consolas" pitchFamily="34" charset="-122"/>
                <a:cs typeface="Consolas" pitchFamily="34" charset="-120"/>
              </a:rPr>
              <a:t>p = .134</a:t>
            </a:r>
            <a:endParaRPr lang="en-US" sz="1250" dirty="0"/>
          </a:p>
        </p:txBody>
      </p:sp>
      <p:sp>
        <p:nvSpPr>
          <p:cNvPr id="20" name="Text 18"/>
          <p:cNvSpPr/>
          <p:nvPr/>
        </p:nvSpPr>
        <p:spPr>
          <a:xfrm>
            <a:off x="6629400" y="3657600"/>
            <a:ext cx="3017520" cy="457200"/>
          </a:xfrm>
          <a:prstGeom prst="rect">
            <a:avLst/>
          </a:prstGeom>
          <a:noFill/>
          <a:ln/>
        </p:spPr>
        <p:txBody>
          <a:bodyPr wrap="square" lIns="0" tIns="0" rIns="0" bIns="0" rtlCol="0" anchor="ctr"/>
          <a:lstStyle/>
          <a:p>
            <a:pPr algn="l" indent="0" marL="0">
              <a:buNone/>
            </a:pPr>
            <a:r>
              <a:rPr lang="en-US" sz="1250" dirty="0">
                <a:solidFill>
                  <a:srgbClr val="2A2118"/>
                </a:solidFill>
                <a:latin typeface="Calibri" pitchFamily="34" charset="0"/>
                <a:ea typeface="Calibri" pitchFamily="34" charset="-122"/>
                <a:cs typeface="Calibri" pitchFamily="34" charset="-120"/>
              </a:rPr>
              <a:t>By favorite team (32)</a:t>
            </a:r>
            <a:endParaRPr lang="en-US" sz="1250" dirty="0"/>
          </a:p>
        </p:txBody>
      </p:sp>
      <p:sp>
        <p:nvSpPr>
          <p:cNvPr id="21" name="Text 19"/>
          <p:cNvSpPr/>
          <p:nvPr/>
        </p:nvSpPr>
        <p:spPr>
          <a:xfrm>
            <a:off x="9692640" y="3657600"/>
            <a:ext cx="1600200" cy="457200"/>
          </a:xfrm>
          <a:prstGeom prst="rect">
            <a:avLst/>
          </a:prstGeom>
          <a:noFill/>
          <a:ln/>
        </p:spPr>
        <p:txBody>
          <a:bodyPr wrap="square" lIns="0" tIns="0" rIns="0" bIns="0" rtlCol="0" anchor="ctr"/>
          <a:lstStyle/>
          <a:p>
            <a:pPr algn="r" indent="0" marL="0">
              <a:buNone/>
            </a:pPr>
            <a:r>
              <a:rPr lang="en-US" sz="1250" dirty="0">
                <a:solidFill>
                  <a:srgbClr val="0F8A6E"/>
                </a:solidFill>
                <a:latin typeface="Consolas" pitchFamily="34" charset="0"/>
                <a:ea typeface="Consolas" pitchFamily="34" charset="-122"/>
                <a:cs typeface="Consolas" pitchFamily="34" charset="-120"/>
              </a:rPr>
              <a:t>p = .276</a:t>
            </a:r>
            <a:endParaRPr lang="en-US" sz="1250" dirty="0"/>
          </a:p>
        </p:txBody>
      </p:sp>
      <p:sp>
        <p:nvSpPr>
          <p:cNvPr id="22" name="Shape 20"/>
          <p:cNvSpPr/>
          <p:nvPr/>
        </p:nvSpPr>
        <p:spPr>
          <a:xfrm>
            <a:off x="6446520" y="4178808"/>
            <a:ext cx="4992624" cy="512064"/>
          </a:xfrm>
          <a:prstGeom prst="roundRect">
            <a:avLst>
              <a:gd name="adj" fmla="val 28571"/>
            </a:avLst>
          </a:prstGeom>
          <a:solidFill>
            <a:srgbClr val="FDEEDC"/>
          </a:solidFill>
          <a:ln/>
        </p:spPr>
      </p:sp>
      <p:sp>
        <p:nvSpPr>
          <p:cNvPr id="23" name="Text 21"/>
          <p:cNvSpPr/>
          <p:nvPr/>
        </p:nvSpPr>
        <p:spPr>
          <a:xfrm>
            <a:off x="6629400" y="4206240"/>
            <a:ext cx="3017520" cy="457200"/>
          </a:xfrm>
          <a:prstGeom prst="rect">
            <a:avLst/>
          </a:prstGeom>
          <a:noFill/>
          <a:ln/>
        </p:spPr>
        <p:txBody>
          <a:bodyPr wrap="square" lIns="0" tIns="0" rIns="0" bIns="0" rtlCol="0" anchor="ctr"/>
          <a:lstStyle/>
          <a:p>
            <a:pPr algn="l" indent="0" marL="0">
              <a:buNone/>
            </a:pPr>
            <a:r>
              <a:rPr lang="en-US" sz="1250" dirty="0">
                <a:solidFill>
                  <a:srgbClr val="2A2118"/>
                </a:solidFill>
                <a:latin typeface="Calibri" pitchFamily="34" charset="0"/>
                <a:ea typeface="Calibri" pitchFamily="34" charset="-122"/>
                <a:cs typeface="Calibri" pitchFamily="34" charset="-120"/>
              </a:rPr>
              <a:t>By underdog team (33)</a:t>
            </a:r>
            <a:endParaRPr lang="en-US" sz="1250" dirty="0"/>
          </a:p>
        </p:txBody>
      </p:sp>
      <p:sp>
        <p:nvSpPr>
          <p:cNvPr id="24" name="Text 22"/>
          <p:cNvSpPr/>
          <p:nvPr/>
        </p:nvSpPr>
        <p:spPr>
          <a:xfrm>
            <a:off x="9692640" y="4206240"/>
            <a:ext cx="1600200" cy="457200"/>
          </a:xfrm>
          <a:prstGeom prst="rect">
            <a:avLst/>
          </a:prstGeom>
          <a:noFill/>
          <a:ln/>
        </p:spPr>
        <p:txBody>
          <a:bodyPr wrap="square" lIns="0" tIns="0" rIns="0" bIns="0" rtlCol="0" anchor="ctr"/>
          <a:lstStyle/>
          <a:p>
            <a:pPr algn="r" indent="0" marL="0">
              <a:buNone/>
            </a:pPr>
            <a:r>
              <a:rPr lang="en-US" sz="1250" dirty="0">
                <a:solidFill>
                  <a:srgbClr val="0F8A6E"/>
                </a:solidFill>
                <a:latin typeface="Consolas" pitchFamily="34" charset="0"/>
                <a:ea typeface="Consolas" pitchFamily="34" charset="-122"/>
                <a:cs typeface="Consolas" pitchFamily="34" charset="-120"/>
              </a:rPr>
              <a:t>p = .246</a:t>
            </a:r>
            <a:endParaRPr lang="en-US" sz="1250" dirty="0"/>
          </a:p>
        </p:txBody>
      </p:sp>
      <p:sp>
        <p:nvSpPr>
          <p:cNvPr id="25" name="Text 23"/>
          <p:cNvSpPr/>
          <p:nvPr/>
        </p:nvSpPr>
        <p:spPr>
          <a:xfrm>
            <a:off x="6629400" y="4754880"/>
            <a:ext cx="3017520" cy="457200"/>
          </a:xfrm>
          <a:prstGeom prst="rect">
            <a:avLst/>
          </a:prstGeom>
          <a:noFill/>
          <a:ln/>
        </p:spPr>
        <p:txBody>
          <a:bodyPr wrap="square" lIns="0" tIns="0" rIns="0" bIns="0" rtlCol="0" anchor="ctr"/>
          <a:lstStyle/>
          <a:p>
            <a:pPr algn="l" indent="0" marL="0">
              <a:buNone/>
            </a:pPr>
            <a:r>
              <a:rPr lang="en-US" sz="1250" dirty="0">
                <a:solidFill>
                  <a:srgbClr val="2A2118"/>
                </a:solidFill>
                <a:latin typeface="Calibri" pitchFamily="34" charset="0"/>
                <a:ea typeface="Calibri" pitchFamily="34" charset="-122"/>
                <a:cs typeface="Calibri" pitchFamily="34" charset="-120"/>
              </a:rPr>
              <a:t>Two-way (13)</a:t>
            </a:r>
            <a:endParaRPr lang="en-US" sz="1250" dirty="0"/>
          </a:p>
        </p:txBody>
      </p:sp>
      <p:sp>
        <p:nvSpPr>
          <p:cNvPr id="26" name="Text 24"/>
          <p:cNvSpPr/>
          <p:nvPr/>
        </p:nvSpPr>
        <p:spPr>
          <a:xfrm>
            <a:off x="9692640" y="4754880"/>
            <a:ext cx="1600200" cy="457200"/>
          </a:xfrm>
          <a:prstGeom prst="rect">
            <a:avLst/>
          </a:prstGeom>
          <a:noFill/>
          <a:ln/>
        </p:spPr>
        <p:txBody>
          <a:bodyPr wrap="square" lIns="0" tIns="0" rIns="0" bIns="0" rtlCol="0" anchor="ctr"/>
          <a:lstStyle/>
          <a:p>
            <a:pPr algn="r" indent="0" marL="0">
              <a:buNone/>
            </a:pPr>
            <a:r>
              <a:rPr lang="en-US" sz="1250" dirty="0">
                <a:solidFill>
                  <a:srgbClr val="0F8A6E"/>
                </a:solidFill>
                <a:latin typeface="Consolas" pitchFamily="34" charset="0"/>
                <a:ea typeface="Consolas" pitchFamily="34" charset="-122"/>
                <a:cs typeface="Consolas" pitchFamily="34" charset="-120"/>
              </a:rPr>
              <a:t>p = .224</a:t>
            </a:r>
            <a:endParaRPr lang="en-US" sz="1250" dirty="0"/>
          </a:p>
        </p:txBody>
      </p:sp>
      <p:sp>
        <p:nvSpPr>
          <p:cNvPr id="27" name="Text 25"/>
          <p:cNvSpPr/>
          <p:nvPr/>
        </p:nvSpPr>
        <p:spPr>
          <a:xfrm>
            <a:off x="6629400" y="5230368"/>
            <a:ext cx="4754880" cy="365760"/>
          </a:xfrm>
          <a:prstGeom prst="rect">
            <a:avLst/>
          </a:prstGeom>
          <a:noFill/>
          <a:ln/>
        </p:spPr>
        <p:txBody>
          <a:bodyPr wrap="square" lIns="0" tIns="0" rIns="0" bIns="0" rtlCol="0" anchor="ctr"/>
          <a:lstStyle/>
          <a:p>
            <a:pPr algn="l" indent="0" marL="0">
              <a:buNone/>
            </a:pPr>
            <a:r>
              <a:rPr lang="en-US" sz="1100" i="1" dirty="0">
                <a:solidFill>
                  <a:srgbClr val="6E5A48"/>
                </a:solidFill>
                <a:latin typeface="Calibri" pitchFamily="34" charset="0"/>
                <a:ea typeface="Calibri" pitchFamily="34" charset="-122"/>
                <a:cs typeface="Calibri" pitchFamily="34" charset="-120"/>
              </a:rPr>
              <a:t>Point estimate is +0.58 in all six. Only the standard error moves.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7EC"/>
        </a:solidFill>
      </p:bgPr>
    </p:bg>
    <p:spTree>
      <p:nvGrpSpPr>
        <p:cNvPr id="1" name=""/>
        <p:cNvGrpSpPr/>
        <p:nvPr/>
      </p:nvGrpSpPr>
      <p:grpSpPr>
        <a:xfrm>
          <a:off x="0" y="0"/>
          <a:ext cx="0" cy="0"/>
          <a:chOff x="0" y="0"/>
          <a:chExt cx="0" cy="0"/>
        </a:xfrm>
      </p:grpSpPr>
      <p:sp>
        <p:nvSpPr>
          <p:cNvPr id="2" name="Shape 0"/>
          <p:cNvSpPr/>
          <p:nvPr/>
        </p:nvSpPr>
        <p:spPr>
          <a:xfrm>
            <a:off x="566928" y="310896"/>
            <a:ext cx="3095244" cy="384048"/>
          </a:xfrm>
          <a:prstGeom prst="roundRect">
            <a:avLst>
              <a:gd name="adj" fmla="val 119048"/>
            </a:avLst>
          </a:prstGeom>
          <a:solidFill>
            <a:srgbClr val="0F8A6E"/>
          </a:solidFill>
          <a:ln/>
        </p:spPr>
      </p:sp>
      <p:sp>
        <p:nvSpPr>
          <p:cNvPr id="3" name="Text 1"/>
          <p:cNvSpPr/>
          <p:nvPr/>
        </p:nvSpPr>
        <p:spPr>
          <a:xfrm>
            <a:off x="566928" y="310896"/>
            <a:ext cx="3095244" cy="384048"/>
          </a:xfrm>
          <a:prstGeom prst="rect">
            <a:avLst/>
          </a:prstGeom>
          <a:noFill/>
          <a:ln/>
        </p:spPr>
        <p:txBody>
          <a:bodyPr wrap="square" lIns="0" tIns="0" rIns="0" bIns="0" rtlCol="0" anchor="ctr"/>
          <a:lstStyle/>
          <a:p>
            <a:pPr algn="ctr" indent="0" marL="0">
              <a:buNone/>
            </a:pPr>
            <a:r>
              <a:rPr lang="en-US" sz="1050" b="1" spc="140" kern="0" dirty="0">
                <a:solidFill>
                  <a:srgbClr val="FFFFFF"/>
                </a:solidFill>
                <a:latin typeface="Calibri" pitchFamily="34" charset="0"/>
                <a:ea typeface="Calibri" pitchFamily="34" charset="-122"/>
                <a:cs typeface="Calibri" pitchFamily="34" charset="-120"/>
              </a:rPr>
              <a:t>CALIBRATION BY DECILE</a:t>
            </a:r>
            <a:endParaRPr lang="en-US" sz="1050" dirty="0"/>
          </a:p>
        </p:txBody>
      </p:sp>
      <p:sp>
        <p:nvSpPr>
          <p:cNvPr id="4" name="Text 2"/>
          <p:cNvSpPr/>
          <p:nvPr/>
        </p:nvSpPr>
        <p:spPr>
          <a:xfrm>
            <a:off x="566928" y="841248"/>
            <a:ext cx="11055096" cy="786384"/>
          </a:xfrm>
          <a:prstGeom prst="rect">
            <a:avLst/>
          </a:prstGeom>
          <a:noFill/>
          <a:ln/>
        </p:spPr>
        <p:txBody>
          <a:bodyPr wrap="square" lIns="0" tIns="0" rIns="0" bIns="0" rtlCol="0" anchor="ctr"/>
          <a:lstStyle/>
          <a:p>
            <a:pPr algn="l" indent="0" marL="0">
              <a:buNone/>
            </a:pPr>
            <a:r>
              <a:rPr lang="en-US" sz="3100" b="1" dirty="0">
                <a:solidFill>
                  <a:srgbClr val="2A2118"/>
                </a:solidFill>
                <a:latin typeface="Century Gothic" pitchFamily="34" charset="0"/>
                <a:ea typeface="Century Gothic" pitchFamily="34" charset="-122"/>
                <a:cs typeface="Century Gothic" pitchFamily="34" charset="-120"/>
              </a:rPr>
              <a:t>Stated probability against what actually happened</a:t>
            </a:r>
            <a:endParaRPr lang="en-US" sz="3100" dirty="0"/>
          </a:p>
        </p:txBody>
      </p:sp>
      <p:sp>
        <p:nvSpPr>
          <p:cNvPr id="5" name="Shape 3"/>
          <p:cNvSpPr/>
          <p:nvPr/>
        </p:nvSpPr>
        <p:spPr>
          <a:xfrm>
            <a:off x="566928" y="1737360"/>
            <a:ext cx="11055096" cy="4315968"/>
          </a:xfrm>
          <a:prstGeom prst="roundRect">
            <a:avLst>
              <a:gd name="adj" fmla="val 3390"/>
            </a:avLst>
          </a:prstGeom>
          <a:solidFill>
            <a:srgbClr val="FFFFFF"/>
          </a:solidFill>
          <a:ln/>
        </p:spPr>
      </p:sp>
      <p:pic>
        <p:nvPicPr>
          <p:cNvPr id="6" name="Image 0" descr="fig/deck_fig1.png">    </p:cNvPr>
          <p:cNvPicPr>
            <a:picLocks noChangeAspect="1"/>
          </p:cNvPicPr>
          <p:nvPr/>
        </p:nvPicPr>
        <p:blipFill>
          <a:blip r:embed="rId1"/>
          <a:stretch>
            <a:fillRect/>
          </a:stretch>
        </p:blipFill>
        <p:spPr>
          <a:xfrm>
            <a:off x="1572768" y="1847088"/>
            <a:ext cx="9043416" cy="4096512"/>
          </a:xfrm>
          <a:prstGeom prst="rect">
            <a:avLst/>
          </a:prstGeom>
        </p:spPr>
      </p:pic>
      <p:sp>
        <p:nvSpPr>
          <p:cNvPr id="7" name="Text 4"/>
          <p:cNvSpPr/>
          <p:nvPr/>
        </p:nvSpPr>
        <p:spPr>
          <a:xfrm>
            <a:off x="566928" y="6254496"/>
            <a:ext cx="11055096" cy="365760"/>
          </a:xfrm>
          <a:prstGeom prst="rect">
            <a:avLst/>
          </a:prstGeom>
          <a:noFill/>
          <a:ln/>
        </p:spPr>
        <p:txBody>
          <a:bodyPr wrap="square" lIns="0" tIns="0" rIns="0" bIns="0" rtlCol="0" anchor="ctr"/>
          <a:lstStyle/>
          <a:p>
            <a:pPr algn="l" indent="0" marL="0">
              <a:buNone/>
            </a:pPr>
            <a:r>
              <a:rPr lang="en-US" sz="1050" i="1" dirty="0">
                <a:solidFill>
                  <a:srgbClr val="6E5A48"/>
                </a:solidFill>
                <a:latin typeface="Calibri" pitchFamily="34" charset="0"/>
                <a:ea typeface="Calibri" pitchFamily="34" charset="-122"/>
                <a:cs typeface="Calibri" pitchFamily="34" charset="-120"/>
              </a:rPr>
              <a:t>Ten deciles of 15,351 games, 1,347 to 1,804 games each, with 95 percent Wilson intervals. The dashed line is perfect calibration.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7EC"/>
        </a:solidFill>
      </p:bgPr>
    </p:bg>
    <p:spTree>
      <p:nvGrpSpPr>
        <p:cNvPr id="1" name=""/>
        <p:cNvGrpSpPr/>
        <p:nvPr/>
      </p:nvGrpSpPr>
      <p:grpSpPr>
        <a:xfrm>
          <a:off x="0" y="0"/>
          <a:ext cx="0" cy="0"/>
          <a:chOff x="0" y="0"/>
          <a:chExt cx="0" cy="0"/>
        </a:xfrm>
      </p:grpSpPr>
      <p:sp>
        <p:nvSpPr>
          <p:cNvPr id="2" name="Shape 0"/>
          <p:cNvSpPr/>
          <p:nvPr/>
        </p:nvSpPr>
        <p:spPr>
          <a:xfrm>
            <a:off x="566928" y="310896"/>
            <a:ext cx="3589020" cy="384048"/>
          </a:xfrm>
          <a:prstGeom prst="roundRect">
            <a:avLst>
              <a:gd name="adj" fmla="val 119048"/>
            </a:avLst>
          </a:prstGeom>
          <a:solidFill>
            <a:srgbClr val="7A4F9E"/>
          </a:solidFill>
          <a:ln/>
        </p:spPr>
      </p:sp>
      <p:sp>
        <p:nvSpPr>
          <p:cNvPr id="3" name="Text 1"/>
          <p:cNvSpPr/>
          <p:nvPr/>
        </p:nvSpPr>
        <p:spPr>
          <a:xfrm>
            <a:off x="566928" y="310896"/>
            <a:ext cx="3589020" cy="384048"/>
          </a:xfrm>
          <a:prstGeom prst="rect">
            <a:avLst/>
          </a:prstGeom>
          <a:noFill/>
          <a:ln/>
        </p:spPr>
        <p:txBody>
          <a:bodyPr wrap="square" lIns="0" tIns="0" rIns="0" bIns="0" rtlCol="0" anchor="ctr"/>
          <a:lstStyle/>
          <a:p>
            <a:pPr algn="ctr" indent="0" marL="0">
              <a:buNone/>
            </a:pPr>
            <a:r>
              <a:rPr lang="en-US" sz="1050" b="1" spc="140" kern="0" dirty="0">
                <a:solidFill>
                  <a:srgbClr val="FFFFFF"/>
                </a:solidFill>
                <a:latin typeface="Calibri" pitchFamily="34" charset="0"/>
                <a:ea typeface="Calibri" pitchFamily="34" charset="-122"/>
                <a:cs typeface="Calibri" pitchFamily="34" charset="-120"/>
              </a:rPr>
              <a:t>THE PART MOST PAPERS SKIP</a:t>
            </a:r>
            <a:endParaRPr lang="en-US" sz="1050" dirty="0"/>
          </a:p>
        </p:txBody>
      </p:sp>
      <p:sp>
        <p:nvSpPr>
          <p:cNvPr id="4" name="Text 2"/>
          <p:cNvSpPr/>
          <p:nvPr/>
        </p:nvSpPr>
        <p:spPr>
          <a:xfrm>
            <a:off x="566928" y="841248"/>
            <a:ext cx="11055096" cy="786384"/>
          </a:xfrm>
          <a:prstGeom prst="rect">
            <a:avLst/>
          </a:prstGeom>
          <a:noFill/>
          <a:ln/>
        </p:spPr>
        <p:txBody>
          <a:bodyPr wrap="square" lIns="0" tIns="0" rIns="0" bIns="0" rtlCol="0" anchor="ctr"/>
          <a:lstStyle/>
          <a:p>
            <a:pPr algn="l" indent="0" marL="0">
              <a:buNone/>
            </a:pPr>
            <a:r>
              <a:rPr lang="en-US" sz="3100" b="1" dirty="0">
                <a:solidFill>
                  <a:srgbClr val="2A2118"/>
                </a:solidFill>
                <a:latin typeface="Century Gothic" pitchFamily="34" charset="0"/>
                <a:ea typeface="Century Gothic" pitchFamily="34" charset="-122"/>
                <a:cs typeface="Century Gothic" pitchFamily="34" charset="-120"/>
              </a:rPr>
              <a:t>"Not significant" is not the same as "small"</a:t>
            </a:r>
            <a:endParaRPr lang="en-US" sz="3100" dirty="0"/>
          </a:p>
        </p:txBody>
      </p:sp>
      <p:sp>
        <p:nvSpPr>
          <p:cNvPr id="5" name="Shape 3"/>
          <p:cNvSpPr/>
          <p:nvPr/>
        </p:nvSpPr>
        <p:spPr>
          <a:xfrm>
            <a:off x="566928" y="1783080"/>
            <a:ext cx="11055096" cy="914400"/>
          </a:xfrm>
          <a:prstGeom prst="roundRect">
            <a:avLst>
              <a:gd name="adj" fmla="val 16000"/>
            </a:avLst>
          </a:prstGeom>
          <a:solidFill>
            <a:srgbClr val="FDEEDC"/>
          </a:solidFill>
          <a:ln/>
        </p:spPr>
      </p:sp>
      <p:sp>
        <p:nvSpPr>
          <p:cNvPr id="6" name="Text 4"/>
          <p:cNvSpPr/>
          <p:nvPr/>
        </p:nvSpPr>
        <p:spPr>
          <a:xfrm>
            <a:off x="950976" y="1938528"/>
            <a:ext cx="10287000" cy="731520"/>
          </a:xfrm>
          <a:prstGeom prst="rect">
            <a:avLst/>
          </a:prstGeom>
          <a:noFill/>
          <a:ln/>
        </p:spPr>
        <p:txBody>
          <a:bodyPr wrap="square" lIns="0" tIns="0" rIns="0" bIns="0" rtlCol="0" anchor="t"/>
          <a:lstStyle/>
          <a:p>
            <a:pPr algn="l" indent="0" marL="0">
              <a:lnSpc>
                <a:spcPct val="134000"/>
              </a:lnSpc>
              <a:buNone/>
            </a:pPr>
            <a:r>
              <a:rPr lang="en-US" sz="1350" dirty="0">
                <a:solidFill>
                  <a:srgbClr val="2A2118"/>
                </a:solidFill>
                <a:latin typeface="Calibri" pitchFamily="34" charset="0"/>
                <a:ea typeface="Calibri" pitchFamily="34" charset="-122"/>
                <a:cs typeface="Calibri" pitchFamily="34" charset="-120"/>
              </a:rPr>
              <a:t>Failing to reject zero says the data are consistent with zero. It does not say the gap is too small to matter. Those are different claims, so the second one gets its own test.</a:t>
            </a:r>
            <a:endParaRPr lang="en-US" sz="1350" dirty="0"/>
          </a:p>
        </p:txBody>
      </p:sp>
      <p:sp>
        <p:nvSpPr>
          <p:cNvPr id="7" name="Shape 5"/>
          <p:cNvSpPr/>
          <p:nvPr/>
        </p:nvSpPr>
        <p:spPr>
          <a:xfrm>
            <a:off x="566928" y="2880360"/>
            <a:ext cx="5358384" cy="2606040"/>
          </a:xfrm>
          <a:prstGeom prst="roundRect">
            <a:avLst>
              <a:gd name="adj" fmla="val 5614"/>
            </a:avLst>
          </a:prstGeom>
          <a:solidFill>
            <a:srgbClr val="ECE3F4"/>
          </a:solidFill>
          <a:ln/>
        </p:spPr>
      </p:sp>
      <p:sp>
        <p:nvSpPr>
          <p:cNvPr id="8" name="Text 6"/>
          <p:cNvSpPr/>
          <p:nvPr/>
        </p:nvSpPr>
        <p:spPr>
          <a:xfrm>
            <a:off x="877824" y="3118104"/>
            <a:ext cx="4736592" cy="365760"/>
          </a:xfrm>
          <a:prstGeom prst="rect">
            <a:avLst/>
          </a:prstGeom>
          <a:noFill/>
          <a:ln/>
        </p:spPr>
        <p:txBody>
          <a:bodyPr wrap="square" lIns="0" tIns="0" rIns="0" bIns="0" rtlCol="0" anchor="ctr"/>
          <a:lstStyle/>
          <a:p>
            <a:pPr algn="l" indent="0" marL="0">
              <a:buNone/>
            </a:pPr>
            <a:r>
              <a:rPr lang="en-US" sz="1500" b="1" dirty="0">
                <a:solidFill>
                  <a:srgbClr val="7A4F9E"/>
                </a:solidFill>
                <a:latin typeface="Century Gothic" pitchFamily="34" charset="0"/>
                <a:ea typeface="Century Gothic" pitchFamily="34" charset="-122"/>
                <a:cs typeface="Century Gothic" pitchFamily="34" charset="-120"/>
              </a:rPr>
              <a:t>Two one-sided tests</a:t>
            </a:r>
            <a:endParaRPr lang="en-US" sz="1500" dirty="0"/>
          </a:p>
        </p:txBody>
      </p:sp>
      <p:sp>
        <p:nvSpPr>
          <p:cNvPr id="9" name="Text 7"/>
          <p:cNvSpPr/>
          <p:nvPr/>
        </p:nvSpPr>
        <p:spPr>
          <a:xfrm>
            <a:off x="877824" y="3529584"/>
            <a:ext cx="2743200" cy="475488"/>
          </a:xfrm>
          <a:prstGeom prst="rect">
            <a:avLst/>
          </a:prstGeom>
          <a:noFill/>
          <a:ln/>
        </p:spPr>
        <p:txBody>
          <a:bodyPr wrap="square" lIns="0" tIns="0" rIns="0" bIns="0" rtlCol="0" anchor="ctr"/>
          <a:lstStyle/>
          <a:p>
            <a:pPr algn="l" indent="0" marL="0">
              <a:buNone/>
            </a:pPr>
            <a:r>
              <a:rPr lang="en-US" sz="1300" dirty="0">
                <a:solidFill>
                  <a:srgbClr val="2A2118"/>
                </a:solidFill>
                <a:latin typeface="Calibri" pitchFamily="34" charset="0"/>
                <a:ea typeface="Calibri" pitchFamily="34" charset="-122"/>
                <a:cs typeface="Calibri" pitchFamily="34" charset="-120"/>
              </a:rPr>
              <a:t>gap is below +2.99</a:t>
            </a:r>
            <a:endParaRPr lang="en-US" sz="1300" dirty="0"/>
          </a:p>
        </p:txBody>
      </p:sp>
      <p:sp>
        <p:nvSpPr>
          <p:cNvPr id="10" name="Text 8"/>
          <p:cNvSpPr/>
          <p:nvPr/>
        </p:nvSpPr>
        <p:spPr>
          <a:xfrm>
            <a:off x="3383280" y="3529584"/>
            <a:ext cx="2377440" cy="475488"/>
          </a:xfrm>
          <a:prstGeom prst="rect">
            <a:avLst/>
          </a:prstGeom>
          <a:noFill/>
          <a:ln/>
        </p:spPr>
        <p:txBody>
          <a:bodyPr wrap="square" lIns="0" tIns="0" rIns="0" bIns="0" rtlCol="0" anchor="ctr"/>
          <a:lstStyle/>
          <a:p>
            <a:pPr algn="r" indent="0" marL="0">
              <a:buNone/>
            </a:pPr>
            <a:r>
              <a:rPr lang="en-US" sz="1300" b="1" dirty="0">
                <a:solidFill>
                  <a:srgbClr val="7A4F9E"/>
                </a:solidFill>
                <a:latin typeface="Consolas" pitchFamily="34" charset="0"/>
                <a:ea typeface="Consolas" pitchFamily="34" charset="-122"/>
                <a:cs typeface="Consolas" pitchFamily="34" charset="-120"/>
              </a:rPr>
              <a:t>p = 4.7e-08</a:t>
            </a:r>
            <a:endParaRPr lang="en-US" sz="1300" dirty="0"/>
          </a:p>
        </p:txBody>
      </p:sp>
      <p:sp>
        <p:nvSpPr>
          <p:cNvPr id="11" name="Text 9"/>
          <p:cNvSpPr/>
          <p:nvPr/>
        </p:nvSpPr>
        <p:spPr>
          <a:xfrm>
            <a:off x="877824" y="4096512"/>
            <a:ext cx="2743200" cy="475488"/>
          </a:xfrm>
          <a:prstGeom prst="rect">
            <a:avLst/>
          </a:prstGeom>
          <a:noFill/>
          <a:ln/>
        </p:spPr>
        <p:txBody>
          <a:bodyPr wrap="square" lIns="0" tIns="0" rIns="0" bIns="0" rtlCol="0" anchor="ctr"/>
          <a:lstStyle/>
          <a:p>
            <a:pPr algn="l" indent="0" marL="0">
              <a:buNone/>
            </a:pPr>
            <a:r>
              <a:rPr lang="en-US" sz="1300" dirty="0">
                <a:solidFill>
                  <a:srgbClr val="2A2118"/>
                </a:solidFill>
                <a:latin typeface="Calibri" pitchFamily="34" charset="0"/>
                <a:ea typeface="Calibri" pitchFamily="34" charset="-122"/>
                <a:cs typeface="Calibri" pitchFamily="34" charset="-120"/>
              </a:rPr>
              <a:t>gap is above -2.99</a:t>
            </a:r>
            <a:endParaRPr lang="en-US" sz="1300" dirty="0"/>
          </a:p>
        </p:txBody>
      </p:sp>
      <p:sp>
        <p:nvSpPr>
          <p:cNvPr id="12" name="Text 10"/>
          <p:cNvSpPr/>
          <p:nvPr/>
        </p:nvSpPr>
        <p:spPr>
          <a:xfrm>
            <a:off x="3383280" y="4096512"/>
            <a:ext cx="2377440" cy="475488"/>
          </a:xfrm>
          <a:prstGeom prst="rect">
            <a:avLst/>
          </a:prstGeom>
          <a:noFill/>
          <a:ln/>
        </p:spPr>
        <p:txBody>
          <a:bodyPr wrap="square" lIns="0" tIns="0" rIns="0" bIns="0" rtlCol="0" anchor="ctr"/>
          <a:lstStyle/>
          <a:p>
            <a:pPr algn="r" indent="0" marL="0">
              <a:buNone/>
            </a:pPr>
            <a:r>
              <a:rPr lang="en-US" sz="1300" b="1" dirty="0">
                <a:solidFill>
                  <a:srgbClr val="7A4F9E"/>
                </a:solidFill>
                <a:latin typeface="Consolas" pitchFamily="34" charset="0"/>
                <a:ea typeface="Consolas" pitchFamily="34" charset="-122"/>
                <a:cs typeface="Consolas" pitchFamily="34" charset="-120"/>
              </a:rPr>
              <a:t>p = 2.4e-13</a:t>
            </a:r>
            <a:endParaRPr lang="en-US" sz="1300" dirty="0"/>
          </a:p>
        </p:txBody>
      </p:sp>
      <p:sp>
        <p:nvSpPr>
          <p:cNvPr id="13" name="Text 11"/>
          <p:cNvSpPr/>
          <p:nvPr/>
        </p:nvSpPr>
        <p:spPr>
          <a:xfrm>
            <a:off x="877824" y="4754880"/>
            <a:ext cx="4754880" cy="457200"/>
          </a:xfrm>
          <a:prstGeom prst="rect">
            <a:avLst/>
          </a:prstGeom>
          <a:noFill/>
          <a:ln/>
        </p:spPr>
        <p:txBody>
          <a:bodyPr wrap="square" lIns="0" tIns="0" rIns="0" bIns="0" rtlCol="0" anchor="ctr"/>
          <a:lstStyle/>
          <a:p>
            <a:pPr algn="l" indent="0" marL="0">
              <a:buNone/>
            </a:pPr>
            <a:r>
              <a:rPr lang="en-US" sz="1350" b="1" dirty="0">
                <a:solidFill>
                  <a:srgbClr val="7A4F9E"/>
                </a:solidFill>
                <a:latin typeface="Century Gothic" pitchFamily="34" charset="0"/>
                <a:ea typeface="Century Gothic" pitchFamily="34" charset="-122"/>
                <a:cs typeface="Century Gothic" pitchFamily="34" charset="-120"/>
              </a:rPr>
              <a:t>Both rejected. The gap is smaller than a bettor needs.</a:t>
            </a:r>
            <a:endParaRPr lang="en-US" sz="1350" dirty="0"/>
          </a:p>
        </p:txBody>
      </p:sp>
      <p:sp>
        <p:nvSpPr>
          <p:cNvPr id="14" name="Shape 12"/>
          <p:cNvSpPr/>
          <p:nvPr/>
        </p:nvSpPr>
        <p:spPr>
          <a:xfrm>
            <a:off x="6263640" y="2880360"/>
            <a:ext cx="5358384" cy="2606040"/>
          </a:xfrm>
          <a:prstGeom prst="roundRect">
            <a:avLst>
              <a:gd name="adj" fmla="val 5614"/>
            </a:avLst>
          </a:prstGeom>
          <a:solidFill>
            <a:srgbClr val="FDEEDC"/>
          </a:solidFill>
          <a:ln/>
        </p:spPr>
      </p:sp>
      <p:sp>
        <p:nvSpPr>
          <p:cNvPr id="15" name="Text 13"/>
          <p:cNvSpPr/>
          <p:nvPr/>
        </p:nvSpPr>
        <p:spPr>
          <a:xfrm>
            <a:off x="6574536" y="3118104"/>
            <a:ext cx="4736592" cy="365760"/>
          </a:xfrm>
          <a:prstGeom prst="rect">
            <a:avLst/>
          </a:prstGeom>
          <a:noFill/>
          <a:ln/>
        </p:spPr>
        <p:txBody>
          <a:bodyPr wrap="square" lIns="0" tIns="0" rIns="0" bIns="0" rtlCol="0" anchor="ctr"/>
          <a:lstStyle/>
          <a:p>
            <a:pPr algn="l" indent="0" marL="0">
              <a:buNone/>
            </a:pPr>
            <a:r>
              <a:rPr lang="en-US" sz="1500" b="1" dirty="0">
                <a:solidFill>
                  <a:srgbClr val="6E5A48"/>
                </a:solidFill>
                <a:latin typeface="Century Gothic" pitchFamily="34" charset="0"/>
                <a:ea typeface="Century Gothic" pitchFamily="34" charset="-122"/>
                <a:cs typeface="Century Gothic" pitchFamily="34" charset="-120"/>
              </a:rPr>
              <a:t>And the intervals agree on their own</a:t>
            </a:r>
            <a:endParaRPr lang="en-US" sz="1500" dirty="0"/>
          </a:p>
        </p:txBody>
      </p:sp>
      <p:sp>
        <p:nvSpPr>
          <p:cNvPr id="16" name="Text 14"/>
          <p:cNvSpPr/>
          <p:nvPr/>
        </p:nvSpPr>
        <p:spPr>
          <a:xfrm>
            <a:off x="6574536" y="3529584"/>
            <a:ext cx="3108960" cy="475488"/>
          </a:xfrm>
          <a:prstGeom prst="rect">
            <a:avLst/>
          </a:prstGeom>
          <a:noFill/>
          <a:ln/>
        </p:spPr>
        <p:txBody>
          <a:bodyPr wrap="square" lIns="0" tIns="0" rIns="0" bIns="0" rtlCol="0" anchor="ctr"/>
          <a:lstStyle/>
          <a:p>
            <a:pPr algn="l" indent="0" marL="0">
              <a:buNone/>
            </a:pPr>
            <a:r>
              <a:rPr lang="en-US" sz="1300" dirty="0">
                <a:solidFill>
                  <a:srgbClr val="2A2118"/>
                </a:solidFill>
                <a:latin typeface="Calibri" pitchFamily="34" charset="0"/>
                <a:ea typeface="Calibri" pitchFamily="34" charset="-122"/>
                <a:cs typeface="Calibri" pitchFamily="34" charset="-120"/>
              </a:rPr>
              <a:t>Primary 95% upper bound</a:t>
            </a:r>
            <a:endParaRPr lang="en-US" sz="1300" dirty="0"/>
          </a:p>
        </p:txBody>
      </p:sp>
      <p:sp>
        <p:nvSpPr>
          <p:cNvPr id="17" name="Text 15"/>
          <p:cNvSpPr/>
          <p:nvPr/>
        </p:nvSpPr>
        <p:spPr>
          <a:xfrm>
            <a:off x="9784080" y="3529584"/>
            <a:ext cx="1554480" cy="475488"/>
          </a:xfrm>
          <a:prstGeom prst="rect">
            <a:avLst/>
          </a:prstGeom>
          <a:noFill/>
          <a:ln/>
        </p:spPr>
        <p:txBody>
          <a:bodyPr wrap="square" lIns="0" tIns="0" rIns="0" bIns="0" rtlCol="0" anchor="ctr"/>
          <a:lstStyle/>
          <a:p>
            <a:pPr algn="r" indent="0" marL="0">
              <a:buNone/>
            </a:pPr>
            <a:r>
              <a:rPr lang="en-US" sz="1300" b="1" dirty="0">
                <a:solidFill>
                  <a:srgbClr val="0F8A6E"/>
                </a:solidFill>
                <a:latin typeface="Consolas" pitchFamily="34" charset="0"/>
                <a:ea typeface="Consolas" pitchFamily="34" charset="-122"/>
                <a:cs typeface="Consolas" pitchFamily="34" charset="-120"/>
              </a:rPr>
              <a:t>+1.51</a:t>
            </a:r>
            <a:endParaRPr lang="en-US" sz="1300" dirty="0"/>
          </a:p>
        </p:txBody>
      </p:sp>
      <p:sp>
        <p:nvSpPr>
          <p:cNvPr id="18" name="Text 16"/>
          <p:cNvSpPr/>
          <p:nvPr/>
        </p:nvSpPr>
        <p:spPr>
          <a:xfrm>
            <a:off x="6574536" y="4096512"/>
            <a:ext cx="3108960" cy="475488"/>
          </a:xfrm>
          <a:prstGeom prst="rect">
            <a:avLst/>
          </a:prstGeom>
          <a:noFill/>
          <a:ln/>
        </p:spPr>
        <p:txBody>
          <a:bodyPr wrap="square" lIns="0" tIns="0" rIns="0" bIns="0" rtlCol="0" anchor="ctr"/>
          <a:lstStyle/>
          <a:p>
            <a:pPr algn="l" indent="0" marL="0">
              <a:buNone/>
            </a:pPr>
            <a:r>
              <a:rPr lang="en-US" sz="1300" dirty="0">
                <a:solidFill>
                  <a:srgbClr val="2A2118"/>
                </a:solidFill>
                <a:latin typeface="Calibri" pitchFamily="34" charset="0"/>
                <a:ea typeface="Calibri" pitchFamily="34" charset="-122"/>
                <a:cs typeface="Calibri" pitchFamily="34" charset="-120"/>
              </a:rPr>
              <a:t>Team bootstrap upper bound</a:t>
            </a:r>
            <a:endParaRPr lang="en-US" sz="1300" dirty="0"/>
          </a:p>
        </p:txBody>
      </p:sp>
      <p:sp>
        <p:nvSpPr>
          <p:cNvPr id="19" name="Text 17"/>
          <p:cNvSpPr/>
          <p:nvPr/>
        </p:nvSpPr>
        <p:spPr>
          <a:xfrm>
            <a:off x="9784080" y="4096512"/>
            <a:ext cx="1554480" cy="475488"/>
          </a:xfrm>
          <a:prstGeom prst="rect">
            <a:avLst/>
          </a:prstGeom>
          <a:noFill/>
          <a:ln/>
        </p:spPr>
        <p:txBody>
          <a:bodyPr wrap="square" lIns="0" tIns="0" rIns="0" bIns="0" rtlCol="0" anchor="ctr"/>
          <a:lstStyle/>
          <a:p>
            <a:pPr algn="r" indent="0" marL="0">
              <a:buNone/>
            </a:pPr>
            <a:r>
              <a:rPr lang="en-US" sz="1300" b="1" dirty="0">
                <a:solidFill>
                  <a:srgbClr val="0F8A6E"/>
                </a:solidFill>
                <a:latin typeface="Consolas" pitchFamily="34" charset="0"/>
                <a:ea typeface="Consolas" pitchFamily="34" charset="-122"/>
                <a:cs typeface="Consolas" pitchFamily="34" charset="-120"/>
              </a:rPr>
              <a:t>+1.57</a:t>
            </a:r>
            <a:endParaRPr lang="en-US" sz="1300" dirty="0"/>
          </a:p>
        </p:txBody>
      </p:sp>
      <p:sp>
        <p:nvSpPr>
          <p:cNvPr id="20" name="Text 18"/>
          <p:cNvSpPr/>
          <p:nvPr/>
        </p:nvSpPr>
        <p:spPr>
          <a:xfrm>
            <a:off x="6574536" y="4663440"/>
            <a:ext cx="3108960" cy="475488"/>
          </a:xfrm>
          <a:prstGeom prst="rect">
            <a:avLst/>
          </a:prstGeom>
          <a:noFill/>
          <a:ln/>
        </p:spPr>
        <p:txBody>
          <a:bodyPr wrap="square" lIns="0" tIns="0" rIns="0" bIns="0" rtlCol="0" anchor="ctr"/>
          <a:lstStyle/>
          <a:p>
            <a:pPr algn="l" indent="0" marL="0">
              <a:buNone/>
            </a:pPr>
            <a:r>
              <a:rPr lang="en-US" sz="1300" dirty="0">
                <a:solidFill>
                  <a:srgbClr val="2A2118"/>
                </a:solidFill>
                <a:latin typeface="Calibri" pitchFamily="34" charset="0"/>
                <a:ea typeface="Calibri" pitchFamily="34" charset="-122"/>
                <a:cs typeface="Calibri" pitchFamily="34" charset="-120"/>
              </a:rPr>
              <a:t>What a bettor needs</a:t>
            </a:r>
            <a:endParaRPr lang="en-US" sz="1300" dirty="0"/>
          </a:p>
        </p:txBody>
      </p:sp>
      <p:sp>
        <p:nvSpPr>
          <p:cNvPr id="21" name="Text 19"/>
          <p:cNvSpPr/>
          <p:nvPr/>
        </p:nvSpPr>
        <p:spPr>
          <a:xfrm>
            <a:off x="9784080" y="4663440"/>
            <a:ext cx="1554480" cy="475488"/>
          </a:xfrm>
          <a:prstGeom prst="rect">
            <a:avLst/>
          </a:prstGeom>
          <a:noFill/>
          <a:ln/>
        </p:spPr>
        <p:txBody>
          <a:bodyPr wrap="square" lIns="0" tIns="0" rIns="0" bIns="0" rtlCol="0" anchor="ctr"/>
          <a:lstStyle/>
          <a:p>
            <a:pPr algn="r" indent="0" marL="0">
              <a:buNone/>
            </a:pPr>
            <a:r>
              <a:rPr lang="en-US" sz="1300" b="1" dirty="0">
                <a:solidFill>
                  <a:srgbClr val="DB5A28"/>
                </a:solidFill>
                <a:latin typeface="Consolas" pitchFamily="34" charset="0"/>
                <a:ea typeface="Consolas" pitchFamily="34" charset="-122"/>
                <a:cs typeface="Consolas" pitchFamily="34" charset="-120"/>
              </a:rPr>
              <a:t>+2.99</a:t>
            </a:r>
            <a:endParaRPr lang="en-US" sz="1300" dirty="0"/>
          </a:p>
        </p:txBody>
      </p:sp>
      <p:sp>
        <p:nvSpPr>
          <p:cNvPr id="22" name="Text 20"/>
          <p:cNvSpPr/>
          <p:nvPr/>
        </p:nvSpPr>
        <p:spPr>
          <a:xfrm>
            <a:off x="566928" y="6254496"/>
            <a:ext cx="11055096" cy="365760"/>
          </a:xfrm>
          <a:prstGeom prst="rect">
            <a:avLst/>
          </a:prstGeom>
          <a:noFill/>
          <a:ln/>
        </p:spPr>
        <p:txBody>
          <a:bodyPr wrap="square" lIns="0" tIns="0" rIns="0" bIns="0" rtlCol="0" anchor="ctr"/>
          <a:lstStyle/>
          <a:p>
            <a:pPr algn="l" indent="0" marL="0">
              <a:buNone/>
            </a:pPr>
            <a:r>
              <a:rPr lang="en-US" sz="1050" i="1" dirty="0">
                <a:solidFill>
                  <a:srgbClr val="6E5A48"/>
                </a:solidFill>
                <a:latin typeface="Calibri" pitchFamily="34" charset="0"/>
                <a:ea typeface="Calibri" pitchFamily="34" charset="-122"/>
                <a:cs typeface="Calibri" pitchFamily="34" charset="-120"/>
              </a:rPr>
              <a:t>An 80% minimum detectable effect is not a confidence bound. An earlier draft used it as one; that argument is gone.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7EC"/>
        </a:solidFill>
      </p:bgPr>
    </p:bg>
    <p:spTree>
      <p:nvGrpSpPr>
        <p:cNvPr id="1" name=""/>
        <p:cNvGrpSpPr/>
        <p:nvPr/>
      </p:nvGrpSpPr>
      <p:grpSpPr>
        <a:xfrm>
          <a:off x="0" y="0"/>
          <a:ext cx="0" cy="0"/>
          <a:chOff x="0" y="0"/>
          <a:chExt cx="0" cy="0"/>
        </a:xfrm>
      </p:grpSpPr>
      <p:sp>
        <p:nvSpPr>
          <p:cNvPr id="2" name="Shape 0"/>
          <p:cNvSpPr/>
          <p:nvPr/>
        </p:nvSpPr>
        <p:spPr>
          <a:xfrm>
            <a:off x="566928" y="310896"/>
            <a:ext cx="4946904" cy="384048"/>
          </a:xfrm>
          <a:prstGeom prst="roundRect">
            <a:avLst>
              <a:gd name="adj" fmla="val 119048"/>
            </a:avLst>
          </a:prstGeom>
          <a:solidFill>
            <a:srgbClr val="9A6410"/>
          </a:solidFill>
          <a:ln/>
        </p:spPr>
      </p:sp>
      <p:sp>
        <p:nvSpPr>
          <p:cNvPr id="3" name="Text 1"/>
          <p:cNvSpPr/>
          <p:nvPr/>
        </p:nvSpPr>
        <p:spPr>
          <a:xfrm>
            <a:off x="566928" y="310896"/>
            <a:ext cx="4946904" cy="384048"/>
          </a:xfrm>
          <a:prstGeom prst="rect">
            <a:avLst/>
          </a:prstGeom>
          <a:noFill/>
          <a:ln/>
        </p:spPr>
        <p:txBody>
          <a:bodyPr wrap="square" lIns="0" tIns="0" rIns="0" bIns="0" rtlCol="0" anchor="ctr"/>
          <a:lstStyle/>
          <a:p>
            <a:pPr algn="ctr" indent="0" marL="0">
              <a:buNone/>
            </a:pPr>
            <a:r>
              <a:rPr lang="en-US" sz="1050" b="1" spc="140" kern="0" dirty="0">
                <a:solidFill>
                  <a:srgbClr val="FFFFFF"/>
                </a:solidFill>
                <a:latin typeface="Calibri" pitchFamily="34" charset="0"/>
                <a:ea typeface="Calibri" pitchFamily="34" charset="-122"/>
                <a:cs typeface="Calibri" pitchFamily="34" charset="-120"/>
              </a:rPr>
              <a:t>THE BAR, DERIVED RATHER THAN GUESSED</a:t>
            </a:r>
            <a:endParaRPr lang="en-US" sz="1050" dirty="0"/>
          </a:p>
        </p:txBody>
      </p:sp>
      <p:sp>
        <p:nvSpPr>
          <p:cNvPr id="4" name="Text 2"/>
          <p:cNvSpPr/>
          <p:nvPr/>
        </p:nvSpPr>
        <p:spPr>
          <a:xfrm>
            <a:off x="566928" y="841248"/>
            <a:ext cx="11055096" cy="786384"/>
          </a:xfrm>
          <a:prstGeom prst="rect">
            <a:avLst/>
          </a:prstGeom>
          <a:noFill/>
          <a:ln/>
        </p:spPr>
        <p:txBody>
          <a:bodyPr wrap="square" lIns="0" tIns="0" rIns="0" bIns="0" rtlCol="0" anchor="ctr"/>
          <a:lstStyle/>
          <a:p>
            <a:pPr algn="l" indent="0" marL="0">
              <a:buNone/>
            </a:pPr>
            <a:r>
              <a:rPr lang="en-US" sz="3100" b="1" dirty="0">
                <a:solidFill>
                  <a:srgbClr val="2A2118"/>
                </a:solidFill>
                <a:latin typeface="Century Gothic" pitchFamily="34" charset="0"/>
                <a:ea typeface="Century Gothic" pitchFamily="34" charset="-122"/>
                <a:cs typeface="Century Gothic" pitchFamily="34" charset="-120"/>
              </a:rPr>
              <a:t>How big does a gap have to be to be worth money?</a:t>
            </a:r>
            <a:endParaRPr lang="en-US" sz="3100" dirty="0"/>
          </a:p>
        </p:txBody>
      </p:sp>
      <p:sp>
        <p:nvSpPr>
          <p:cNvPr id="5" name="Shape 3"/>
          <p:cNvSpPr/>
          <p:nvPr/>
        </p:nvSpPr>
        <p:spPr>
          <a:xfrm>
            <a:off x="566928" y="1783080"/>
            <a:ext cx="11055096" cy="914400"/>
          </a:xfrm>
          <a:prstGeom prst="roundRect">
            <a:avLst>
              <a:gd name="adj" fmla="val 16000"/>
            </a:avLst>
          </a:prstGeom>
          <a:solidFill>
            <a:srgbClr val="2E63C8"/>
          </a:solidFill>
          <a:ln/>
        </p:spPr>
      </p:sp>
      <p:sp>
        <p:nvSpPr>
          <p:cNvPr id="6" name="Text 4"/>
          <p:cNvSpPr/>
          <p:nvPr/>
        </p:nvSpPr>
        <p:spPr>
          <a:xfrm>
            <a:off x="566928" y="1783080"/>
            <a:ext cx="11055096" cy="914400"/>
          </a:xfrm>
          <a:prstGeom prst="rect">
            <a:avLst/>
          </a:prstGeom>
          <a:noFill/>
          <a:ln/>
        </p:spPr>
        <p:txBody>
          <a:bodyPr wrap="square" lIns="0" tIns="0" rIns="0" bIns="0" rtlCol="0" anchor="ctr"/>
          <a:lstStyle/>
          <a:p>
            <a:pPr algn="ctr" indent="0" marL="0">
              <a:buNone/>
            </a:pPr>
            <a:r>
              <a:rPr lang="en-US" sz="1900" b="1" dirty="0">
                <a:solidFill>
                  <a:srgbClr val="FFFFFF"/>
                </a:solidFill>
                <a:latin typeface="Consolas" pitchFamily="34" charset="0"/>
                <a:ea typeface="Consolas" pitchFamily="34" charset="-122"/>
                <a:cs typeface="Consolas" pitchFamily="34" charset="-120"/>
              </a:rPr>
              <a:t>expected return  =  true probability / raw price  −  1</a:t>
            </a:r>
            <a:endParaRPr lang="en-US" sz="1900" dirty="0"/>
          </a:p>
        </p:txBody>
      </p:sp>
      <p:sp>
        <p:nvSpPr>
          <p:cNvPr id="7" name="Shape 5"/>
          <p:cNvSpPr/>
          <p:nvPr/>
        </p:nvSpPr>
        <p:spPr>
          <a:xfrm>
            <a:off x="566928" y="2907792"/>
            <a:ext cx="5358384" cy="2606040"/>
          </a:xfrm>
          <a:prstGeom prst="roundRect">
            <a:avLst>
              <a:gd name="adj" fmla="val 5614"/>
            </a:avLst>
          </a:prstGeom>
          <a:solidFill>
            <a:srgbClr val="FDEEDC"/>
          </a:solidFill>
          <a:ln/>
        </p:spPr>
      </p:sp>
      <p:sp>
        <p:nvSpPr>
          <p:cNvPr id="8" name="Text 6"/>
          <p:cNvSpPr/>
          <p:nvPr/>
        </p:nvSpPr>
        <p:spPr>
          <a:xfrm>
            <a:off x="950976" y="3182112"/>
            <a:ext cx="4572000" cy="2103120"/>
          </a:xfrm>
          <a:prstGeom prst="rect">
            <a:avLst/>
          </a:prstGeom>
          <a:noFill/>
          <a:ln/>
        </p:spPr>
        <p:txBody>
          <a:bodyPr wrap="square" lIns="0" tIns="0" rIns="0" bIns="0" rtlCol="0" anchor="t"/>
          <a:lstStyle/>
          <a:p>
            <a:pPr algn="l" indent="0" marL="0">
              <a:lnSpc>
                <a:spcPct val="134000"/>
              </a:lnSpc>
              <a:buNone/>
            </a:pPr>
            <a:r>
              <a:rPr lang="en-US" sz="1350" dirty="0">
                <a:solidFill>
                  <a:srgbClr val="2A2118"/>
                </a:solidFill>
                <a:latin typeface="Calibri" pitchFamily="34" charset="0"/>
                <a:ea typeface="Calibri" pitchFamily="34" charset="-122"/>
                <a:cs typeface="Calibri" pitchFamily="34" charset="-120"/>
              </a:rPr>
              <a:t>Set that to zero and solve. The portfolio breaks even on a gap weighted by 1 / raw probability, not on a plain average.</a:t>
            </a:r>
            <a:endParaRPr lang="en-US" sz="1350" dirty="0"/>
          </a:p>
          <a:p>
            <a:pPr algn="l" indent="0" marL="0">
              <a:lnSpc>
                <a:spcPct val="134000"/>
              </a:lnSpc>
              <a:buNone/>
            </a:pPr>
            <a:endParaRPr lang="en-US" sz="1350" dirty="0"/>
          </a:p>
          <a:p>
            <a:pPr algn="l" indent="0" marL="0">
              <a:lnSpc>
                <a:spcPct val="134000"/>
              </a:lnSpc>
              <a:buNone/>
            </a:pPr>
            <a:r>
              <a:rPr lang="en-US" sz="1350" dirty="0">
                <a:solidFill>
                  <a:srgbClr val="2A2118"/>
                </a:solidFill>
                <a:latin typeface="Calibri" pitchFamily="34" charset="0"/>
                <a:ea typeface="Calibri" pitchFamily="34" charset="-122"/>
                <a:cs typeface="Calibri" pitchFamily="34" charset="-120"/>
              </a:rPr>
              <a:t>The paper originally quoted the plain average. The exact answer is two hundredths of a point away.</a:t>
            </a:r>
            <a:endParaRPr lang="en-US" sz="1350" dirty="0"/>
          </a:p>
        </p:txBody>
      </p:sp>
      <p:sp>
        <p:nvSpPr>
          <p:cNvPr id="9" name="Shape 7"/>
          <p:cNvSpPr/>
          <p:nvPr/>
        </p:nvSpPr>
        <p:spPr>
          <a:xfrm>
            <a:off x="6263640" y="2907792"/>
            <a:ext cx="5358384" cy="1207008"/>
          </a:xfrm>
          <a:prstGeom prst="roundRect">
            <a:avLst>
              <a:gd name="adj" fmla="val 12121"/>
            </a:avLst>
          </a:prstGeom>
          <a:solidFill>
            <a:srgbClr val="6E5A48"/>
          </a:solidFill>
          <a:ln/>
        </p:spPr>
      </p:sp>
      <p:sp>
        <p:nvSpPr>
          <p:cNvPr id="10" name="Text 8"/>
          <p:cNvSpPr/>
          <p:nvPr/>
        </p:nvSpPr>
        <p:spPr>
          <a:xfrm>
            <a:off x="6519672" y="3054096"/>
            <a:ext cx="4901184" cy="663854"/>
          </a:xfrm>
          <a:prstGeom prst="rect">
            <a:avLst/>
          </a:prstGeom>
          <a:noFill/>
          <a:ln/>
        </p:spPr>
        <p:txBody>
          <a:bodyPr wrap="square" lIns="0" tIns="0" rIns="0" bIns="0" rtlCol="0" anchor="ctr"/>
          <a:lstStyle/>
          <a:p>
            <a:pPr algn="l" indent="0" marL="0">
              <a:buNone/>
            </a:pPr>
            <a:r>
              <a:rPr lang="en-US" sz="3000" b="1" dirty="0">
                <a:solidFill>
                  <a:srgbClr val="FFFFFF"/>
                </a:solidFill>
                <a:latin typeface="Century Gothic" pitchFamily="34" charset="0"/>
                <a:ea typeface="Century Gothic" pitchFamily="34" charset="-122"/>
                <a:cs typeface="Century Gothic" pitchFamily="34" charset="-120"/>
              </a:rPr>
              <a:t>3.0126 pp</a:t>
            </a:r>
            <a:endParaRPr lang="en-US" sz="3000" dirty="0"/>
          </a:p>
        </p:txBody>
      </p:sp>
      <p:sp>
        <p:nvSpPr>
          <p:cNvPr id="11" name="Text 9"/>
          <p:cNvSpPr/>
          <p:nvPr/>
        </p:nvSpPr>
        <p:spPr>
          <a:xfrm>
            <a:off x="6519672" y="3656137"/>
            <a:ext cx="4901184" cy="386243"/>
          </a:xfrm>
          <a:prstGeom prst="rect">
            <a:avLst/>
          </a:prstGeom>
          <a:noFill/>
          <a:ln/>
        </p:spPr>
        <p:txBody>
          <a:bodyPr wrap="square" lIns="0" tIns="0" rIns="0" bIns="0" rtlCol="0" anchor="t"/>
          <a:lstStyle/>
          <a:p>
            <a:pPr algn="l" indent="0" marL="0">
              <a:lnSpc>
                <a:spcPct val="110000"/>
              </a:lnSpc>
              <a:buNone/>
            </a:pPr>
            <a:r>
              <a:rPr lang="en-US" sz="1150" dirty="0">
                <a:solidFill>
                  <a:srgbClr val="FFFFFF"/>
                </a:solidFill>
                <a:latin typeface="Calibri" pitchFamily="34" charset="0"/>
                <a:ea typeface="Calibri" pitchFamily="34" charset="-122"/>
                <a:cs typeface="Calibri" pitchFamily="34" charset="-120"/>
              </a:rPr>
              <a:t>plain average, what the paper quoted</a:t>
            </a:r>
            <a:endParaRPr lang="en-US" sz="1150" dirty="0"/>
          </a:p>
        </p:txBody>
      </p:sp>
      <p:sp>
        <p:nvSpPr>
          <p:cNvPr id="12" name="Shape 10"/>
          <p:cNvSpPr/>
          <p:nvPr/>
        </p:nvSpPr>
        <p:spPr>
          <a:xfrm>
            <a:off x="6263640" y="4306824"/>
            <a:ext cx="5358384" cy="1207008"/>
          </a:xfrm>
          <a:prstGeom prst="roundRect">
            <a:avLst>
              <a:gd name="adj" fmla="val 12121"/>
            </a:avLst>
          </a:prstGeom>
          <a:solidFill>
            <a:srgbClr val="DB5A28"/>
          </a:solidFill>
          <a:ln/>
        </p:spPr>
      </p:sp>
      <p:sp>
        <p:nvSpPr>
          <p:cNvPr id="13" name="Text 11"/>
          <p:cNvSpPr/>
          <p:nvPr/>
        </p:nvSpPr>
        <p:spPr>
          <a:xfrm>
            <a:off x="6519672" y="4453128"/>
            <a:ext cx="4901184" cy="663854"/>
          </a:xfrm>
          <a:prstGeom prst="rect">
            <a:avLst/>
          </a:prstGeom>
          <a:noFill/>
          <a:ln/>
        </p:spPr>
        <p:txBody>
          <a:bodyPr wrap="square" lIns="0" tIns="0" rIns="0" bIns="0" rtlCol="0" anchor="ctr"/>
          <a:lstStyle/>
          <a:p>
            <a:pPr algn="l" indent="0" marL="0">
              <a:buNone/>
            </a:pPr>
            <a:r>
              <a:rPr lang="en-US" sz="3000" b="1" dirty="0">
                <a:solidFill>
                  <a:srgbClr val="FFFFFF"/>
                </a:solidFill>
                <a:latin typeface="Century Gothic" pitchFamily="34" charset="0"/>
                <a:ea typeface="Century Gothic" pitchFamily="34" charset="-122"/>
                <a:cs typeface="Century Gothic" pitchFamily="34" charset="-120"/>
              </a:rPr>
              <a:t>2.9941 pp</a:t>
            </a:r>
            <a:endParaRPr lang="en-US" sz="3000" dirty="0"/>
          </a:p>
        </p:txBody>
      </p:sp>
      <p:sp>
        <p:nvSpPr>
          <p:cNvPr id="14" name="Text 12"/>
          <p:cNvSpPr/>
          <p:nvPr/>
        </p:nvSpPr>
        <p:spPr>
          <a:xfrm>
            <a:off x="6519672" y="5055169"/>
            <a:ext cx="4901184" cy="386243"/>
          </a:xfrm>
          <a:prstGeom prst="rect">
            <a:avLst/>
          </a:prstGeom>
          <a:noFill/>
          <a:ln/>
        </p:spPr>
        <p:txBody>
          <a:bodyPr wrap="square" lIns="0" tIns="0" rIns="0" bIns="0" rtlCol="0" anchor="t"/>
          <a:lstStyle/>
          <a:p>
            <a:pPr algn="l" indent="0" marL="0">
              <a:lnSpc>
                <a:spcPct val="110000"/>
              </a:lnSpc>
              <a:buNone/>
            </a:pPr>
            <a:r>
              <a:rPr lang="en-US" sz="1150" dirty="0">
                <a:solidFill>
                  <a:srgbClr val="FFFFFF"/>
                </a:solidFill>
                <a:latin typeface="Calibri" pitchFamily="34" charset="0"/>
                <a:ea typeface="Calibri" pitchFamily="34" charset="-122"/>
                <a:cs typeface="Calibri" pitchFamily="34" charset="-120"/>
              </a:rPr>
              <a:t>exact, what the tests now use</a:t>
            </a:r>
            <a:endParaRPr lang="en-US" sz="1150" dirty="0"/>
          </a:p>
        </p:txBody>
      </p:sp>
      <p:sp>
        <p:nvSpPr>
          <p:cNvPr id="15" name="Text 13"/>
          <p:cNvSpPr/>
          <p:nvPr/>
        </p:nvSpPr>
        <p:spPr>
          <a:xfrm>
            <a:off x="566928" y="6254496"/>
            <a:ext cx="11055096" cy="365760"/>
          </a:xfrm>
          <a:prstGeom prst="rect">
            <a:avLst/>
          </a:prstGeom>
          <a:noFill/>
          <a:ln/>
        </p:spPr>
        <p:txBody>
          <a:bodyPr wrap="square" lIns="0" tIns="0" rIns="0" bIns="0" rtlCol="0" anchor="ctr"/>
          <a:lstStyle/>
          <a:p>
            <a:pPr algn="l" indent="0" marL="0">
              <a:buNone/>
            </a:pPr>
            <a:r>
              <a:rPr lang="en-US" sz="1050" i="1" dirty="0">
                <a:solidFill>
                  <a:srgbClr val="6E5A48"/>
                </a:solidFill>
                <a:latin typeface="Calibri" pitchFamily="34" charset="0"/>
                <a:ea typeface="Calibri" pitchFamily="34" charset="-122"/>
                <a:cs typeface="Calibri" pitchFamily="34" charset="-120"/>
              </a:rPr>
              <a:t>If the whole bias sat in one decile of prices instead of spreading evenly, that decile would need a gap of 27 to 35 points. Nothing close exists here.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7EC"/>
        </a:solidFill>
      </p:bgPr>
    </p:bg>
    <p:spTree>
      <p:nvGrpSpPr>
        <p:cNvPr id="1" name=""/>
        <p:cNvGrpSpPr/>
        <p:nvPr/>
      </p:nvGrpSpPr>
      <p:grpSpPr>
        <a:xfrm>
          <a:off x="0" y="0"/>
          <a:ext cx="0" cy="0"/>
          <a:chOff x="0" y="0"/>
          <a:chExt cx="0" cy="0"/>
        </a:xfrm>
      </p:grpSpPr>
      <p:sp>
        <p:nvSpPr>
          <p:cNvPr id="2" name="Shape 0"/>
          <p:cNvSpPr/>
          <p:nvPr/>
        </p:nvSpPr>
        <p:spPr>
          <a:xfrm>
            <a:off x="566928" y="310896"/>
            <a:ext cx="1120140" cy="384048"/>
          </a:xfrm>
          <a:prstGeom prst="roundRect">
            <a:avLst>
              <a:gd name="adj" fmla="val 119048"/>
            </a:avLst>
          </a:prstGeom>
          <a:solidFill>
            <a:srgbClr val="DB5A28"/>
          </a:solidFill>
          <a:ln/>
        </p:spPr>
      </p:sp>
      <p:sp>
        <p:nvSpPr>
          <p:cNvPr id="3" name="Text 1"/>
          <p:cNvSpPr/>
          <p:nvPr/>
        </p:nvSpPr>
        <p:spPr>
          <a:xfrm>
            <a:off x="566928" y="310896"/>
            <a:ext cx="1120140" cy="384048"/>
          </a:xfrm>
          <a:prstGeom prst="rect">
            <a:avLst/>
          </a:prstGeom>
          <a:noFill/>
          <a:ln/>
        </p:spPr>
        <p:txBody>
          <a:bodyPr wrap="square" lIns="0" tIns="0" rIns="0" bIns="0" rtlCol="0" anchor="ctr"/>
          <a:lstStyle/>
          <a:p>
            <a:pPr algn="ctr" indent="0" marL="0">
              <a:buNone/>
            </a:pPr>
            <a:r>
              <a:rPr lang="en-US" sz="1050" b="1" spc="140" kern="0" dirty="0">
                <a:solidFill>
                  <a:srgbClr val="FFFFFF"/>
                </a:solidFill>
                <a:latin typeface="Calibri" pitchFamily="34" charset="0"/>
                <a:ea typeface="Calibri" pitchFamily="34" charset="-122"/>
                <a:cs typeface="Calibri" pitchFamily="34" charset="-120"/>
              </a:rPr>
              <a:t>POWER</a:t>
            </a:r>
            <a:endParaRPr lang="en-US" sz="1050" dirty="0"/>
          </a:p>
        </p:txBody>
      </p:sp>
      <p:sp>
        <p:nvSpPr>
          <p:cNvPr id="4" name="Text 2"/>
          <p:cNvSpPr/>
          <p:nvPr/>
        </p:nvSpPr>
        <p:spPr>
          <a:xfrm>
            <a:off x="566928" y="841248"/>
            <a:ext cx="11055096" cy="786384"/>
          </a:xfrm>
          <a:prstGeom prst="rect">
            <a:avLst/>
          </a:prstGeom>
          <a:noFill/>
          <a:ln/>
        </p:spPr>
        <p:txBody>
          <a:bodyPr wrap="square" lIns="0" tIns="0" rIns="0" bIns="0" rtlCol="0" anchor="ctr"/>
          <a:lstStyle/>
          <a:p>
            <a:pPr algn="l" indent="0" marL="0">
              <a:buNone/>
            </a:pPr>
            <a:r>
              <a:rPr lang="en-US" sz="3100" b="1" dirty="0">
                <a:solidFill>
                  <a:srgbClr val="2A2118"/>
                </a:solidFill>
                <a:latin typeface="Century Gothic" pitchFamily="34" charset="0"/>
                <a:ea typeface="Century Gothic" pitchFamily="34" charset="-122"/>
                <a:cs typeface="Century Gothic" pitchFamily="34" charset="-120"/>
              </a:rPr>
              <a:t>What size of gap could this design actually catch?</a:t>
            </a:r>
            <a:endParaRPr lang="en-US" sz="3100" dirty="0"/>
          </a:p>
        </p:txBody>
      </p:sp>
      <p:sp>
        <p:nvSpPr>
          <p:cNvPr id="5" name="Shape 3"/>
          <p:cNvSpPr/>
          <p:nvPr/>
        </p:nvSpPr>
        <p:spPr>
          <a:xfrm>
            <a:off x="566928" y="1737360"/>
            <a:ext cx="11055096" cy="4315968"/>
          </a:xfrm>
          <a:prstGeom prst="roundRect">
            <a:avLst>
              <a:gd name="adj" fmla="val 3390"/>
            </a:avLst>
          </a:prstGeom>
          <a:solidFill>
            <a:srgbClr val="FFFFFF"/>
          </a:solidFill>
          <a:ln/>
        </p:spPr>
      </p:sp>
      <p:pic>
        <p:nvPicPr>
          <p:cNvPr id="6" name="Image 0" descr="fig/deck_fig3.png">    </p:cNvPr>
          <p:cNvPicPr>
            <a:picLocks noChangeAspect="1"/>
          </p:cNvPicPr>
          <p:nvPr/>
        </p:nvPicPr>
        <p:blipFill>
          <a:blip r:embed="rId1"/>
          <a:stretch>
            <a:fillRect/>
          </a:stretch>
        </p:blipFill>
        <p:spPr>
          <a:xfrm>
            <a:off x="1572768" y="1847088"/>
            <a:ext cx="9043416" cy="4096512"/>
          </a:xfrm>
          <a:prstGeom prst="rect">
            <a:avLst/>
          </a:prstGeom>
        </p:spPr>
      </p:pic>
      <p:sp>
        <p:nvSpPr>
          <p:cNvPr id="7" name="Text 4"/>
          <p:cNvSpPr/>
          <p:nvPr/>
        </p:nvSpPr>
        <p:spPr>
          <a:xfrm>
            <a:off x="566928" y="6254496"/>
            <a:ext cx="11055096" cy="365760"/>
          </a:xfrm>
          <a:prstGeom prst="rect">
            <a:avLst/>
          </a:prstGeom>
          <a:noFill/>
          <a:ln/>
        </p:spPr>
        <p:txBody>
          <a:bodyPr wrap="square" lIns="0" tIns="0" rIns="0" bIns="0" rtlCol="0" anchor="ctr"/>
          <a:lstStyle/>
          <a:p>
            <a:pPr algn="l" indent="0" marL="0">
              <a:buNone/>
            </a:pPr>
            <a:r>
              <a:rPr lang="en-US" sz="1050" i="1" dirty="0">
                <a:solidFill>
                  <a:srgbClr val="6E5A48"/>
                </a:solidFill>
                <a:latin typeface="Calibri" pitchFamily="34" charset="0"/>
                <a:ea typeface="Calibri" pitchFamily="34" charset="-122"/>
                <a:cs typeface="Calibri" pitchFamily="34" charset="-120"/>
              </a:rPr>
              <a:t>Above 99.9% power at the break-even margin, 80% at 1.33 points, about 11% for the 74-game bucket. No mark is taken from anyone else’s paper.</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7A4F9E"/>
        </a:solidFill>
      </p:bgPr>
    </p:bg>
    <p:spTree>
      <p:nvGrpSpPr>
        <p:cNvPr id="1" name=""/>
        <p:cNvGrpSpPr/>
        <p:nvPr/>
      </p:nvGrpSpPr>
      <p:grpSpPr>
        <a:xfrm>
          <a:off x="0" y="0"/>
          <a:ext cx="0" cy="0"/>
          <a:chOff x="0" y="0"/>
          <a:chExt cx="0" cy="0"/>
        </a:xfrm>
      </p:grpSpPr>
      <p:sp>
        <p:nvSpPr>
          <p:cNvPr id="2" name="Shape 0"/>
          <p:cNvSpPr/>
          <p:nvPr/>
        </p:nvSpPr>
        <p:spPr>
          <a:xfrm>
            <a:off x="-1280160" y="-1097280"/>
            <a:ext cx="3657600" cy="3657600"/>
          </a:xfrm>
          <a:prstGeom prst="ellipse">
            <a:avLst/>
          </a:prstGeom>
          <a:solidFill>
            <a:srgbClr val="FFFFFF">
              <a:alpha val="12000"/>
            </a:srgbClr>
          </a:solidFill>
          <a:ln/>
        </p:spPr>
      </p:sp>
      <p:sp>
        <p:nvSpPr>
          <p:cNvPr id="3" name="Shape 1"/>
          <p:cNvSpPr/>
          <p:nvPr/>
        </p:nvSpPr>
        <p:spPr>
          <a:xfrm>
            <a:off x="9875520" y="4572000"/>
            <a:ext cx="3291840" cy="3291840"/>
          </a:xfrm>
          <a:prstGeom prst="ellipse">
            <a:avLst/>
          </a:prstGeom>
          <a:solidFill>
            <a:srgbClr val="FFFFFF">
              <a:alpha val="10000"/>
            </a:srgbClr>
          </a:solidFill>
          <a:ln/>
        </p:spPr>
      </p:sp>
      <p:sp>
        <p:nvSpPr>
          <p:cNvPr id="4" name="Shape 2"/>
          <p:cNvSpPr/>
          <p:nvPr/>
        </p:nvSpPr>
        <p:spPr>
          <a:xfrm>
            <a:off x="10607040" y="548640"/>
            <a:ext cx="1188720" cy="1188720"/>
          </a:xfrm>
          <a:prstGeom prst="ellipse">
            <a:avLst/>
          </a:prstGeom>
          <a:solidFill>
            <a:srgbClr val="FFF7EC">
              <a:alpha val="0"/>
            </a:srgbClr>
          </a:solidFill>
          <a:ln w="38100">
            <a:solidFill>
              <a:srgbClr val="FFFFFF"/>
            </a:solidFill>
            <a:prstDash val="solid"/>
          </a:ln>
        </p:spPr>
      </p:sp>
      <p:sp>
        <p:nvSpPr>
          <p:cNvPr id="5" name="Text 3"/>
          <p:cNvSpPr/>
          <p:nvPr/>
        </p:nvSpPr>
        <p:spPr>
          <a:xfrm>
            <a:off x="566928" y="1737360"/>
            <a:ext cx="9692640" cy="822960"/>
          </a:xfrm>
          <a:prstGeom prst="rect">
            <a:avLst/>
          </a:prstGeom>
          <a:noFill/>
          <a:ln/>
        </p:spPr>
        <p:txBody>
          <a:bodyPr wrap="square" lIns="0" tIns="0" rIns="0" bIns="0" rtlCol="0" anchor="ctr"/>
          <a:lstStyle/>
          <a:p>
            <a:pPr algn="l" indent="0" marL="0">
              <a:buNone/>
            </a:pPr>
            <a:r>
              <a:rPr lang="en-US" sz="3200" dirty="0">
                <a:solidFill>
                  <a:srgbClr val="FFFFFF"/>
                </a:solidFill>
                <a:latin typeface="Century Gothic" pitchFamily="34" charset="0"/>
                <a:ea typeface="Century Gothic" pitchFamily="34" charset="-122"/>
                <a:cs typeface="Century Gothic" pitchFamily="34" charset="-120"/>
              </a:rPr>
              <a:t>So far, an unsurprising null.</a:t>
            </a:r>
            <a:endParaRPr lang="en-US" sz="3200" dirty="0"/>
          </a:p>
        </p:txBody>
      </p:sp>
      <p:sp>
        <p:nvSpPr>
          <p:cNvPr id="6" name="Text 4"/>
          <p:cNvSpPr/>
          <p:nvPr/>
        </p:nvSpPr>
        <p:spPr>
          <a:xfrm>
            <a:off x="566928" y="2606040"/>
            <a:ext cx="9692640" cy="914400"/>
          </a:xfrm>
          <a:prstGeom prst="rect">
            <a:avLst/>
          </a:prstGeom>
          <a:noFill/>
          <a:ln/>
        </p:spPr>
        <p:txBody>
          <a:bodyPr wrap="square" lIns="0" tIns="0" rIns="0" bIns="0" rtlCol="0" anchor="ctr"/>
          <a:lstStyle/>
          <a:p>
            <a:pPr algn="l" indent="0" marL="0">
              <a:buNone/>
            </a:pPr>
            <a:r>
              <a:rPr lang="en-US" sz="4200" b="1" dirty="0">
                <a:solidFill>
                  <a:srgbClr val="FFFFFF"/>
                </a:solidFill>
                <a:latin typeface="Century Gothic" pitchFamily="34" charset="0"/>
                <a:ea typeface="Century Gothic" pitchFamily="34" charset="-122"/>
                <a:cs typeface="Century Gothic" pitchFamily="34" charset="-120"/>
              </a:rPr>
              <a:t>Then I changed one line of code.</a:t>
            </a:r>
            <a:endParaRPr lang="en-US" sz="4200" dirty="0"/>
          </a:p>
        </p:txBody>
      </p:sp>
      <p:sp>
        <p:nvSpPr>
          <p:cNvPr id="7" name="Shape 5"/>
          <p:cNvSpPr/>
          <p:nvPr/>
        </p:nvSpPr>
        <p:spPr>
          <a:xfrm>
            <a:off x="566928" y="3977640"/>
            <a:ext cx="9144000" cy="1234440"/>
          </a:xfrm>
          <a:prstGeom prst="roundRect">
            <a:avLst>
              <a:gd name="adj" fmla="val 11852"/>
            </a:avLst>
          </a:prstGeom>
          <a:solidFill>
            <a:srgbClr val="FFFFFF"/>
          </a:solidFill>
          <a:ln/>
        </p:spPr>
      </p:sp>
      <p:sp>
        <p:nvSpPr>
          <p:cNvPr id="8" name="Text 6"/>
          <p:cNvSpPr/>
          <p:nvPr/>
        </p:nvSpPr>
        <p:spPr>
          <a:xfrm>
            <a:off x="978408" y="3977640"/>
            <a:ext cx="8321040" cy="1234440"/>
          </a:xfrm>
          <a:prstGeom prst="rect">
            <a:avLst/>
          </a:prstGeom>
          <a:noFill/>
          <a:ln/>
        </p:spPr>
        <p:txBody>
          <a:bodyPr wrap="square" lIns="0" tIns="0" rIns="0" bIns="0" rtlCol="0" anchor="ctr"/>
          <a:lstStyle/>
          <a:p>
            <a:pPr algn="l" indent="0" marL="0">
              <a:buNone/>
            </a:pPr>
            <a:r>
              <a:rPr lang="en-US" sz="1550" dirty="0">
                <a:solidFill>
                  <a:srgbClr val="2A2118"/>
                </a:solidFill>
                <a:latin typeface="Calibri" pitchFamily="34" charset="0"/>
                <a:ea typeface="Calibri" pitchFamily="34" charset="-122"/>
                <a:cs typeface="Calibri" pitchFamily="34" charset="-120"/>
              </a:rPr>
              <a:t>The bookmaker’s margin has to come out of the price before you can test anything. There is no single correct way to take it out.</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7EC"/>
        </a:solidFill>
      </p:bgPr>
    </p:bg>
    <p:spTree>
      <p:nvGrpSpPr>
        <p:cNvPr id="1" name=""/>
        <p:cNvGrpSpPr/>
        <p:nvPr/>
      </p:nvGrpSpPr>
      <p:grpSpPr>
        <a:xfrm>
          <a:off x="0" y="0"/>
          <a:ext cx="0" cy="0"/>
          <a:chOff x="0" y="0"/>
          <a:chExt cx="0" cy="0"/>
        </a:xfrm>
      </p:grpSpPr>
      <p:sp>
        <p:nvSpPr>
          <p:cNvPr id="2" name="Shape 0"/>
          <p:cNvSpPr/>
          <p:nvPr/>
        </p:nvSpPr>
        <p:spPr>
          <a:xfrm>
            <a:off x="566928" y="310896"/>
            <a:ext cx="5440680" cy="384048"/>
          </a:xfrm>
          <a:prstGeom prst="roundRect">
            <a:avLst>
              <a:gd name="adj" fmla="val 119048"/>
            </a:avLst>
          </a:prstGeom>
          <a:solidFill>
            <a:srgbClr val="DB5A28"/>
          </a:solidFill>
          <a:ln/>
        </p:spPr>
      </p:sp>
      <p:sp>
        <p:nvSpPr>
          <p:cNvPr id="3" name="Text 1"/>
          <p:cNvSpPr/>
          <p:nvPr/>
        </p:nvSpPr>
        <p:spPr>
          <a:xfrm>
            <a:off x="566928" y="310896"/>
            <a:ext cx="5440680" cy="384048"/>
          </a:xfrm>
          <a:prstGeom prst="rect">
            <a:avLst/>
          </a:prstGeom>
          <a:noFill/>
          <a:ln/>
        </p:spPr>
        <p:txBody>
          <a:bodyPr wrap="square" lIns="0" tIns="0" rIns="0" bIns="0" rtlCol="0" anchor="ctr"/>
          <a:lstStyle/>
          <a:p>
            <a:pPr algn="ctr" indent="0" marL="0">
              <a:buNone/>
            </a:pPr>
            <a:r>
              <a:rPr lang="en-US" sz="1050" b="1" spc="140" kern="0" dirty="0">
                <a:solidFill>
                  <a:srgbClr val="FFFFFF"/>
                </a:solidFill>
                <a:latin typeface="Calibri" pitchFamily="34" charset="0"/>
                <a:ea typeface="Calibri" pitchFamily="34" charset="-122"/>
                <a:cs typeface="Calibri" pitchFamily="34" charset="-120"/>
              </a:rPr>
              <a:t>SAME 6,840 GAMES. ONLY THE RULE CHANGES.</a:t>
            </a:r>
            <a:endParaRPr lang="en-US" sz="1050" dirty="0"/>
          </a:p>
        </p:txBody>
      </p:sp>
      <p:sp>
        <p:nvSpPr>
          <p:cNvPr id="4" name="Text 2"/>
          <p:cNvSpPr/>
          <p:nvPr/>
        </p:nvSpPr>
        <p:spPr>
          <a:xfrm>
            <a:off x="566928" y="841248"/>
            <a:ext cx="11055096" cy="786384"/>
          </a:xfrm>
          <a:prstGeom prst="rect">
            <a:avLst/>
          </a:prstGeom>
          <a:noFill/>
          <a:ln/>
        </p:spPr>
        <p:txBody>
          <a:bodyPr wrap="square" lIns="0" tIns="0" rIns="0" bIns="0" rtlCol="0" anchor="ctr"/>
          <a:lstStyle/>
          <a:p>
            <a:pPr algn="l" indent="0" marL="0">
              <a:buNone/>
            </a:pPr>
            <a:r>
              <a:rPr lang="en-US" sz="2800" b="1" dirty="0">
                <a:solidFill>
                  <a:srgbClr val="2A2118"/>
                </a:solidFill>
                <a:latin typeface="Century Gothic" pitchFamily="34" charset="0"/>
                <a:ea typeface="Century Gothic" pitchFamily="34" charset="-122"/>
                <a:cs typeface="Century Gothic" pitchFamily="34" charset="-120"/>
              </a:rPr>
              <a:t>The answer moves, and so does its sign</a:t>
            </a:r>
            <a:endParaRPr lang="en-US" sz="2800" dirty="0"/>
          </a:p>
        </p:txBody>
      </p:sp>
      <p:sp>
        <p:nvSpPr>
          <p:cNvPr id="5" name="Text 3"/>
          <p:cNvSpPr/>
          <p:nvPr/>
        </p:nvSpPr>
        <p:spPr>
          <a:xfrm>
            <a:off x="886968" y="1755648"/>
            <a:ext cx="3566160" cy="365760"/>
          </a:xfrm>
          <a:prstGeom prst="rect">
            <a:avLst/>
          </a:prstGeom>
          <a:noFill/>
          <a:ln/>
        </p:spPr>
        <p:txBody>
          <a:bodyPr wrap="square" lIns="0" tIns="0" rIns="0" bIns="0" rtlCol="0" anchor="ctr"/>
          <a:lstStyle/>
          <a:p>
            <a:pPr algn="l" indent="0" marL="0">
              <a:buNone/>
            </a:pPr>
            <a:r>
              <a:rPr lang="en-US" sz="1150" b="1" dirty="0">
                <a:solidFill>
                  <a:srgbClr val="6E5A48"/>
                </a:solidFill>
                <a:latin typeface="Calibri" pitchFamily="34" charset="0"/>
                <a:ea typeface="Calibri" pitchFamily="34" charset="-122"/>
                <a:cs typeface="Calibri" pitchFamily="34" charset="-120"/>
              </a:rPr>
              <a:t>Vig-removal rule</a:t>
            </a:r>
            <a:endParaRPr lang="en-US" sz="1150" dirty="0"/>
          </a:p>
        </p:txBody>
      </p:sp>
      <p:sp>
        <p:nvSpPr>
          <p:cNvPr id="6" name="Text 4"/>
          <p:cNvSpPr/>
          <p:nvPr/>
        </p:nvSpPr>
        <p:spPr>
          <a:xfrm>
            <a:off x="4206240" y="1755648"/>
            <a:ext cx="1188720" cy="365760"/>
          </a:xfrm>
          <a:prstGeom prst="rect">
            <a:avLst/>
          </a:prstGeom>
          <a:noFill/>
          <a:ln/>
        </p:spPr>
        <p:txBody>
          <a:bodyPr wrap="square" lIns="0" tIns="0" rIns="0" bIns="0" rtlCol="0" anchor="ctr"/>
          <a:lstStyle/>
          <a:p>
            <a:pPr algn="r" indent="0" marL="0">
              <a:buNone/>
            </a:pPr>
            <a:r>
              <a:rPr lang="en-US" sz="1150" b="1" dirty="0">
                <a:solidFill>
                  <a:srgbClr val="6E5A48"/>
                </a:solidFill>
                <a:latin typeface="Calibri" pitchFamily="34" charset="0"/>
                <a:ea typeface="Calibri" pitchFamily="34" charset="-122"/>
                <a:cs typeface="Calibri" pitchFamily="34" charset="-120"/>
              </a:rPr>
              <a:t>Gap</a:t>
            </a:r>
            <a:endParaRPr lang="en-US" sz="1150" dirty="0"/>
          </a:p>
        </p:txBody>
      </p:sp>
      <p:sp>
        <p:nvSpPr>
          <p:cNvPr id="7" name="Text 5"/>
          <p:cNvSpPr/>
          <p:nvPr/>
        </p:nvSpPr>
        <p:spPr>
          <a:xfrm>
            <a:off x="5669280" y="1755648"/>
            <a:ext cx="1097280" cy="365760"/>
          </a:xfrm>
          <a:prstGeom prst="rect">
            <a:avLst/>
          </a:prstGeom>
          <a:noFill/>
          <a:ln/>
        </p:spPr>
        <p:txBody>
          <a:bodyPr wrap="square" lIns="0" tIns="0" rIns="0" bIns="0" rtlCol="0" anchor="ctr"/>
          <a:lstStyle/>
          <a:p>
            <a:pPr algn="r" indent="0" marL="0">
              <a:buNone/>
            </a:pPr>
            <a:r>
              <a:rPr lang="en-US" sz="1150" b="1" dirty="0">
                <a:solidFill>
                  <a:srgbClr val="6E5A48"/>
                </a:solidFill>
                <a:latin typeface="Calibri" pitchFamily="34" charset="0"/>
                <a:ea typeface="Calibri" pitchFamily="34" charset="-122"/>
                <a:cs typeface="Calibri" pitchFamily="34" charset="-120"/>
              </a:rPr>
              <a:t>p</a:t>
            </a:r>
            <a:endParaRPr lang="en-US" sz="1150" dirty="0"/>
          </a:p>
        </p:txBody>
      </p:sp>
      <p:sp>
        <p:nvSpPr>
          <p:cNvPr id="8" name="Text 6"/>
          <p:cNvSpPr/>
          <p:nvPr/>
        </p:nvSpPr>
        <p:spPr>
          <a:xfrm>
            <a:off x="7086600" y="1755648"/>
            <a:ext cx="1463040" cy="365760"/>
          </a:xfrm>
          <a:prstGeom prst="rect">
            <a:avLst/>
          </a:prstGeom>
          <a:noFill/>
          <a:ln/>
        </p:spPr>
        <p:txBody>
          <a:bodyPr wrap="square" lIns="0" tIns="0" rIns="0" bIns="0" rtlCol="0" anchor="ctr"/>
          <a:lstStyle/>
          <a:p>
            <a:pPr algn="r" indent="0" marL="0">
              <a:buNone/>
            </a:pPr>
            <a:r>
              <a:rPr lang="en-US" sz="1150" b="1" dirty="0">
                <a:solidFill>
                  <a:srgbClr val="6E5A48"/>
                </a:solidFill>
                <a:latin typeface="Calibri" pitchFamily="34" charset="0"/>
                <a:ea typeface="Calibri" pitchFamily="34" charset="-122"/>
                <a:cs typeface="Calibri" pitchFamily="34" charset="-120"/>
              </a:rPr>
              <a:t>Break-even</a:t>
            </a:r>
            <a:endParaRPr lang="en-US" sz="1150" dirty="0"/>
          </a:p>
        </p:txBody>
      </p:sp>
      <p:sp>
        <p:nvSpPr>
          <p:cNvPr id="9" name="Text 7"/>
          <p:cNvSpPr/>
          <p:nvPr/>
        </p:nvSpPr>
        <p:spPr>
          <a:xfrm>
            <a:off x="8869680" y="1755648"/>
            <a:ext cx="2377440" cy="365760"/>
          </a:xfrm>
          <a:prstGeom prst="rect">
            <a:avLst/>
          </a:prstGeom>
          <a:noFill/>
          <a:ln/>
        </p:spPr>
        <p:txBody>
          <a:bodyPr wrap="square" lIns="0" tIns="0" rIns="0" bIns="0" rtlCol="0" anchor="ctr"/>
          <a:lstStyle/>
          <a:p>
            <a:pPr algn="l" indent="0" marL="0">
              <a:buNone/>
            </a:pPr>
            <a:r>
              <a:rPr lang="en-US" sz="1150" b="1" dirty="0">
                <a:solidFill>
                  <a:srgbClr val="6E5A48"/>
                </a:solidFill>
                <a:latin typeface="Calibri" pitchFamily="34" charset="0"/>
                <a:ea typeface="Calibri" pitchFamily="34" charset="-122"/>
                <a:cs typeface="Calibri" pitchFamily="34" charset="-120"/>
              </a:rPr>
              <a:t>Verdict</a:t>
            </a:r>
            <a:endParaRPr lang="en-US" sz="1150" dirty="0"/>
          </a:p>
        </p:txBody>
      </p:sp>
      <p:sp>
        <p:nvSpPr>
          <p:cNvPr id="10" name="Shape 8"/>
          <p:cNvSpPr/>
          <p:nvPr/>
        </p:nvSpPr>
        <p:spPr>
          <a:xfrm>
            <a:off x="566928" y="2194560"/>
            <a:ext cx="11055096" cy="621792"/>
          </a:xfrm>
          <a:prstGeom prst="roundRect">
            <a:avLst>
              <a:gd name="adj" fmla="val 23529"/>
            </a:avLst>
          </a:prstGeom>
          <a:solidFill>
            <a:srgbClr val="FBE3D6"/>
          </a:solidFill>
          <a:ln/>
        </p:spPr>
      </p:sp>
      <p:sp>
        <p:nvSpPr>
          <p:cNvPr id="11" name="Shape 9"/>
          <p:cNvSpPr/>
          <p:nvPr/>
        </p:nvSpPr>
        <p:spPr>
          <a:xfrm>
            <a:off x="566928" y="2194560"/>
            <a:ext cx="100584" cy="621792"/>
          </a:xfrm>
          <a:prstGeom prst="roundRect">
            <a:avLst>
              <a:gd name="adj" fmla="val 454545"/>
            </a:avLst>
          </a:prstGeom>
          <a:solidFill>
            <a:srgbClr val="DB5A28"/>
          </a:solidFill>
          <a:ln/>
        </p:spPr>
      </p:sp>
      <p:sp>
        <p:nvSpPr>
          <p:cNvPr id="12" name="Text 10"/>
          <p:cNvSpPr/>
          <p:nvPr/>
        </p:nvSpPr>
        <p:spPr>
          <a:xfrm>
            <a:off x="886968" y="2194560"/>
            <a:ext cx="3566160" cy="621792"/>
          </a:xfrm>
          <a:prstGeom prst="rect">
            <a:avLst/>
          </a:prstGeom>
          <a:noFill/>
          <a:ln/>
        </p:spPr>
        <p:txBody>
          <a:bodyPr wrap="square" lIns="0" tIns="0" rIns="0" bIns="0" rtlCol="0" anchor="ctr"/>
          <a:lstStyle/>
          <a:p>
            <a:pPr algn="l" indent="0" marL="0">
              <a:buNone/>
            </a:pPr>
            <a:r>
              <a:rPr lang="en-US" sz="1300" dirty="0">
                <a:solidFill>
                  <a:srgbClr val="2A2118"/>
                </a:solidFill>
                <a:latin typeface="Calibri" pitchFamily="34" charset="0"/>
                <a:ea typeface="Calibri" pitchFamily="34" charset="-122"/>
                <a:cs typeface="Calibri" pitchFamily="34" charset="-120"/>
              </a:rPr>
              <a:t>None, raw prices</a:t>
            </a:r>
            <a:endParaRPr lang="en-US" sz="1300" dirty="0"/>
          </a:p>
        </p:txBody>
      </p:sp>
      <p:sp>
        <p:nvSpPr>
          <p:cNvPr id="13" name="Text 11"/>
          <p:cNvSpPr/>
          <p:nvPr/>
        </p:nvSpPr>
        <p:spPr>
          <a:xfrm>
            <a:off x="4206240" y="2194560"/>
            <a:ext cx="1188720" cy="621792"/>
          </a:xfrm>
          <a:prstGeom prst="rect">
            <a:avLst/>
          </a:prstGeom>
          <a:noFill/>
          <a:ln/>
        </p:spPr>
        <p:txBody>
          <a:bodyPr wrap="square" lIns="0" tIns="0" rIns="0" bIns="0" rtlCol="0" anchor="ctr"/>
          <a:lstStyle/>
          <a:p>
            <a:pPr algn="r" indent="0" marL="0">
              <a:buNone/>
            </a:pPr>
            <a:r>
              <a:rPr lang="en-US" sz="1350" b="1" dirty="0">
                <a:solidFill>
                  <a:srgbClr val="DB5A28"/>
                </a:solidFill>
                <a:latin typeface="Consolas" pitchFamily="34" charset="0"/>
                <a:ea typeface="Consolas" pitchFamily="34" charset="-122"/>
                <a:cs typeface="Consolas" pitchFamily="34" charset="-120"/>
              </a:rPr>
              <a:t>−2.43</a:t>
            </a:r>
            <a:endParaRPr lang="en-US" sz="1350" dirty="0"/>
          </a:p>
        </p:txBody>
      </p:sp>
      <p:sp>
        <p:nvSpPr>
          <p:cNvPr id="14" name="Text 12"/>
          <p:cNvSpPr/>
          <p:nvPr/>
        </p:nvSpPr>
        <p:spPr>
          <a:xfrm>
            <a:off x="5669280" y="2194560"/>
            <a:ext cx="1097280" cy="621792"/>
          </a:xfrm>
          <a:prstGeom prst="rect">
            <a:avLst/>
          </a:prstGeom>
          <a:noFill/>
          <a:ln/>
        </p:spPr>
        <p:txBody>
          <a:bodyPr wrap="square" lIns="0" tIns="0" rIns="0" bIns="0" rtlCol="0" anchor="ctr"/>
          <a:lstStyle/>
          <a:p>
            <a:pPr algn="r" indent="0" marL="0">
              <a:buNone/>
            </a:pPr>
            <a:r>
              <a:rPr lang="en-US" sz="1350" dirty="0">
                <a:solidFill>
                  <a:srgbClr val="2A2118"/>
                </a:solidFill>
                <a:latin typeface="Consolas" pitchFamily="34" charset="0"/>
                <a:ea typeface="Consolas" pitchFamily="34" charset="-122"/>
                <a:cs typeface="Consolas" pitchFamily="34" charset="-120"/>
              </a:rPr>
              <a:t>&lt;.001</a:t>
            </a:r>
            <a:endParaRPr lang="en-US" sz="1350" dirty="0"/>
          </a:p>
        </p:txBody>
      </p:sp>
      <p:sp>
        <p:nvSpPr>
          <p:cNvPr id="15" name="Text 13"/>
          <p:cNvSpPr/>
          <p:nvPr/>
        </p:nvSpPr>
        <p:spPr>
          <a:xfrm>
            <a:off x="7086600" y="2194560"/>
            <a:ext cx="1463040" cy="621792"/>
          </a:xfrm>
          <a:prstGeom prst="rect">
            <a:avLst/>
          </a:prstGeom>
          <a:noFill/>
          <a:ln/>
        </p:spPr>
        <p:txBody>
          <a:bodyPr wrap="square" lIns="0" tIns="0" rIns="0" bIns="0" rtlCol="0" anchor="ctr"/>
          <a:lstStyle/>
          <a:p>
            <a:pPr algn="r" indent="0" marL="0">
              <a:buNone/>
            </a:pPr>
            <a:r>
              <a:rPr lang="en-US" sz="1350" dirty="0">
                <a:solidFill>
                  <a:srgbClr val="2A2118"/>
                </a:solidFill>
                <a:latin typeface="Consolas" pitchFamily="34" charset="0"/>
                <a:ea typeface="Consolas" pitchFamily="34" charset="-122"/>
                <a:cs typeface="Consolas" pitchFamily="34" charset="-120"/>
              </a:rPr>
              <a:t>—</a:t>
            </a:r>
            <a:endParaRPr lang="en-US" sz="1350" dirty="0"/>
          </a:p>
        </p:txBody>
      </p:sp>
      <p:sp>
        <p:nvSpPr>
          <p:cNvPr id="16" name="Text 14"/>
          <p:cNvSpPr/>
          <p:nvPr/>
        </p:nvSpPr>
        <p:spPr>
          <a:xfrm>
            <a:off x="8869680" y="2194560"/>
            <a:ext cx="2377440" cy="621792"/>
          </a:xfrm>
          <a:prstGeom prst="rect">
            <a:avLst/>
          </a:prstGeom>
          <a:noFill/>
          <a:ln/>
        </p:spPr>
        <p:txBody>
          <a:bodyPr wrap="square" lIns="0" tIns="0" rIns="0" bIns="0" rtlCol="0" anchor="ctr"/>
          <a:lstStyle/>
          <a:p>
            <a:pPr algn="l" indent="0" marL="0">
              <a:buNone/>
            </a:pPr>
            <a:r>
              <a:rPr lang="en-US" sz="1250" b="1" dirty="0">
                <a:solidFill>
                  <a:srgbClr val="DB5A28"/>
                </a:solidFill>
                <a:latin typeface="Calibri" pitchFamily="34" charset="0"/>
                <a:ea typeface="Calibri" pitchFamily="34" charset="-122"/>
                <a:cs typeface="Calibri" pitchFamily="34" charset="-120"/>
              </a:rPr>
              <a:t>margin artifact</a:t>
            </a:r>
            <a:endParaRPr lang="en-US" sz="1250" dirty="0"/>
          </a:p>
        </p:txBody>
      </p:sp>
      <p:sp>
        <p:nvSpPr>
          <p:cNvPr id="17" name="Shape 15"/>
          <p:cNvSpPr/>
          <p:nvPr/>
        </p:nvSpPr>
        <p:spPr>
          <a:xfrm>
            <a:off x="566928" y="2907792"/>
            <a:ext cx="11055096" cy="621792"/>
          </a:xfrm>
          <a:prstGeom prst="roundRect">
            <a:avLst>
              <a:gd name="adj" fmla="val 23529"/>
            </a:avLst>
          </a:prstGeom>
          <a:solidFill>
            <a:srgbClr val="FFFFFF"/>
          </a:solidFill>
          <a:ln/>
        </p:spPr>
      </p:sp>
      <p:sp>
        <p:nvSpPr>
          <p:cNvPr id="18" name="Shape 16"/>
          <p:cNvSpPr/>
          <p:nvPr/>
        </p:nvSpPr>
        <p:spPr>
          <a:xfrm>
            <a:off x="566928" y="2907792"/>
            <a:ext cx="100584" cy="621792"/>
          </a:xfrm>
          <a:prstGeom prst="roundRect">
            <a:avLst>
              <a:gd name="adj" fmla="val 454545"/>
            </a:avLst>
          </a:prstGeom>
          <a:solidFill>
            <a:srgbClr val="0F8A6E"/>
          </a:solidFill>
          <a:ln/>
        </p:spPr>
      </p:sp>
      <p:sp>
        <p:nvSpPr>
          <p:cNvPr id="19" name="Text 17"/>
          <p:cNvSpPr/>
          <p:nvPr/>
        </p:nvSpPr>
        <p:spPr>
          <a:xfrm>
            <a:off x="886968" y="2907792"/>
            <a:ext cx="3566160" cy="621792"/>
          </a:xfrm>
          <a:prstGeom prst="rect">
            <a:avLst/>
          </a:prstGeom>
          <a:noFill/>
          <a:ln/>
        </p:spPr>
        <p:txBody>
          <a:bodyPr wrap="square" lIns="0" tIns="0" rIns="0" bIns="0" rtlCol="0" anchor="ctr"/>
          <a:lstStyle/>
          <a:p>
            <a:pPr algn="l" indent="0" marL="0">
              <a:buNone/>
            </a:pPr>
            <a:r>
              <a:rPr lang="en-US" sz="1300" dirty="0">
                <a:solidFill>
                  <a:srgbClr val="2A2118"/>
                </a:solidFill>
                <a:latin typeface="Calibri" pitchFamily="34" charset="0"/>
                <a:ea typeface="Calibri" pitchFamily="34" charset="-122"/>
                <a:cs typeface="Calibri" pitchFamily="34" charset="-120"/>
              </a:rPr>
              <a:t>Proportional (pre-set)</a:t>
            </a:r>
            <a:endParaRPr lang="en-US" sz="1300" dirty="0"/>
          </a:p>
        </p:txBody>
      </p:sp>
      <p:sp>
        <p:nvSpPr>
          <p:cNvPr id="20" name="Text 18"/>
          <p:cNvSpPr/>
          <p:nvPr/>
        </p:nvSpPr>
        <p:spPr>
          <a:xfrm>
            <a:off x="4206240" y="2907792"/>
            <a:ext cx="1188720" cy="621792"/>
          </a:xfrm>
          <a:prstGeom prst="rect">
            <a:avLst/>
          </a:prstGeom>
          <a:noFill/>
          <a:ln/>
        </p:spPr>
        <p:txBody>
          <a:bodyPr wrap="square" lIns="0" tIns="0" rIns="0" bIns="0" rtlCol="0" anchor="ctr"/>
          <a:lstStyle/>
          <a:p>
            <a:pPr algn="r" indent="0" marL="0">
              <a:buNone/>
            </a:pPr>
            <a:r>
              <a:rPr lang="en-US" sz="1350" b="1" dirty="0">
                <a:solidFill>
                  <a:srgbClr val="0F8A6E"/>
                </a:solidFill>
                <a:latin typeface="Consolas" pitchFamily="34" charset="0"/>
                <a:ea typeface="Consolas" pitchFamily="34" charset="-122"/>
                <a:cs typeface="Consolas" pitchFamily="34" charset="-120"/>
              </a:rPr>
              <a:t>+0.58</a:t>
            </a:r>
            <a:endParaRPr lang="en-US" sz="1350" dirty="0"/>
          </a:p>
        </p:txBody>
      </p:sp>
      <p:sp>
        <p:nvSpPr>
          <p:cNvPr id="21" name="Text 19"/>
          <p:cNvSpPr/>
          <p:nvPr/>
        </p:nvSpPr>
        <p:spPr>
          <a:xfrm>
            <a:off x="5669280" y="2907792"/>
            <a:ext cx="1097280" cy="621792"/>
          </a:xfrm>
          <a:prstGeom prst="rect">
            <a:avLst/>
          </a:prstGeom>
          <a:noFill/>
          <a:ln/>
        </p:spPr>
        <p:txBody>
          <a:bodyPr wrap="square" lIns="0" tIns="0" rIns="0" bIns="0" rtlCol="0" anchor="ctr"/>
          <a:lstStyle/>
          <a:p>
            <a:pPr algn="r" indent="0" marL="0">
              <a:buNone/>
            </a:pPr>
            <a:r>
              <a:rPr lang="en-US" sz="1350" dirty="0">
                <a:solidFill>
                  <a:srgbClr val="2A2118"/>
                </a:solidFill>
                <a:latin typeface="Consolas" pitchFamily="34" charset="0"/>
                <a:ea typeface="Consolas" pitchFamily="34" charset="-122"/>
                <a:cs typeface="Consolas" pitchFamily="34" charset="-120"/>
              </a:rPr>
              <a:t>.223</a:t>
            </a:r>
            <a:endParaRPr lang="en-US" sz="1350" dirty="0"/>
          </a:p>
        </p:txBody>
      </p:sp>
      <p:sp>
        <p:nvSpPr>
          <p:cNvPr id="22" name="Text 20"/>
          <p:cNvSpPr/>
          <p:nvPr/>
        </p:nvSpPr>
        <p:spPr>
          <a:xfrm>
            <a:off x="7086600" y="2907792"/>
            <a:ext cx="1463040" cy="621792"/>
          </a:xfrm>
          <a:prstGeom prst="rect">
            <a:avLst/>
          </a:prstGeom>
          <a:noFill/>
          <a:ln/>
        </p:spPr>
        <p:txBody>
          <a:bodyPr wrap="square" lIns="0" tIns="0" rIns="0" bIns="0" rtlCol="0" anchor="ctr"/>
          <a:lstStyle/>
          <a:p>
            <a:pPr algn="r" indent="0" marL="0">
              <a:buNone/>
            </a:pPr>
            <a:r>
              <a:rPr lang="en-US" sz="1350" dirty="0">
                <a:solidFill>
                  <a:srgbClr val="2A2118"/>
                </a:solidFill>
                <a:latin typeface="Consolas" pitchFamily="34" charset="0"/>
                <a:ea typeface="Consolas" pitchFamily="34" charset="-122"/>
                <a:cs typeface="Consolas" pitchFamily="34" charset="-120"/>
              </a:rPr>
              <a:t>3.01</a:t>
            </a:r>
            <a:endParaRPr lang="en-US" sz="1350" dirty="0"/>
          </a:p>
        </p:txBody>
      </p:sp>
      <p:sp>
        <p:nvSpPr>
          <p:cNvPr id="23" name="Text 21"/>
          <p:cNvSpPr/>
          <p:nvPr/>
        </p:nvSpPr>
        <p:spPr>
          <a:xfrm>
            <a:off x="8869680" y="2907792"/>
            <a:ext cx="2377440" cy="621792"/>
          </a:xfrm>
          <a:prstGeom prst="rect">
            <a:avLst/>
          </a:prstGeom>
          <a:noFill/>
          <a:ln/>
        </p:spPr>
        <p:txBody>
          <a:bodyPr wrap="square" lIns="0" tIns="0" rIns="0" bIns="0" rtlCol="0" anchor="ctr"/>
          <a:lstStyle/>
          <a:p>
            <a:pPr algn="l" indent="0" marL="0">
              <a:buNone/>
            </a:pPr>
            <a:r>
              <a:rPr lang="en-US" sz="1250" b="1" dirty="0">
                <a:solidFill>
                  <a:srgbClr val="0F8A6E"/>
                </a:solidFill>
                <a:latin typeface="Calibri" pitchFamily="34" charset="0"/>
                <a:ea typeface="Calibri" pitchFamily="34" charset="-122"/>
                <a:cs typeface="Calibri" pitchFamily="34" charset="-120"/>
              </a:rPr>
              <a:t>below the bar</a:t>
            </a:r>
            <a:endParaRPr lang="en-US" sz="1250" dirty="0"/>
          </a:p>
        </p:txBody>
      </p:sp>
      <p:sp>
        <p:nvSpPr>
          <p:cNvPr id="24" name="Shape 22"/>
          <p:cNvSpPr/>
          <p:nvPr/>
        </p:nvSpPr>
        <p:spPr>
          <a:xfrm>
            <a:off x="566928" y="3621024"/>
            <a:ext cx="11055096" cy="621792"/>
          </a:xfrm>
          <a:prstGeom prst="roundRect">
            <a:avLst>
              <a:gd name="adj" fmla="val 23529"/>
            </a:avLst>
          </a:prstGeom>
          <a:solidFill>
            <a:srgbClr val="FFFFFF"/>
          </a:solidFill>
          <a:ln/>
        </p:spPr>
      </p:sp>
      <p:sp>
        <p:nvSpPr>
          <p:cNvPr id="25" name="Shape 23"/>
          <p:cNvSpPr/>
          <p:nvPr/>
        </p:nvSpPr>
        <p:spPr>
          <a:xfrm>
            <a:off x="566928" y="3621024"/>
            <a:ext cx="100584" cy="621792"/>
          </a:xfrm>
          <a:prstGeom prst="roundRect">
            <a:avLst>
              <a:gd name="adj" fmla="val 454545"/>
            </a:avLst>
          </a:prstGeom>
          <a:solidFill>
            <a:srgbClr val="0F8A6E"/>
          </a:solidFill>
          <a:ln/>
        </p:spPr>
      </p:sp>
      <p:sp>
        <p:nvSpPr>
          <p:cNvPr id="26" name="Text 24"/>
          <p:cNvSpPr/>
          <p:nvPr/>
        </p:nvSpPr>
        <p:spPr>
          <a:xfrm>
            <a:off x="886968" y="3621024"/>
            <a:ext cx="3566160" cy="621792"/>
          </a:xfrm>
          <a:prstGeom prst="rect">
            <a:avLst/>
          </a:prstGeom>
          <a:noFill/>
          <a:ln/>
        </p:spPr>
        <p:txBody>
          <a:bodyPr wrap="square" lIns="0" tIns="0" rIns="0" bIns="0" rtlCol="0" anchor="ctr"/>
          <a:lstStyle/>
          <a:p>
            <a:pPr algn="l" indent="0" marL="0">
              <a:buNone/>
            </a:pPr>
            <a:r>
              <a:rPr lang="en-US" sz="1300" dirty="0">
                <a:solidFill>
                  <a:srgbClr val="2A2118"/>
                </a:solidFill>
                <a:latin typeface="Calibri" pitchFamily="34" charset="0"/>
                <a:ea typeface="Calibri" pitchFamily="34" charset="-122"/>
                <a:cs typeface="Calibri" pitchFamily="34" charset="-120"/>
              </a:rPr>
              <a:t>Additive / Shin</a:t>
            </a:r>
            <a:endParaRPr lang="en-US" sz="1300" dirty="0"/>
          </a:p>
        </p:txBody>
      </p:sp>
      <p:sp>
        <p:nvSpPr>
          <p:cNvPr id="27" name="Text 25"/>
          <p:cNvSpPr/>
          <p:nvPr/>
        </p:nvSpPr>
        <p:spPr>
          <a:xfrm>
            <a:off x="4206240" y="3621024"/>
            <a:ext cx="1188720" cy="621792"/>
          </a:xfrm>
          <a:prstGeom prst="rect">
            <a:avLst/>
          </a:prstGeom>
          <a:noFill/>
          <a:ln/>
        </p:spPr>
        <p:txBody>
          <a:bodyPr wrap="square" lIns="0" tIns="0" rIns="0" bIns="0" rtlCol="0" anchor="ctr"/>
          <a:lstStyle/>
          <a:p>
            <a:pPr algn="r" indent="0" marL="0">
              <a:buNone/>
            </a:pPr>
            <a:r>
              <a:rPr lang="en-US" sz="1350" b="1" dirty="0">
                <a:solidFill>
                  <a:srgbClr val="0F8A6E"/>
                </a:solidFill>
                <a:latin typeface="Consolas" pitchFamily="34" charset="0"/>
                <a:ea typeface="Consolas" pitchFamily="34" charset="-122"/>
                <a:cs typeface="Consolas" pitchFamily="34" charset="-120"/>
              </a:rPr>
              <a:t>−0.55</a:t>
            </a:r>
            <a:endParaRPr lang="en-US" sz="1350" dirty="0"/>
          </a:p>
        </p:txBody>
      </p:sp>
      <p:sp>
        <p:nvSpPr>
          <p:cNvPr id="28" name="Text 26"/>
          <p:cNvSpPr/>
          <p:nvPr/>
        </p:nvSpPr>
        <p:spPr>
          <a:xfrm>
            <a:off x="5669280" y="3621024"/>
            <a:ext cx="1097280" cy="621792"/>
          </a:xfrm>
          <a:prstGeom prst="rect">
            <a:avLst/>
          </a:prstGeom>
          <a:noFill/>
          <a:ln/>
        </p:spPr>
        <p:txBody>
          <a:bodyPr wrap="square" lIns="0" tIns="0" rIns="0" bIns="0" rtlCol="0" anchor="ctr"/>
          <a:lstStyle/>
          <a:p>
            <a:pPr algn="r" indent="0" marL="0">
              <a:buNone/>
            </a:pPr>
            <a:r>
              <a:rPr lang="en-US" sz="1350" dirty="0">
                <a:solidFill>
                  <a:srgbClr val="2A2118"/>
                </a:solidFill>
                <a:latin typeface="Consolas" pitchFamily="34" charset="0"/>
                <a:ea typeface="Consolas" pitchFamily="34" charset="-122"/>
                <a:cs typeface="Consolas" pitchFamily="34" charset="-120"/>
              </a:rPr>
              <a:t>.231</a:t>
            </a:r>
            <a:endParaRPr lang="en-US" sz="1350" dirty="0"/>
          </a:p>
        </p:txBody>
      </p:sp>
      <p:sp>
        <p:nvSpPr>
          <p:cNvPr id="29" name="Text 27"/>
          <p:cNvSpPr/>
          <p:nvPr/>
        </p:nvSpPr>
        <p:spPr>
          <a:xfrm>
            <a:off x="7086600" y="3621024"/>
            <a:ext cx="1463040" cy="621792"/>
          </a:xfrm>
          <a:prstGeom prst="rect">
            <a:avLst/>
          </a:prstGeom>
          <a:noFill/>
          <a:ln/>
        </p:spPr>
        <p:txBody>
          <a:bodyPr wrap="square" lIns="0" tIns="0" rIns="0" bIns="0" rtlCol="0" anchor="ctr"/>
          <a:lstStyle/>
          <a:p>
            <a:pPr algn="r" indent="0" marL="0">
              <a:buNone/>
            </a:pPr>
            <a:r>
              <a:rPr lang="en-US" sz="1350" dirty="0">
                <a:solidFill>
                  <a:srgbClr val="2A2118"/>
                </a:solidFill>
                <a:latin typeface="Consolas" pitchFamily="34" charset="0"/>
                <a:ea typeface="Consolas" pitchFamily="34" charset="-122"/>
                <a:cs typeface="Consolas" pitchFamily="34" charset="-120"/>
              </a:rPr>
              <a:t>1.88</a:t>
            </a:r>
            <a:endParaRPr lang="en-US" sz="1350" dirty="0"/>
          </a:p>
        </p:txBody>
      </p:sp>
      <p:sp>
        <p:nvSpPr>
          <p:cNvPr id="30" name="Text 28"/>
          <p:cNvSpPr/>
          <p:nvPr/>
        </p:nvSpPr>
        <p:spPr>
          <a:xfrm>
            <a:off x="8869680" y="3621024"/>
            <a:ext cx="2377440" cy="621792"/>
          </a:xfrm>
          <a:prstGeom prst="rect">
            <a:avLst/>
          </a:prstGeom>
          <a:noFill/>
          <a:ln/>
        </p:spPr>
        <p:txBody>
          <a:bodyPr wrap="square" lIns="0" tIns="0" rIns="0" bIns="0" rtlCol="0" anchor="ctr"/>
          <a:lstStyle/>
          <a:p>
            <a:pPr algn="l" indent="0" marL="0">
              <a:buNone/>
            </a:pPr>
            <a:r>
              <a:rPr lang="en-US" sz="1250" b="1" dirty="0">
                <a:solidFill>
                  <a:srgbClr val="0F8A6E"/>
                </a:solidFill>
                <a:latin typeface="Calibri" pitchFamily="34" charset="0"/>
                <a:ea typeface="Calibri" pitchFamily="34" charset="-122"/>
                <a:cs typeface="Calibri" pitchFamily="34" charset="-120"/>
              </a:rPr>
              <a:t>below the bar</a:t>
            </a:r>
            <a:endParaRPr lang="en-US" sz="1250" dirty="0"/>
          </a:p>
        </p:txBody>
      </p:sp>
      <p:sp>
        <p:nvSpPr>
          <p:cNvPr id="31" name="Shape 29"/>
          <p:cNvSpPr/>
          <p:nvPr/>
        </p:nvSpPr>
        <p:spPr>
          <a:xfrm>
            <a:off x="566928" y="4334256"/>
            <a:ext cx="11055096" cy="621792"/>
          </a:xfrm>
          <a:prstGeom prst="roundRect">
            <a:avLst>
              <a:gd name="adj" fmla="val 23529"/>
            </a:avLst>
          </a:prstGeom>
          <a:solidFill>
            <a:srgbClr val="FFFFFF"/>
          </a:solidFill>
          <a:ln/>
        </p:spPr>
      </p:sp>
      <p:sp>
        <p:nvSpPr>
          <p:cNvPr id="32" name="Shape 30"/>
          <p:cNvSpPr/>
          <p:nvPr/>
        </p:nvSpPr>
        <p:spPr>
          <a:xfrm>
            <a:off x="566928" y="4334256"/>
            <a:ext cx="100584" cy="621792"/>
          </a:xfrm>
          <a:prstGeom prst="roundRect">
            <a:avLst>
              <a:gd name="adj" fmla="val 454545"/>
            </a:avLst>
          </a:prstGeom>
          <a:solidFill>
            <a:srgbClr val="0F8A6E"/>
          </a:solidFill>
          <a:ln/>
        </p:spPr>
      </p:sp>
      <p:sp>
        <p:nvSpPr>
          <p:cNvPr id="33" name="Text 31"/>
          <p:cNvSpPr/>
          <p:nvPr/>
        </p:nvSpPr>
        <p:spPr>
          <a:xfrm>
            <a:off x="886968" y="4334256"/>
            <a:ext cx="3566160" cy="621792"/>
          </a:xfrm>
          <a:prstGeom prst="rect">
            <a:avLst/>
          </a:prstGeom>
          <a:noFill/>
          <a:ln/>
        </p:spPr>
        <p:txBody>
          <a:bodyPr wrap="square" lIns="0" tIns="0" rIns="0" bIns="0" rtlCol="0" anchor="ctr"/>
          <a:lstStyle/>
          <a:p>
            <a:pPr algn="l" indent="0" marL="0">
              <a:buNone/>
            </a:pPr>
            <a:r>
              <a:rPr lang="en-US" sz="1300" dirty="0">
                <a:solidFill>
                  <a:srgbClr val="2A2118"/>
                </a:solidFill>
                <a:latin typeface="Calibri" pitchFamily="34" charset="0"/>
                <a:ea typeface="Calibri" pitchFamily="34" charset="-122"/>
                <a:cs typeface="Calibri" pitchFamily="34" charset="-120"/>
              </a:rPr>
              <a:t>Constant odds ratio</a:t>
            </a:r>
            <a:endParaRPr lang="en-US" sz="1300" dirty="0"/>
          </a:p>
        </p:txBody>
      </p:sp>
      <p:sp>
        <p:nvSpPr>
          <p:cNvPr id="34" name="Text 32"/>
          <p:cNvSpPr/>
          <p:nvPr/>
        </p:nvSpPr>
        <p:spPr>
          <a:xfrm>
            <a:off x="4206240" y="4334256"/>
            <a:ext cx="1188720" cy="621792"/>
          </a:xfrm>
          <a:prstGeom prst="rect">
            <a:avLst/>
          </a:prstGeom>
          <a:noFill/>
          <a:ln/>
        </p:spPr>
        <p:txBody>
          <a:bodyPr wrap="square" lIns="0" tIns="0" rIns="0" bIns="0" rtlCol="0" anchor="ctr"/>
          <a:lstStyle/>
          <a:p>
            <a:pPr algn="r" indent="0" marL="0">
              <a:buNone/>
            </a:pPr>
            <a:r>
              <a:rPr lang="en-US" sz="1350" b="1" dirty="0">
                <a:solidFill>
                  <a:srgbClr val="0F8A6E"/>
                </a:solidFill>
                <a:latin typeface="Consolas" pitchFamily="34" charset="0"/>
                <a:ea typeface="Consolas" pitchFamily="34" charset="-122"/>
                <a:cs typeface="Consolas" pitchFamily="34" charset="-120"/>
              </a:rPr>
              <a:t>−0.65</a:t>
            </a:r>
            <a:endParaRPr lang="en-US" sz="1350" dirty="0"/>
          </a:p>
        </p:txBody>
      </p:sp>
      <p:sp>
        <p:nvSpPr>
          <p:cNvPr id="35" name="Text 33"/>
          <p:cNvSpPr/>
          <p:nvPr/>
        </p:nvSpPr>
        <p:spPr>
          <a:xfrm>
            <a:off x="5669280" y="4334256"/>
            <a:ext cx="1097280" cy="621792"/>
          </a:xfrm>
          <a:prstGeom prst="rect">
            <a:avLst/>
          </a:prstGeom>
          <a:noFill/>
          <a:ln/>
        </p:spPr>
        <p:txBody>
          <a:bodyPr wrap="square" lIns="0" tIns="0" rIns="0" bIns="0" rtlCol="0" anchor="ctr"/>
          <a:lstStyle/>
          <a:p>
            <a:pPr algn="r" indent="0" marL="0">
              <a:buNone/>
            </a:pPr>
            <a:r>
              <a:rPr lang="en-US" sz="1350" dirty="0">
                <a:solidFill>
                  <a:srgbClr val="2A2118"/>
                </a:solidFill>
                <a:latin typeface="Consolas" pitchFamily="34" charset="0"/>
                <a:ea typeface="Consolas" pitchFamily="34" charset="-122"/>
                <a:cs typeface="Consolas" pitchFamily="34" charset="-120"/>
              </a:rPr>
              <a:t>.157</a:t>
            </a:r>
            <a:endParaRPr lang="en-US" sz="1350" dirty="0"/>
          </a:p>
        </p:txBody>
      </p:sp>
      <p:sp>
        <p:nvSpPr>
          <p:cNvPr id="36" name="Text 34"/>
          <p:cNvSpPr/>
          <p:nvPr/>
        </p:nvSpPr>
        <p:spPr>
          <a:xfrm>
            <a:off x="7086600" y="4334256"/>
            <a:ext cx="1463040" cy="621792"/>
          </a:xfrm>
          <a:prstGeom prst="rect">
            <a:avLst/>
          </a:prstGeom>
          <a:noFill/>
          <a:ln/>
        </p:spPr>
        <p:txBody>
          <a:bodyPr wrap="square" lIns="0" tIns="0" rIns="0" bIns="0" rtlCol="0" anchor="ctr"/>
          <a:lstStyle/>
          <a:p>
            <a:pPr algn="r" indent="0" marL="0">
              <a:buNone/>
            </a:pPr>
            <a:r>
              <a:rPr lang="en-US" sz="1350" dirty="0">
                <a:solidFill>
                  <a:srgbClr val="2A2118"/>
                </a:solidFill>
                <a:latin typeface="Consolas" pitchFamily="34" charset="0"/>
                <a:ea typeface="Consolas" pitchFamily="34" charset="-122"/>
                <a:cs typeface="Consolas" pitchFamily="34" charset="-120"/>
              </a:rPr>
              <a:t>1.78</a:t>
            </a:r>
            <a:endParaRPr lang="en-US" sz="1350" dirty="0"/>
          </a:p>
        </p:txBody>
      </p:sp>
      <p:sp>
        <p:nvSpPr>
          <p:cNvPr id="37" name="Text 35"/>
          <p:cNvSpPr/>
          <p:nvPr/>
        </p:nvSpPr>
        <p:spPr>
          <a:xfrm>
            <a:off x="8869680" y="4334256"/>
            <a:ext cx="2377440" cy="621792"/>
          </a:xfrm>
          <a:prstGeom prst="rect">
            <a:avLst/>
          </a:prstGeom>
          <a:noFill/>
          <a:ln/>
        </p:spPr>
        <p:txBody>
          <a:bodyPr wrap="square" lIns="0" tIns="0" rIns="0" bIns="0" rtlCol="0" anchor="ctr"/>
          <a:lstStyle/>
          <a:p>
            <a:pPr algn="l" indent="0" marL="0">
              <a:buNone/>
            </a:pPr>
            <a:r>
              <a:rPr lang="en-US" sz="1250" b="1" dirty="0">
                <a:solidFill>
                  <a:srgbClr val="0F8A6E"/>
                </a:solidFill>
                <a:latin typeface="Calibri" pitchFamily="34" charset="0"/>
                <a:ea typeface="Calibri" pitchFamily="34" charset="-122"/>
                <a:cs typeface="Calibri" pitchFamily="34" charset="-120"/>
              </a:rPr>
              <a:t>below the bar</a:t>
            </a:r>
            <a:endParaRPr lang="en-US" sz="1250" dirty="0"/>
          </a:p>
        </p:txBody>
      </p:sp>
      <p:sp>
        <p:nvSpPr>
          <p:cNvPr id="38" name="Shape 36"/>
          <p:cNvSpPr/>
          <p:nvPr/>
        </p:nvSpPr>
        <p:spPr>
          <a:xfrm>
            <a:off x="566928" y="5047488"/>
            <a:ext cx="11055096" cy="621792"/>
          </a:xfrm>
          <a:prstGeom prst="roundRect">
            <a:avLst>
              <a:gd name="adj" fmla="val 23529"/>
            </a:avLst>
          </a:prstGeom>
          <a:solidFill>
            <a:srgbClr val="FFFFFF"/>
          </a:solidFill>
          <a:ln/>
        </p:spPr>
      </p:sp>
      <p:sp>
        <p:nvSpPr>
          <p:cNvPr id="39" name="Shape 37"/>
          <p:cNvSpPr/>
          <p:nvPr/>
        </p:nvSpPr>
        <p:spPr>
          <a:xfrm>
            <a:off x="566928" y="5047488"/>
            <a:ext cx="100584" cy="621792"/>
          </a:xfrm>
          <a:prstGeom prst="roundRect">
            <a:avLst>
              <a:gd name="adj" fmla="val 454545"/>
            </a:avLst>
          </a:prstGeom>
          <a:solidFill>
            <a:srgbClr val="7A4F9E"/>
          </a:solidFill>
          <a:ln/>
        </p:spPr>
      </p:sp>
      <p:sp>
        <p:nvSpPr>
          <p:cNvPr id="40" name="Text 38"/>
          <p:cNvSpPr/>
          <p:nvPr/>
        </p:nvSpPr>
        <p:spPr>
          <a:xfrm>
            <a:off x="886968" y="5047488"/>
            <a:ext cx="3566160" cy="621792"/>
          </a:xfrm>
          <a:prstGeom prst="rect">
            <a:avLst/>
          </a:prstGeom>
          <a:noFill/>
          <a:ln/>
        </p:spPr>
        <p:txBody>
          <a:bodyPr wrap="square" lIns="0" tIns="0" rIns="0" bIns="0" rtlCol="0" anchor="ctr"/>
          <a:lstStyle/>
          <a:p>
            <a:pPr algn="l" indent="0" marL="0">
              <a:buNone/>
            </a:pPr>
            <a:r>
              <a:rPr lang="en-US" sz="1300" dirty="0">
                <a:solidFill>
                  <a:srgbClr val="2A2118"/>
                </a:solidFill>
                <a:latin typeface="Calibri" pitchFamily="34" charset="0"/>
                <a:ea typeface="Calibri" pitchFamily="34" charset="-122"/>
                <a:cs typeface="Calibri" pitchFamily="34" charset="-120"/>
              </a:rPr>
              <a:t>Power</a:t>
            </a:r>
            <a:endParaRPr lang="en-US" sz="1300" dirty="0"/>
          </a:p>
        </p:txBody>
      </p:sp>
      <p:sp>
        <p:nvSpPr>
          <p:cNvPr id="41" name="Text 39"/>
          <p:cNvSpPr/>
          <p:nvPr/>
        </p:nvSpPr>
        <p:spPr>
          <a:xfrm>
            <a:off x="4206240" y="5047488"/>
            <a:ext cx="1188720" cy="621792"/>
          </a:xfrm>
          <a:prstGeom prst="rect">
            <a:avLst/>
          </a:prstGeom>
          <a:noFill/>
          <a:ln/>
        </p:spPr>
        <p:txBody>
          <a:bodyPr wrap="square" lIns="0" tIns="0" rIns="0" bIns="0" rtlCol="0" anchor="ctr"/>
          <a:lstStyle/>
          <a:p>
            <a:pPr algn="r" indent="0" marL="0">
              <a:buNone/>
            </a:pPr>
            <a:r>
              <a:rPr lang="en-US" sz="1350" b="1" dirty="0">
                <a:solidFill>
                  <a:srgbClr val="7A4F9E"/>
                </a:solidFill>
                <a:latin typeface="Consolas" pitchFamily="34" charset="0"/>
                <a:ea typeface="Consolas" pitchFamily="34" charset="-122"/>
                <a:cs typeface="Consolas" pitchFamily="34" charset="-120"/>
              </a:rPr>
              <a:t>−1.21</a:t>
            </a:r>
            <a:endParaRPr lang="en-US" sz="1350" dirty="0"/>
          </a:p>
        </p:txBody>
      </p:sp>
      <p:sp>
        <p:nvSpPr>
          <p:cNvPr id="42" name="Text 40"/>
          <p:cNvSpPr/>
          <p:nvPr/>
        </p:nvSpPr>
        <p:spPr>
          <a:xfrm>
            <a:off x="5669280" y="5047488"/>
            <a:ext cx="1097280" cy="621792"/>
          </a:xfrm>
          <a:prstGeom prst="rect">
            <a:avLst/>
          </a:prstGeom>
          <a:noFill/>
          <a:ln/>
        </p:spPr>
        <p:txBody>
          <a:bodyPr wrap="square" lIns="0" tIns="0" rIns="0" bIns="0" rtlCol="0" anchor="ctr"/>
          <a:lstStyle/>
          <a:p>
            <a:pPr algn="r" indent="0" marL="0">
              <a:buNone/>
            </a:pPr>
            <a:r>
              <a:rPr lang="en-US" sz="1350" dirty="0">
                <a:solidFill>
                  <a:srgbClr val="2A2118"/>
                </a:solidFill>
                <a:latin typeface="Consolas" pitchFamily="34" charset="0"/>
                <a:ea typeface="Consolas" pitchFamily="34" charset="-122"/>
                <a:cs typeface="Consolas" pitchFamily="34" charset="-120"/>
              </a:rPr>
              <a:t>.008</a:t>
            </a:r>
            <a:endParaRPr lang="en-US" sz="1350" dirty="0"/>
          </a:p>
        </p:txBody>
      </p:sp>
      <p:sp>
        <p:nvSpPr>
          <p:cNvPr id="43" name="Text 41"/>
          <p:cNvSpPr/>
          <p:nvPr/>
        </p:nvSpPr>
        <p:spPr>
          <a:xfrm>
            <a:off x="7086600" y="5047488"/>
            <a:ext cx="1463040" cy="621792"/>
          </a:xfrm>
          <a:prstGeom prst="rect">
            <a:avLst/>
          </a:prstGeom>
          <a:noFill/>
          <a:ln/>
        </p:spPr>
        <p:txBody>
          <a:bodyPr wrap="square" lIns="0" tIns="0" rIns="0" bIns="0" rtlCol="0" anchor="ctr"/>
          <a:lstStyle/>
          <a:p>
            <a:pPr algn="r" indent="0" marL="0">
              <a:buNone/>
            </a:pPr>
            <a:r>
              <a:rPr lang="en-US" sz="1350" dirty="0">
                <a:solidFill>
                  <a:srgbClr val="2A2118"/>
                </a:solidFill>
                <a:latin typeface="Consolas" pitchFamily="34" charset="0"/>
                <a:ea typeface="Consolas" pitchFamily="34" charset="-122"/>
                <a:cs typeface="Consolas" pitchFamily="34" charset="-120"/>
              </a:rPr>
              <a:t>1.22</a:t>
            </a:r>
            <a:endParaRPr lang="en-US" sz="1350" dirty="0"/>
          </a:p>
        </p:txBody>
      </p:sp>
      <p:sp>
        <p:nvSpPr>
          <p:cNvPr id="44" name="Text 42"/>
          <p:cNvSpPr/>
          <p:nvPr/>
        </p:nvSpPr>
        <p:spPr>
          <a:xfrm>
            <a:off x="8869680" y="5047488"/>
            <a:ext cx="2377440" cy="621792"/>
          </a:xfrm>
          <a:prstGeom prst="rect">
            <a:avLst/>
          </a:prstGeom>
          <a:noFill/>
          <a:ln/>
        </p:spPr>
        <p:txBody>
          <a:bodyPr wrap="square" lIns="0" tIns="0" rIns="0" bIns="0" rtlCol="0" anchor="ctr"/>
          <a:lstStyle/>
          <a:p>
            <a:pPr algn="l" indent="0" marL="0">
              <a:buNone/>
            </a:pPr>
            <a:r>
              <a:rPr lang="en-US" sz="1250" b="1" dirty="0">
                <a:solidFill>
                  <a:srgbClr val="7A4F9E"/>
                </a:solidFill>
                <a:latin typeface="Calibri" pitchFamily="34" charset="0"/>
                <a:ea typeface="Calibri" pitchFamily="34" charset="-122"/>
                <a:cs typeface="Calibri" pitchFamily="34" charset="-120"/>
              </a:rPr>
              <a:t>below the bar</a:t>
            </a:r>
            <a:endParaRPr lang="en-US" sz="1250" dirty="0"/>
          </a:p>
        </p:txBody>
      </p:sp>
      <p:sp>
        <p:nvSpPr>
          <p:cNvPr id="45" name="Text 43"/>
          <p:cNvSpPr/>
          <p:nvPr/>
        </p:nvSpPr>
        <p:spPr>
          <a:xfrm>
            <a:off x="566928" y="6254496"/>
            <a:ext cx="11055096" cy="365760"/>
          </a:xfrm>
          <a:prstGeom prst="rect">
            <a:avLst/>
          </a:prstGeom>
          <a:noFill/>
          <a:ln/>
        </p:spPr>
        <p:txBody>
          <a:bodyPr wrap="square" lIns="0" tIns="0" rIns="0" bIns="0" rtlCol="0" anchor="ctr"/>
          <a:lstStyle/>
          <a:p>
            <a:pPr algn="l" indent="0" marL="0">
              <a:buNone/>
            </a:pPr>
            <a:r>
              <a:rPr lang="en-US" sz="1050" i="1" dirty="0">
                <a:solidFill>
                  <a:srgbClr val="6E5A48"/>
                </a:solidFill>
                <a:latin typeface="Calibri" pitchFamily="34" charset="0"/>
                <a:ea typeface="Calibri" pitchFamily="34" charset="-122"/>
                <a:cs typeface="Calibri" pitchFamily="34" charset="-120"/>
              </a:rPr>
              <a:t>Each rule also picks its own games above .70, so an earlier version compared different rules on different samples. Holding the sample fixed is what this table does.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7EC"/>
        </a:solidFill>
      </p:bgPr>
    </p:bg>
    <p:spTree>
      <p:nvGrpSpPr>
        <p:cNvPr id="1" name=""/>
        <p:cNvGrpSpPr/>
        <p:nvPr/>
      </p:nvGrpSpPr>
      <p:grpSpPr>
        <a:xfrm>
          <a:off x="0" y="0"/>
          <a:ext cx="0" cy="0"/>
          <a:chOff x="0" y="0"/>
          <a:chExt cx="0" cy="0"/>
        </a:xfrm>
      </p:grpSpPr>
      <p:sp>
        <p:nvSpPr>
          <p:cNvPr id="2" name="Shape 0"/>
          <p:cNvSpPr/>
          <p:nvPr/>
        </p:nvSpPr>
        <p:spPr>
          <a:xfrm>
            <a:off x="566928" y="310896"/>
            <a:ext cx="1860804" cy="384048"/>
          </a:xfrm>
          <a:prstGeom prst="roundRect">
            <a:avLst>
              <a:gd name="adj" fmla="val 119048"/>
            </a:avLst>
          </a:prstGeom>
          <a:solidFill>
            <a:srgbClr val="DB5A28"/>
          </a:solidFill>
          <a:ln/>
        </p:spPr>
      </p:sp>
      <p:sp>
        <p:nvSpPr>
          <p:cNvPr id="3" name="Text 1"/>
          <p:cNvSpPr/>
          <p:nvPr/>
        </p:nvSpPr>
        <p:spPr>
          <a:xfrm>
            <a:off x="566928" y="310896"/>
            <a:ext cx="1860804" cy="384048"/>
          </a:xfrm>
          <a:prstGeom prst="rect">
            <a:avLst/>
          </a:prstGeom>
          <a:noFill/>
          <a:ln/>
        </p:spPr>
        <p:txBody>
          <a:bodyPr wrap="square" lIns="0" tIns="0" rIns="0" bIns="0" rtlCol="0" anchor="ctr"/>
          <a:lstStyle/>
          <a:p>
            <a:pPr algn="ctr" indent="0" marL="0">
              <a:buNone/>
            </a:pPr>
            <a:r>
              <a:rPr lang="en-US" sz="1050" b="1" spc="140" kern="0" dirty="0">
                <a:solidFill>
                  <a:srgbClr val="FFFFFF"/>
                </a:solidFill>
                <a:latin typeface="Calibri" pitchFamily="34" charset="0"/>
                <a:ea typeface="Calibri" pitchFamily="34" charset="-122"/>
                <a:cs typeface="Calibri" pitchFamily="34" charset="-120"/>
              </a:rPr>
              <a:t>THE FINDING</a:t>
            </a:r>
            <a:endParaRPr lang="en-US" sz="1050" dirty="0"/>
          </a:p>
        </p:txBody>
      </p:sp>
      <p:sp>
        <p:nvSpPr>
          <p:cNvPr id="4" name="Text 2"/>
          <p:cNvSpPr/>
          <p:nvPr/>
        </p:nvSpPr>
        <p:spPr>
          <a:xfrm>
            <a:off x="566928" y="841248"/>
            <a:ext cx="11055096" cy="786384"/>
          </a:xfrm>
          <a:prstGeom prst="rect">
            <a:avLst/>
          </a:prstGeom>
          <a:noFill/>
          <a:ln/>
        </p:spPr>
        <p:txBody>
          <a:bodyPr wrap="square" lIns="0" tIns="0" rIns="0" bIns="0" rtlCol="0" anchor="ctr"/>
          <a:lstStyle/>
          <a:p>
            <a:pPr algn="l" indent="0" marL="0">
              <a:buNone/>
            </a:pPr>
            <a:r>
              <a:rPr lang="en-US" sz="3100" b="1" dirty="0">
                <a:solidFill>
                  <a:srgbClr val="2A2118"/>
                </a:solidFill>
                <a:latin typeface="Century Gothic" pitchFamily="34" charset="0"/>
                <a:ea typeface="Century Gothic" pitchFamily="34" charset="-122"/>
                <a:cs typeface="Century Gothic" pitchFamily="34" charset="-120"/>
              </a:rPr>
              <a:t>Three treatments of the same games</a:t>
            </a:r>
            <a:endParaRPr lang="en-US" sz="3100" dirty="0"/>
          </a:p>
        </p:txBody>
      </p:sp>
      <p:sp>
        <p:nvSpPr>
          <p:cNvPr id="5" name="Shape 3"/>
          <p:cNvSpPr/>
          <p:nvPr/>
        </p:nvSpPr>
        <p:spPr>
          <a:xfrm>
            <a:off x="566928" y="1874520"/>
            <a:ext cx="3520440" cy="2331720"/>
          </a:xfrm>
          <a:prstGeom prst="roundRect">
            <a:avLst>
              <a:gd name="adj" fmla="val 6275"/>
            </a:avLst>
          </a:prstGeom>
          <a:solidFill>
            <a:srgbClr val="DB5A28"/>
          </a:solidFill>
          <a:ln/>
        </p:spPr>
      </p:sp>
      <p:sp>
        <p:nvSpPr>
          <p:cNvPr id="6" name="Text 4"/>
          <p:cNvSpPr/>
          <p:nvPr/>
        </p:nvSpPr>
        <p:spPr>
          <a:xfrm>
            <a:off x="841248" y="2057400"/>
            <a:ext cx="2971800" cy="1005840"/>
          </a:xfrm>
          <a:prstGeom prst="rect">
            <a:avLst/>
          </a:prstGeom>
          <a:noFill/>
          <a:ln/>
        </p:spPr>
        <p:txBody>
          <a:bodyPr wrap="square" lIns="0" tIns="0" rIns="0" bIns="0" rtlCol="0" anchor="ctr"/>
          <a:lstStyle/>
          <a:p>
            <a:pPr algn="l" indent="0" marL="0">
              <a:buNone/>
            </a:pPr>
            <a:r>
              <a:rPr lang="en-US" sz="4400" b="1" dirty="0">
                <a:solidFill>
                  <a:srgbClr val="FFFFFF"/>
                </a:solidFill>
                <a:latin typeface="Century Gothic" pitchFamily="34" charset="0"/>
                <a:ea typeface="Century Gothic" pitchFamily="34" charset="-122"/>
                <a:cs typeface="Century Gothic" pitchFamily="34" charset="-120"/>
              </a:rPr>
              <a:t>−2.43</a:t>
            </a:r>
            <a:endParaRPr lang="en-US" sz="4400" dirty="0"/>
          </a:p>
        </p:txBody>
      </p:sp>
      <p:sp>
        <p:nvSpPr>
          <p:cNvPr id="7" name="Text 5"/>
          <p:cNvSpPr/>
          <p:nvPr/>
        </p:nvSpPr>
        <p:spPr>
          <a:xfrm>
            <a:off x="841248" y="3127248"/>
            <a:ext cx="2971800" cy="384048"/>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raw prices</a:t>
            </a:r>
            <a:endParaRPr lang="en-US" sz="1500" dirty="0"/>
          </a:p>
        </p:txBody>
      </p:sp>
      <p:sp>
        <p:nvSpPr>
          <p:cNvPr id="8" name="Text 6"/>
          <p:cNvSpPr/>
          <p:nvPr/>
        </p:nvSpPr>
        <p:spPr>
          <a:xfrm>
            <a:off x="841248" y="3529584"/>
            <a:ext cx="2971800" cy="384048"/>
          </a:xfrm>
          <a:prstGeom prst="rect">
            <a:avLst/>
          </a:prstGeom>
          <a:noFill/>
          <a:ln/>
        </p:spPr>
        <p:txBody>
          <a:bodyPr wrap="square" lIns="0" tIns="0" rIns="0" bIns="0" rtlCol="0" anchor="ctr"/>
          <a:lstStyle/>
          <a:p>
            <a:pPr algn="l" indent="0" marL="0">
              <a:buNone/>
            </a:pPr>
            <a:r>
              <a:rPr lang="en-US" sz="1350" dirty="0">
                <a:solidFill>
                  <a:srgbClr val="FFFFFF"/>
                </a:solidFill>
                <a:latin typeface="Consolas" pitchFamily="34" charset="0"/>
                <a:ea typeface="Consolas" pitchFamily="34" charset="-122"/>
                <a:cs typeface="Consolas" pitchFamily="34" charset="-120"/>
              </a:rPr>
              <a:t>p &lt; .001</a:t>
            </a:r>
            <a:endParaRPr lang="en-US" sz="1350" dirty="0"/>
          </a:p>
        </p:txBody>
      </p:sp>
      <p:sp>
        <p:nvSpPr>
          <p:cNvPr id="9" name="Shape 7"/>
          <p:cNvSpPr/>
          <p:nvPr/>
        </p:nvSpPr>
        <p:spPr>
          <a:xfrm>
            <a:off x="4334256" y="1874520"/>
            <a:ext cx="3520440" cy="2331720"/>
          </a:xfrm>
          <a:prstGeom prst="roundRect">
            <a:avLst>
              <a:gd name="adj" fmla="val 6275"/>
            </a:avLst>
          </a:prstGeom>
          <a:solidFill>
            <a:srgbClr val="0F8A6E"/>
          </a:solidFill>
          <a:ln/>
        </p:spPr>
      </p:sp>
      <p:sp>
        <p:nvSpPr>
          <p:cNvPr id="10" name="Text 8"/>
          <p:cNvSpPr/>
          <p:nvPr/>
        </p:nvSpPr>
        <p:spPr>
          <a:xfrm>
            <a:off x="4608576" y="2057400"/>
            <a:ext cx="2971800" cy="1005840"/>
          </a:xfrm>
          <a:prstGeom prst="rect">
            <a:avLst/>
          </a:prstGeom>
          <a:noFill/>
          <a:ln/>
        </p:spPr>
        <p:txBody>
          <a:bodyPr wrap="square" lIns="0" tIns="0" rIns="0" bIns="0" rtlCol="0" anchor="ctr"/>
          <a:lstStyle/>
          <a:p>
            <a:pPr algn="l" indent="0" marL="0">
              <a:buNone/>
            </a:pPr>
            <a:r>
              <a:rPr lang="en-US" sz="4400" b="1" dirty="0">
                <a:solidFill>
                  <a:srgbClr val="FFFFFF"/>
                </a:solidFill>
                <a:latin typeface="Century Gothic" pitchFamily="34" charset="0"/>
                <a:ea typeface="Century Gothic" pitchFamily="34" charset="-122"/>
                <a:cs typeface="Century Gothic" pitchFamily="34" charset="-120"/>
              </a:rPr>
              <a:t>+0.58</a:t>
            </a:r>
            <a:endParaRPr lang="en-US" sz="4400" dirty="0"/>
          </a:p>
        </p:txBody>
      </p:sp>
      <p:sp>
        <p:nvSpPr>
          <p:cNvPr id="11" name="Text 9"/>
          <p:cNvSpPr/>
          <p:nvPr/>
        </p:nvSpPr>
        <p:spPr>
          <a:xfrm>
            <a:off x="4608576" y="3127248"/>
            <a:ext cx="2971800" cy="384048"/>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proportional</a:t>
            </a:r>
            <a:endParaRPr lang="en-US" sz="1500" dirty="0"/>
          </a:p>
        </p:txBody>
      </p:sp>
      <p:sp>
        <p:nvSpPr>
          <p:cNvPr id="12" name="Text 10"/>
          <p:cNvSpPr/>
          <p:nvPr/>
        </p:nvSpPr>
        <p:spPr>
          <a:xfrm>
            <a:off x="4608576" y="3529584"/>
            <a:ext cx="2971800" cy="384048"/>
          </a:xfrm>
          <a:prstGeom prst="rect">
            <a:avLst/>
          </a:prstGeom>
          <a:noFill/>
          <a:ln/>
        </p:spPr>
        <p:txBody>
          <a:bodyPr wrap="square" lIns="0" tIns="0" rIns="0" bIns="0" rtlCol="0" anchor="ctr"/>
          <a:lstStyle/>
          <a:p>
            <a:pPr algn="l" indent="0" marL="0">
              <a:buNone/>
            </a:pPr>
            <a:r>
              <a:rPr lang="en-US" sz="1350" dirty="0">
                <a:solidFill>
                  <a:srgbClr val="FFFFFF"/>
                </a:solidFill>
                <a:latin typeface="Consolas" pitchFamily="34" charset="0"/>
                <a:ea typeface="Consolas" pitchFamily="34" charset="-122"/>
                <a:cs typeface="Consolas" pitchFamily="34" charset="-120"/>
              </a:rPr>
              <a:t>p = .223</a:t>
            </a:r>
            <a:endParaRPr lang="en-US" sz="1350" dirty="0"/>
          </a:p>
        </p:txBody>
      </p:sp>
      <p:sp>
        <p:nvSpPr>
          <p:cNvPr id="13" name="Shape 11"/>
          <p:cNvSpPr/>
          <p:nvPr/>
        </p:nvSpPr>
        <p:spPr>
          <a:xfrm>
            <a:off x="8101584" y="1874520"/>
            <a:ext cx="3520440" cy="2331720"/>
          </a:xfrm>
          <a:prstGeom prst="roundRect">
            <a:avLst>
              <a:gd name="adj" fmla="val 6275"/>
            </a:avLst>
          </a:prstGeom>
          <a:solidFill>
            <a:srgbClr val="7A4F9E"/>
          </a:solidFill>
          <a:ln/>
        </p:spPr>
      </p:sp>
      <p:sp>
        <p:nvSpPr>
          <p:cNvPr id="14" name="Text 12"/>
          <p:cNvSpPr/>
          <p:nvPr/>
        </p:nvSpPr>
        <p:spPr>
          <a:xfrm>
            <a:off x="8375904" y="2057400"/>
            <a:ext cx="2971800" cy="1005840"/>
          </a:xfrm>
          <a:prstGeom prst="rect">
            <a:avLst/>
          </a:prstGeom>
          <a:noFill/>
          <a:ln/>
        </p:spPr>
        <p:txBody>
          <a:bodyPr wrap="square" lIns="0" tIns="0" rIns="0" bIns="0" rtlCol="0" anchor="ctr"/>
          <a:lstStyle/>
          <a:p>
            <a:pPr algn="l" indent="0" marL="0">
              <a:buNone/>
            </a:pPr>
            <a:r>
              <a:rPr lang="en-US" sz="4400" b="1" dirty="0">
                <a:solidFill>
                  <a:srgbClr val="FFFFFF"/>
                </a:solidFill>
                <a:latin typeface="Century Gothic" pitchFamily="34" charset="0"/>
                <a:ea typeface="Century Gothic" pitchFamily="34" charset="-122"/>
                <a:cs typeface="Century Gothic" pitchFamily="34" charset="-120"/>
              </a:rPr>
              <a:t>−1.21</a:t>
            </a:r>
            <a:endParaRPr lang="en-US" sz="4400" dirty="0"/>
          </a:p>
        </p:txBody>
      </p:sp>
      <p:sp>
        <p:nvSpPr>
          <p:cNvPr id="15" name="Text 13"/>
          <p:cNvSpPr/>
          <p:nvPr/>
        </p:nvSpPr>
        <p:spPr>
          <a:xfrm>
            <a:off x="8375904" y="3127248"/>
            <a:ext cx="2971800" cy="384048"/>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power</a:t>
            </a:r>
            <a:endParaRPr lang="en-US" sz="1500" dirty="0"/>
          </a:p>
        </p:txBody>
      </p:sp>
      <p:sp>
        <p:nvSpPr>
          <p:cNvPr id="16" name="Text 14"/>
          <p:cNvSpPr/>
          <p:nvPr/>
        </p:nvSpPr>
        <p:spPr>
          <a:xfrm>
            <a:off x="8375904" y="3529584"/>
            <a:ext cx="2971800" cy="384048"/>
          </a:xfrm>
          <a:prstGeom prst="rect">
            <a:avLst/>
          </a:prstGeom>
          <a:noFill/>
          <a:ln/>
        </p:spPr>
        <p:txBody>
          <a:bodyPr wrap="square" lIns="0" tIns="0" rIns="0" bIns="0" rtlCol="0" anchor="ctr"/>
          <a:lstStyle/>
          <a:p>
            <a:pPr algn="l" indent="0" marL="0">
              <a:buNone/>
            </a:pPr>
            <a:r>
              <a:rPr lang="en-US" sz="1350" dirty="0">
                <a:solidFill>
                  <a:srgbClr val="FFFFFF"/>
                </a:solidFill>
                <a:latin typeface="Consolas" pitchFamily="34" charset="0"/>
                <a:ea typeface="Consolas" pitchFamily="34" charset="-122"/>
                <a:cs typeface="Consolas" pitchFamily="34" charset="-120"/>
              </a:rPr>
              <a:t>p = .008</a:t>
            </a:r>
            <a:endParaRPr lang="en-US" sz="1350" dirty="0"/>
          </a:p>
        </p:txBody>
      </p:sp>
      <p:sp>
        <p:nvSpPr>
          <p:cNvPr id="17" name="Shape 15"/>
          <p:cNvSpPr/>
          <p:nvPr/>
        </p:nvSpPr>
        <p:spPr>
          <a:xfrm>
            <a:off x="566928" y="4526280"/>
            <a:ext cx="11055096" cy="1234440"/>
          </a:xfrm>
          <a:prstGeom prst="roundRect">
            <a:avLst>
              <a:gd name="adj" fmla="val 11852"/>
            </a:avLst>
          </a:prstGeom>
          <a:solidFill>
            <a:srgbClr val="FDEEDC"/>
          </a:solidFill>
          <a:ln/>
        </p:spPr>
      </p:sp>
      <p:sp>
        <p:nvSpPr>
          <p:cNvPr id="18" name="Text 16"/>
          <p:cNvSpPr/>
          <p:nvPr/>
        </p:nvSpPr>
        <p:spPr>
          <a:xfrm>
            <a:off x="1024128" y="4526280"/>
            <a:ext cx="10140696" cy="1234440"/>
          </a:xfrm>
          <a:prstGeom prst="rect">
            <a:avLst/>
          </a:prstGeom>
          <a:noFill/>
          <a:ln/>
        </p:spPr>
        <p:txBody>
          <a:bodyPr wrap="square" lIns="0" tIns="0" rIns="0" bIns="0" rtlCol="0" anchor="ctr"/>
          <a:lstStyle/>
          <a:p>
            <a:pPr algn="l" indent="0" marL="0">
              <a:buNone/>
            </a:pPr>
            <a:r>
              <a:rPr lang="en-US" sz="1700" b="1" dirty="0">
                <a:solidFill>
                  <a:srgbClr val="2A2118"/>
                </a:solidFill>
                <a:latin typeface="Century Gothic" pitchFamily="34" charset="0"/>
                <a:ea typeface="Century Gothic" pitchFamily="34" charset="-122"/>
                <a:cs typeface="Century Gothic" pitchFamily="34" charset="-120"/>
              </a:rPr>
              <a:t>Whether favorite bias appears at all, how big it is, and which way it points all turn on one modeling step.</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7EC"/>
        </a:solidFill>
      </p:bgPr>
    </p:bg>
    <p:spTree>
      <p:nvGrpSpPr>
        <p:cNvPr id="1" name=""/>
        <p:cNvGrpSpPr/>
        <p:nvPr/>
      </p:nvGrpSpPr>
      <p:grpSpPr>
        <a:xfrm>
          <a:off x="0" y="0"/>
          <a:ext cx="0" cy="0"/>
          <a:chOff x="0" y="0"/>
          <a:chExt cx="0" cy="0"/>
        </a:xfrm>
      </p:grpSpPr>
      <p:sp>
        <p:nvSpPr>
          <p:cNvPr id="2" name="Shape 0"/>
          <p:cNvSpPr/>
          <p:nvPr/>
        </p:nvSpPr>
        <p:spPr>
          <a:xfrm>
            <a:off x="566928" y="310896"/>
            <a:ext cx="5317236" cy="384048"/>
          </a:xfrm>
          <a:prstGeom prst="roundRect">
            <a:avLst>
              <a:gd name="adj" fmla="val 119048"/>
            </a:avLst>
          </a:prstGeom>
          <a:solidFill>
            <a:srgbClr val="DB5A28"/>
          </a:solidFill>
          <a:ln/>
        </p:spPr>
      </p:sp>
      <p:sp>
        <p:nvSpPr>
          <p:cNvPr id="3" name="Text 1"/>
          <p:cNvSpPr/>
          <p:nvPr/>
        </p:nvSpPr>
        <p:spPr>
          <a:xfrm>
            <a:off x="566928" y="310896"/>
            <a:ext cx="5317236" cy="384048"/>
          </a:xfrm>
          <a:prstGeom prst="rect">
            <a:avLst/>
          </a:prstGeom>
          <a:noFill/>
          <a:ln/>
        </p:spPr>
        <p:txBody>
          <a:bodyPr wrap="square" lIns="0" tIns="0" rIns="0" bIns="0" rtlCol="0" anchor="ctr"/>
          <a:lstStyle/>
          <a:p>
            <a:pPr algn="ctr" indent="0" marL="0">
              <a:buNone/>
            </a:pPr>
            <a:r>
              <a:rPr lang="en-US" sz="1050" b="1" spc="140" kern="0" dirty="0">
                <a:solidFill>
                  <a:srgbClr val="FFFFFF"/>
                </a:solidFill>
                <a:latin typeface="Calibri" pitchFamily="34" charset="0"/>
                <a:ea typeface="Calibri" pitchFamily="34" charset="-122"/>
                <a:cs typeface="Calibri" pitchFamily="34" charset="-120"/>
              </a:rPr>
              <a:t>THE SHARPEST SINGLE NUMBER IN THE PAPER</a:t>
            </a:r>
            <a:endParaRPr lang="en-US" sz="1050" dirty="0"/>
          </a:p>
        </p:txBody>
      </p:sp>
      <p:sp>
        <p:nvSpPr>
          <p:cNvPr id="4" name="Text 2"/>
          <p:cNvSpPr/>
          <p:nvPr/>
        </p:nvSpPr>
        <p:spPr>
          <a:xfrm>
            <a:off x="566928" y="841248"/>
            <a:ext cx="11055096" cy="786384"/>
          </a:xfrm>
          <a:prstGeom prst="rect">
            <a:avLst/>
          </a:prstGeom>
          <a:noFill/>
          <a:ln/>
        </p:spPr>
        <p:txBody>
          <a:bodyPr wrap="square" lIns="0" tIns="0" rIns="0" bIns="0" rtlCol="0" anchor="ctr"/>
          <a:lstStyle/>
          <a:p>
            <a:pPr algn="l" indent="0" marL="0">
              <a:buNone/>
            </a:pPr>
            <a:r>
              <a:rPr lang="en-US" sz="3100" b="1" dirty="0">
                <a:solidFill>
                  <a:srgbClr val="2A2118"/>
                </a:solidFill>
                <a:latin typeface="Century Gothic" pitchFamily="34" charset="0"/>
                <a:ea typeface="Century Gothic" pitchFamily="34" charset="-122"/>
                <a:cs typeface="Century Gothic" pitchFamily="34" charset="-120"/>
              </a:rPr>
              <a:t>Skip the margin and you measure the margin</a:t>
            </a:r>
            <a:endParaRPr lang="en-US" sz="3100" dirty="0"/>
          </a:p>
        </p:txBody>
      </p:sp>
      <p:sp>
        <p:nvSpPr>
          <p:cNvPr id="5" name="Shape 3"/>
          <p:cNvSpPr/>
          <p:nvPr/>
        </p:nvSpPr>
        <p:spPr>
          <a:xfrm>
            <a:off x="10972800" y="5486400"/>
            <a:ext cx="2103120" cy="2103120"/>
          </a:xfrm>
          <a:prstGeom prst="ellipse">
            <a:avLst/>
          </a:prstGeom>
          <a:solidFill>
            <a:srgbClr val="FBE3D6"/>
          </a:solidFill>
          <a:ln/>
        </p:spPr>
      </p:sp>
      <p:sp>
        <p:nvSpPr>
          <p:cNvPr id="6" name="Shape 4"/>
          <p:cNvSpPr/>
          <p:nvPr/>
        </p:nvSpPr>
        <p:spPr>
          <a:xfrm>
            <a:off x="566928" y="1874520"/>
            <a:ext cx="4297680" cy="2103120"/>
          </a:xfrm>
          <a:prstGeom prst="roundRect">
            <a:avLst>
              <a:gd name="adj" fmla="val 6957"/>
            </a:avLst>
          </a:prstGeom>
          <a:solidFill>
            <a:srgbClr val="DB5A28"/>
          </a:solidFill>
          <a:ln/>
        </p:spPr>
      </p:sp>
      <p:sp>
        <p:nvSpPr>
          <p:cNvPr id="7" name="Text 5"/>
          <p:cNvSpPr/>
          <p:nvPr/>
        </p:nvSpPr>
        <p:spPr>
          <a:xfrm>
            <a:off x="822960" y="2020824"/>
            <a:ext cx="3840480" cy="1156716"/>
          </a:xfrm>
          <a:prstGeom prst="rect">
            <a:avLst/>
          </a:prstGeom>
          <a:noFill/>
          <a:ln/>
        </p:spPr>
        <p:txBody>
          <a:bodyPr wrap="square" lIns="0" tIns="0" rIns="0" bIns="0" rtlCol="0" anchor="ctr"/>
          <a:lstStyle/>
          <a:p>
            <a:pPr algn="l" indent="0" marL="0">
              <a:buNone/>
            </a:pPr>
            <a:r>
              <a:rPr lang="en-US" sz="5200" b="1" dirty="0">
                <a:solidFill>
                  <a:srgbClr val="FFFFFF"/>
                </a:solidFill>
                <a:latin typeface="Century Gothic" pitchFamily="34" charset="0"/>
                <a:ea typeface="Century Gothic" pitchFamily="34" charset="-122"/>
                <a:cs typeface="Century Gothic" pitchFamily="34" charset="-120"/>
              </a:rPr>
              <a:t>−2.43</a:t>
            </a:r>
            <a:endParaRPr lang="en-US" sz="5200" dirty="0"/>
          </a:p>
        </p:txBody>
      </p:sp>
      <p:sp>
        <p:nvSpPr>
          <p:cNvPr id="8" name="Text 6"/>
          <p:cNvSpPr/>
          <p:nvPr/>
        </p:nvSpPr>
        <p:spPr>
          <a:xfrm>
            <a:off x="822960" y="3178454"/>
            <a:ext cx="3840480" cy="672998"/>
          </a:xfrm>
          <a:prstGeom prst="rect">
            <a:avLst/>
          </a:prstGeom>
          <a:noFill/>
          <a:ln/>
        </p:spPr>
        <p:txBody>
          <a:bodyPr wrap="square" lIns="0" tIns="0" rIns="0" bIns="0" rtlCol="0" anchor="t"/>
          <a:lstStyle/>
          <a:p>
            <a:pPr algn="l" indent="0" marL="0">
              <a:lnSpc>
                <a:spcPct val="110000"/>
              </a:lnSpc>
              <a:buNone/>
            </a:pPr>
            <a:r>
              <a:rPr lang="en-US" sz="1150" dirty="0">
                <a:solidFill>
                  <a:srgbClr val="FFFFFF"/>
                </a:solidFill>
                <a:latin typeface="Calibri" pitchFamily="34" charset="0"/>
                <a:ea typeface="Calibri" pitchFamily="34" charset="-122"/>
                <a:cs typeface="Calibri" pitchFamily="34" charset="-120"/>
              </a:rPr>
              <a:t>favorite bias, p &lt; .001, testing against raw prices</a:t>
            </a:r>
            <a:endParaRPr lang="en-US" sz="1150" dirty="0"/>
          </a:p>
        </p:txBody>
      </p:sp>
      <p:sp>
        <p:nvSpPr>
          <p:cNvPr id="9" name="Shape 7"/>
          <p:cNvSpPr/>
          <p:nvPr/>
        </p:nvSpPr>
        <p:spPr>
          <a:xfrm>
            <a:off x="5120640" y="1874520"/>
            <a:ext cx="6501384" cy="2103120"/>
          </a:xfrm>
          <a:prstGeom prst="roundRect">
            <a:avLst>
              <a:gd name="adj" fmla="val 6957"/>
            </a:avLst>
          </a:prstGeom>
          <a:solidFill>
            <a:srgbClr val="FDEEDC"/>
          </a:solidFill>
          <a:ln/>
        </p:spPr>
      </p:sp>
      <p:sp>
        <p:nvSpPr>
          <p:cNvPr id="10" name="Text 8"/>
          <p:cNvSpPr/>
          <p:nvPr/>
        </p:nvSpPr>
        <p:spPr>
          <a:xfrm>
            <a:off x="5504688" y="2176272"/>
            <a:ext cx="5760720" cy="1691640"/>
          </a:xfrm>
          <a:prstGeom prst="rect">
            <a:avLst/>
          </a:prstGeom>
          <a:noFill/>
          <a:ln/>
        </p:spPr>
        <p:txBody>
          <a:bodyPr wrap="square" lIns="0" tIns="0" rIns="0" bIns="0" rtlCol="0" anchor="t"/>
          <a:lstStyle/>
          <a:p>
            <a:pPr algn="l" indent="0" marL="0">
              <a:lnSpc>
                <a:spcPct val="134000"/>
              </a:lnSpc>
              <a:buNone/>
            </a:pPr>
            <a:r>
              <a:rPr lang="en-US" sz="1450" dirty="0">
                <a:solidFill>
                  <a:srgbClr val="2A2118"/>
                </a:solidFill>
                <a:latin typeface="Calibri" pitchFamily="34" charset="0"/>
                <a:ea typeface="Calibri" pitchFamily="34" charset="-122"/>
                <a:cs typeface="Calibri" pitchFamily="34" charset="-120"/>
              </a:rPr>
              <a:t>Test observed win rates against raw implied probabilities and you get a large, highly significant favorite bias.</a:t>
            </a:r>
            <a:endParaRPr lang="en-US" sz="1450" dirty="0"/>
          </a:p>
          <a:p>
            <a:pPr algn="l" indent="0" marL="0">
              <a:lnSpc>
                <a:spcPct val="134000"/>
              </a:lnSpc>
              <a:buNone/>
            </a:pPr>
            <a:endParaRPr lang="en-US" sz="1450" dirty="0"/>
          </a:p>
          <a:p>
            <a:pPr algn="l" indent="0" marL="0">
              <a:lnSpc>
                <a:spcPct val="134000"/>
              </a:lnSpc>
              <a:buNone/>
            </a:pPr>
            <a:r>
              <a:rPr lang="en-US" sz="1450" dirty="0">
                <a:solidFill>
                  <a:srgbClr val="2A2118"/>
                </a:solidFill>
                <a:latin typeface="Calibri" pitchFamily="34" charset="0"/>
                <a:ea typeface="Calibri" pitchFamily="34" charset="-122"/>
                <a:cs typeface="Calibri" pitchFamily="34" charset="-120"/>
              </a:rPr>
              <a:t>It is not bettor behavior. It is the bookmaker’s cut, sitting in the numbers, being read as a result.</a:t>
            </a:r>
            <a:endParaRPr lang="en-US" sz="1450" dirty="0"/>
          </a:p>
        </p:txBody>
      </p:sp>
      <p:sp>
        <p:nvSpPr>
          <p:cNvPr id="11" name="Shape 9"/>
          <p:cNvSpPr/>
          <p:nvPr/>
        </p:nvSpPr>
        <p:spPr>
          <a:xfrm>
            <a:off x="566928" y="4297680"/>
            <a:ext cx="11055096" cy="1143000"/>
          </a:xfrm>
          <a:prstGeom prst="roundRect">
            <a:avLst>
              <a:gd name="adj" fmla="val 12800"/>
            </a:avLst>
          </a:prstGeom>
          <a:solidFill>
            <a:srgbClr val="2E63C8"/>
          </a:solidFill>
          <a:ln/>
        </p:spPr>
      </p:sp>
      <p:sp>
        <p:nvSpPr>
          <p:cNvPr id="12" name="Text 10"/>
          <p:cNvSpPr/>
          <p:nvPr/>
        </p:nvSpPr>
        <p:spPr>
          <a:xfrm>
            <a:off x="1024128" y="4297680"/>
            <a:ext cx="10140696" cy="1143000"/>
          </a:xfrm>
          <a:prstGeom prst="rect">
            <a:avLst/>
          </a:prstGeom>
          <a:noFill/>
          <a:ln/>
        </p:spPr>
        <p:txBody>
          <a:bodyPr wrap="square" lIns="0" tIns="0" rIns="0" bIns="0" rtlCol="0" anchor="ctr"/>
          <a:lstStyle/>
          <a:p>
            <a:pPr algn="l" indent="0" marL="0">
              <a:buNone/>
            </a:pPr>
            <a:r>
              <a:rPr lang="en-US" sz="1600" b="1" dirty="0">
                <a:solidFill>
                  <a:srgbClr val="FFFFFF"/>
                </a:solidFill>
                <a:latin typeface="Century Gothic" pitchFamily="34" charset="0"/>
                <a:ea typeface="Century Gothic" pitchFamily="34" charset="-122"/>
                <a:cs typeface="Century Gothic" pitchFamily="34" charset="-120"/>
              </a:rPr>
              <a:t>Several bucket-test designs still in use skip this step. The sign of the headline finding turns on it.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7EC"/>
        </a:solidFill>
      </p:bgPr>
    </p:bg>
    <p:spTree>
      <p:nvGrpSpPr>
        <p:cNvPr id="1" name=""/>
        <p:cNvGrpSpPr/>
        <p:nvPr/>
      </p:nvGrpSpPr>
      <p:grpSpPr>
        <a:xfrm>
          <a:off x="0" y="0"/>
          <a:ext cx="0" cy="0"/>
          <a:chOff x="0" y="0"/>
          <a:chExt cx="0" cy="0"/>
        </a:xfrm>
      </p:grpSpPr>
      <p:sp>
        <p:nvSpPr>
          <p:cNvPr id="2" name="Shape 0"/>
          <p:cNvSpPr/>
          <p:nvPr/>
        </p:nvSpPr>
        <p:spPr>
          <a:xfrm>
            <a:off x="566928" y="310896"/>
            <a:ext cx="4206240" cy="384048"/>
          </a:xfrm>
          <a:prstGeom prst="roundRect">
            <a:avLst>
              <a:gd name="adj" fmla="val 119048"/>
            </a:avLst>
          </a:prstGeom>
          <a:solidFill>
            <a:srgbClr val="0F8A6E"/>
          </a:solidFill>
          <a:ln/>
        </p:spPr>
      </p:sp>
      <p:sp>
        <p:nvSpPr>
          <p:cNvPr id="3" name="Text 1"/>
          <p:cNvSpPr/>
          <p:nvPr/>
        </p:nvSpPr>
        <p:spPr>
          <a:xfrm>
            <a:off x="566928" y="310896"/>
            <a:ext cx="4206240" cy="384048"/>
          </a:xfrm>
          <a:prstGeom prst="rect">
            <a:avLst/>
          </a:prstGeom>
          <a:noFill/>
          <a:ln/>
        </p:spPr>
        <p:txBody>
          <a:bodyPr wrap="square" lIns="0" tIns="0" rIns="0" bIns="0" rtlCol="0" anchor="ctr"/>
          <a:lstStyle/>
          <a:p>
            <a:pPr algn="ctr" indent="0" marL="0">
              <a:buNone/>
            </a:pPr>
            <a:r>
              <a:rPr lang="en-US" sz="1050" b="1" spc="140" kern="0" dirty="0">
                <a:solidFill>
                  <a:srgbClr val="FFFFFF"/>
                </a:solidFill>
                <a:latin typeface="Calibri" pitchFamily="34" charset="0"/>
                <a:ea typeface="Calibri" pitchFamily="34" charset="-122"/>
                <a:cs typeface="Calibri" pitchFamily="34" charset="-120"/>
              </a:rPr>
              <a:t>A SMALL THING I DID NOT EXPECT</a:t>
            </a:r>
            <a:endParaRPr lang="en-US" sz="1050" dirty="0"/>
          </a:p>
        </p:txBody>
      </p:sp>
      <p:sp>
        <p:nvSpPr>
          <p:cNvPr id="4" name="Text 2"/>
          <p:cNvSpPr/>
          <p:nvPr/>
        </p:nvSpPr>
        <p:spPr>
          <a:xfrm>
            <a:off x="566928" y="841248"/>
            <a:ext cx="11055096" cy="786384"/>
          </a:xfrm>
          <a:prstGeom prst="rect">
            <a:avLst/>
          </a:prstGeom>
          <a:noFill/>
          <a:ln/>
        </p:spPr>
        <p:txBody>
          <a:bodyPr wrap="square" lIns="0" tIns="0" rIns="0" bIns="0" rtlCol="0" anchor="ctr"/>
          <a:lstStyle/>
          <a:p>
            <a:pPr algn="l" indent="0" marL="0">
              <a:buNone/>
            </a:pPr>
            <a:r>
              <a:rPr lang="en-US" sz="2800" b="1" dirty="0">
                <a:solidFill>
                  <a:srgbClr val="2A2118"/>
                </a:solidFill>
                <a:latin typeface="Century Gothic" pitchFamily="34" charset="0"/>
                <a:ea typeface="Century Gothic" pitchFamily="34" charset="-122"/>
                <a:cs typeface="Century Gothic" pitchFamily="34" charset="-120"/>
              </a:rPr>
              <a:t>Shin’s rule and the equal-margin rule are the same rule</a:t>
            </a:r>
            <a:endParaRPr lang="en-US" sz="2800" dirty="0"/>
          </a:p>
        </p:txBody>
      </p:sp>
      <p:sp>
        <p:nvSpPr>
          <p:cNvPr id="5" name="Shape 3"/>
          <p:cNvSpPr/>
          <p:nvPr/>
        </p:nvSpPr>
        <p:spPr>
          <a:xfrm>
            <a:off x="566928" y="1783080"/>
            <a:ext cx="11055096" cy="868680"/>
          </a:xfrm>
          <a:prstGeom prst="roundRect">
            <a:avLst>
              <a:gd name="adj" fmla="val 16842"/>
            </a:avLst>
          </a:prstGeom>
          <a:solidFill>
            <a:srgbClr val="FDEEDC"/>
          </a:solidFill>
          <a:ln/>
        </p:spPr>
      </p:sp>
      <p:sp>
        <p:nvSpPr>
          <p:cNvPr id="6" name="Text 4"/>
          <p:cNvSpPr/>
          <p:nvPr/>
        </p:nvSpPr>
        <p:spPr>
          <a:xfrm>
            <a:off x="950976" y="1947672"/>
            <a:ext cx="10287000" cy="685800"/>
          </a:xfrm>
          <a:prstGeom prst="rect">
            <a:avLst/>
          </a:prstGeom>
          <a:noFill/>
          <a:ln/>
        </p:spPr>
        <p:txBody>
          <a:bodyPr wrap="square" lIns="0" tIns="0" rIns="0" bIns="0" rtlCol="0" anchor="t"/>
          <a:lstStyle/>
          <a:p>
            <a:pPr algn="l" indent="0" marL="0">
              <a:lnSpc>
                <a:spcPct val="134000"/>
              </a:lnSpc>
              <a:buNone/>
            </a:pPr>
            <a:r>
              <a:rPr lang="en-US" sz="1350" dirty="0">
                <a:solidFill>
                  <a:srgbClr val="2A2118"/>
                </a:solidFill>
                <a:latin typeface="Calibri" pitchFamily="34" charset="0"/>
                <a:ea typeface="Calibri" pitchFamily="34" charset="-122"/>
                <a:cs typeface="Calibri" pitchFamily="34" charset="-120"/>
              </a:rPr>
              <a:t>Shin (1993) prices against a share of insider money. The equal-margin rule is a mechanical convention with no story behind it. For a two-outcome book they give identical answers, every time.</a:t>
            </a:r>
            <a:endParaRPr lang="en-US" sz="1350" dirty="0"/>
          </a:p>
        </p:txBody>
      </p:sp>
      <p:sp>
        <p:nvSpPr>
          <p:cNvPr id="7" name="Shape 5"/>
          <p:cNvSpPr/>
          <p:nvPr/>
        </p:nvSpPr>
        <p:spPr>
          <a:xfrm>
            <a:off x="566928" y="2834640"/>
            <a:ext cx="11055096" cy="960120"/>
          </a:xfrm>
          <a:prstGeom prst="roundRect">
            <a:avLst>
              <a:gd name="adj" fmla="val 15238"/>
            </a:avLst>
          </a:prstGeom>
          <a:solidFill>
            <a:srgbClr val="0F8A6E"/>
          </a:solidFill>
          <a:ln/>
        </p:spPr>
      </p:sp>
      <p:sp>
        <p:nvSpPr>
          <p:cNvPr id="8" name="Text 6"/>
          <p:cNvSpPr/>
          <p:nvPr/>
        </p:nvSpPr>
        <p:spPr>
          <a:xfrm>
            <a:off x="566928" y="2834640"/>
            <a:ext cx="11055096" cy="960120"/>
          </a:xfrm>
          <a:prstGeom prst="rect">
            <a:avLst/>
          </a:prstGeom>
          <a:noFill/>
          <a:ln/>
        </p:spPr>
        <p:txBody>
          <a:bodyPr wrap="square" lIns="0" tIns="0" rIns="0" bIns="0" rtlCol="0" anchor="ctr"/>
          <a:lstStyle/>
          <a:p>
            <a:pPr algn="ctr" indent="0" marL="0">
              <a:buNone/>
            </a:pPr>
            <a:r>
              <a:rPr lang="en-US" sz="1700" b="1" dirty="0">
                <a:solidFill>
                  <a:srgbClr val="FFFFFF"/>
                </a:solidFill>
                <a:latin typeface="Consolas" pitchFamily="34" charset="0"/>
                <a:ea typeface="Consolas" pitchFamily="34" charset="-122"/>
                <a:cs typeface="Consolas" pitchFamily="34" charset="-120"/>
              </a:rPr>
              <a:t>sum to one   +   difference held fixed   →   one possible pair</a:t>
            </a:r>
            <a:endParaRPr lang="en-US" sz="1700" dirty="0"/>
          </a:p>
        </p:txBody>
      </p:sp>
      <p:sp>
        <p:nvSpPr>
          <p:cNvPr id="9" name="Shape 7"/>
          <p:cNvSpPr/>
          <p:nvPr/>
        </p:nvSpPr>
        <p:spPr>
          <a:xfrm>
            <a:off x="566928" y="4023360"/>
            <a:ext cx="2615184" cy="1298448"/>
          </a:xfrm>
          <a:prstGeom prst="roundRect">
            <a:avLst>
              <a:gd name="adj" fmla="val 11268"/>
            </a:avLst>
          </a:prstGeom>
          <a:solidFill>
            <a:srgbClr val="FFFFFF"/>
          </a:solidFill>
          <a:ln/>
        </p:spPr>
      </p:sp>
      <p:sp>
        <p:nvSpPr>
          <p:cNvPr id="10" name="Text 8"/>
          <p:cNvSpPr/>
          <p:nvPr/>
        </p:nvSpPr>
        <p:spPr>
          <a:xfrm>
            <a:off x="804672" y="4169664"/>
            <a:ext cx="2194560" cy="548640"/>
          </a:xfrm>
          <a:prstGeom prst="rect">
            <a:avLst/>
          </a:prstGeom>
          <a:noFill/>
          <a:ln/>
        </p:spPr>
        <p:txBody>
          <a:bodyPr wrap="square" lIns="0" tIns="0" rIns="0" bIns="0" rtlCol="0" anchor="ctr"/>
          <a:lstStyle/>
          <a:p>
            <a:pPr algn="l" indent="0" marL="0">
              <a:buNone/>
            </a:pPr>
            <a:r>
              <a:rPr lang="en-US" sz="1800" b="1" dirty="0">
                <a:solidFill>
                  <a:srgbClr val="0F8A6E"/>
                </a:solidFill>
                <a:latin typeface="Consolas" pitchFamily="34" charset="0"/>
                <a:ea typeface="Consolas" pitchFamily="34" charset="-122"/>
                <a:cs typeface="Consolas" pitchFamily="34" charset="-120"/>
              </a:rPr>
              <a:t>3.3e-16</a:t>
            </a:r>
            <a:endParaRPr lang="en-US" sz="1800" dirty="0"/>
          </a:p>
        </p:txBody>
      </p:sp>
      <p:sp>
        <p:nvSpPr>
          <p:cNvPr id="11" name="Text 9"/>
          <p:cNvSpPr/>
          <p:nvPr/>
        </p:nvSpPr>
        <p:spPr>
          <a:xfrm>
            <a:off x="804672" y="4718304"/>
            <a:ext cx="2194560" cy="457200"/>
          </a:xfrm>
          <a:prstGeom prst="rect">
            <a:avLst/>
          </a:prstGeom>
          <a:noFill/>
          <a:ln/>
        </p:spPr>
        <p:txBody>
          <a:bodyPr wrap="square" lIns="0" tIns="0" rIns="0" bIns="0" rtlCol="0" anchor="ctr"/>
          <a:lstStyle/>
          <a:p>
            <a:pPr algn="l" indent="0" marL="0">
              <a:buNone/>
            </a:pPr>
            <a:r>
              <a:rPr lang="en-US" sz="1150" dirty="0">
                <a:solidFill>
                  <a:srgbClr val="6E5A48"/>
                </a:solidFill>
                <a:latin typeface="Calibri" pitchFamily="34" charset="0"/>
                <a:ea typeface="Calibri" pitchFamily="34" charset="-122"/>
                <a:cs typeface="Calibri" pitchFamily="34" charset="-120"/>
              </a:rPr>
              <a:t>difference preserved</a:t>
            </a:r>
            <a:endParaRPr lang="en-US" sz="1150" dirty="0"/>
          </a:p>
        </p:txBody>
      </p:sp>
      <p:sp>
        <p:nvSpPr>
          <p:cNvPr id="12" name="Shape 10"/>
          <p:cNvSpPr/>
          <p:nvPr/>
        </p:nvSpPr>
        <p:spPr>
          <a:xfrm>
            <a:off x="3380232" y="4023360"/>
            <a:ext cx="2615184" cy="1298448"/>
          </a:xfrm>
          <a:prstGeom prst="roundRect">
            <a:avLst>
              <a:gd name="adj" fmla="val 11268"/>
            </a:avLst>
          </a:prstGeom>
          <a:solidFill>
            <a:srgbClr val="FFFFFF"/>
          </a:solidFill>
          <a:ln/>
        </p:spPr>
      </p:sp>
      <p:sp>
        <p:nvSpPr>
          <p:cNvPr id="13" name="Text 11"/>
          <p:cNvSpPr/>
          <p:nvPr/>
        </p:nvSpPr>
        <p:spPr>
          <a:xfrm>
            <a:off x="3617976" y="4169664"/>
            <a:ext cx="2194560" cy="548640"/>
          </a:xfrm>
          <a:prstGeom prst="rect">
            <a:avLst/>
          </a:prstGeom>
          <a:noFill/>
          <a:ln/>
        </p:spPr>
        <p:txBody>
          <a:bodyPr wrap="square" lIns="0" tIns="0" rIns="0" bIns="0" rtlCol="0" anchor="ctr"/>
          <a:lstStyle/>
          <a:p>
            <a:pPr algn="l" indent="0" marL="0">
              <a:buNone/>
            </a:pPr>
            <a:r>
              <a:rPr lang="en-US" sz="1800" b="1" dirty="0">
                <a:solidFill>
                  <a:srgbClr val="0F8A6E"/>
                </a:solidFill>
                <a:latin typeface="Consolas" pitchFamily="34" charset="0"/>
                <a:ea typeface="Consolas" pitchFamily="34" charset="-122"/>
                <a:cs typeface="Consolas" pitchFamily="34" charset="-120"/>
              </a:rPr>
              <a:t>2.8e-16</a:t>
            </a:r>
            <a:endParaRPr lang="en-US" sz="1800" dirty="0"/>
          </a:p>
        </p:txBody>
      </p:sp>
      <p:sp>
        <p:nvSpPr>
          <p:cNvPr id="14" name="Text 12"/>
          <p:cNvSpPr/>
          <p:nvPr/>
        </p:nvSpPr>
        <p:spPr>
          <a:xfrm>
            <a:off x="3617976" y="4718304"/>
            <a:ext cx="2194560" cy="457200"/>
          </a:xfrm>
          <a:prstGeom prst="rect">
            <a:avLst/>
          </a:prstGeom>
          <a:noFill/>
          <a:ln/>
        </p:spPr>
        <p:txBody>
          <a:bodyPr wrap="square" lIns="0" tIns="0" rIns="0" bIns="0" rtlCol="0" anchor="ctr"/>
          <a:lstStyle/>
          <a:p>
            <a:pPr algn="l" indent="0" marL="0">
              <a:buNone/>
            </a:pPr>
            <a:r>
              <a:rPr lang="en-US" sz="1150" dirty="0">
                <a:solidFill>
                  <a:srgbClr val="6E5A48"/>
                </a:solidFill>
                <a:latin typeface="Calibri" pitchFamily="34" charset="0"/>
                <a:ea typeface="Calibri" pitchFamily="34" charset="-122"/>
                <a:cs typeface="Calibri" pitchFamily="34" charset="-120"/>
              </a:rPr>
              <a:t>closed form</a:t>
            </a:r>
            <a:endParaRPr lang="en-US" sz="1150" dirty="0"/>
          </a:p>
        </p:txBody>
      </p:sp>
      <p:sp>
        <p:nvSpPr>
          <p:cNvPr id="15" name="Shape 13"/>
          <p:cNvSpPr/>
          <p:nvPr/>
        </p:nvSpPr>
        <p:spPr>
          <a:xfrm>
            <a:off x="6193536" y="4023360"/>
            <a:ext cx="2615184" cy="1298448"/>
          </a:xfrm>
          <a:prstGeom prst="roundRect">
            <a:avLst>
              <a:gd name="adj" fmla="val 11268"/>
            </a:avLst>
          </a:prstGeom>
          <a:solidFill>
            <a:srgbClr val="FFFFFF"/>
          </a:solidFill>
          <a:ln/>
        </p:spPr>
      </p:sp>
      <p:sp>
        <p:nvSpPr>
          <p:cNvPr id="16" name="Text 14"/>
          <p:cNvSpPr/>
          <p:nvPr/>
        </p:nvSpPr>
        <p:spPr>
          <a:xfrm>
            <a:off x="6431280" y="4169664"/>
            <a:ext cx="2194560" cy="548640"/>
          </a:xfrm>
          <a:prstGeom prst="rect">
            <a:avLst/>
          </a:prstGeom>
          <a:noFill/>
          <a:ln/>
        </p:spPr>
        <p:txBody>
          <a:bodyPr wrap="square" lIns="0" tIns="0" rIns="0" bIns="0" rtlCol="0" anchor="ctr"/>
          <a:lstStyle/>
          <a:p>
            <a:pPr algn="l" indent="0" marL="0">
              <a:buNone/>
            </a:pPr>
            <a:r>
              <a:rPr lang="en-US" sz="1800" b="1" dirty="0">
                <a:solidFill>
                  <a:srgbClr val="0F8A6E"/>
                </a:solidFill>
                <a:latin typeface="Consolas" pitchFamily="34" charset="0"/>
                <a:ea typeface="Consolas" pitchFamily="34" charset="-122"/>
                <a:cs typeface="Consolas" pitchFamily="34" charset="-120"/>
              </a:rPr>
              <a:t>2.8e-16</a:t>
            </a:r>
            <a:endParaRPr lang="en-US" sz="1800" dirty="0"/>
          </a:p>
        </p:txBody>
      </p:sp>
      <p:sp>
        <p:nvSpPr>
          <p:cNvPr id="17" name="Text 15"/>
          <p:cNvSpPr/>
          <p:nvPr/>
        </p:nvSpPr>
        <p:spPr>
          <a:xfrm>
            <a:off x="6431280" y="4718304"/>
            <a:ext cx="2194560" cy="457200"/>
          </a:xfrm>
          <a:prstGeom prst="rect">
            <a:avLst/>
          </a:prstGeom>
          <a:noFill/>
          <a:ln/>
        </p:spPr>
        <p:txBody>
          <a:bodyPr wrap="square" lIns="0" tIns="0" rIns="0" bIns="0" rtlCol="0" anchor="ctr"/>
          <a:lstStyle/>
          <a:p>
            <a:pPr algn="l" indent="0" marL="0">
              <a:buNone/>
            </a:pPr>
            <a:r>
              <a:rPr lang="en-US" sz="1150" dirty="0">
                <a:solidFill>
                  <a:srgbClr val="6E5A48"/>
                </a:solidFill>
                <a:latin typeface="Calibri" pitchFamily="34" charset="0"/>
                <a:ea typeface="Calibri" pitchFamily="34" charset="-122"/>
                <a:cs typeface="Calibri" pitchFamily="34" charset="-120"/>
              </a:rPr>
              <a:t>Shin minus additive</a:t>
            </a:r>
            <a:endParaRPr lang="en-US" sz="1150" dirty="0"/>
          </a:p>
        </p:txBody>
      </p:sp>
      <p:sp>
        <p:nvSpPr>
          <p:cNvPr id="18" name="Shape 16"/>
          <p:cNvSpPr/>
          <p:nvPr/>
        </p:nvSpPr>
        <p:spPr>
          <a:xfrm>
            <a:off x="9006840" y="4023360"/>
            <a:ext cx="2615184" cy="1298448"/>
          </a:xfrm>
          <a:prstGeom prst="roundRect">
            <a:avLst>
              <a:gd name="adj" fmla="val 11268"/>
            </a:avLst>
          </a:prstGeom>
          <a:solidFill>
            <a:srgbClr val="FFFFFF"/>
          </a:solidFill>
          <a:ln/>
        </p:spPr>
      </p:sp>
      <p:sp>
        <p:nvSpPr>
          <p:cNvPr id="19" name="Text 17"/>
          <p:cNvSpPr/>
          <p:nvPr/>
        </p:nvSpPr>
        <p:spPr>
          <a:xfrm>
            <a:off x="9244584" y="4169664"/>
            <a:ext cx="2194560" cy="548640"/>
          </a:xfrm>
          <a:prstGeom prst="rect">
            <a:avLst/>
          </a:prstGeom>
          <a:noFill/>
          <a:ln/>
        </p:spPr>
        <p:txBody>
          <a:bodyPr wrap="square" lIns="0" tIns="0" rIns="0" bIns="0" rtlCol="0" anchor="ctr"/>
          <a:lstStyle/>
          <a:p>
            <a:pPr algn="l" indent="0" marL="0">
              <a:buNone/>
            </a:pPr>
            <a:r>
              <a:rPr lang="en-US" sz="1800" b="1" dirty="0">
                <a:solidFill>
                  <a:srgbClr val="0F8A6E"/>
                </a:solidFill>
                <a:latin typeface="Consolas" pitchFamily="34" charset="0"/>
                <a:ea typeface="Consolas" pitchFamily="34" charset="-122"/>
                <a:cs typeface="Consolas" pitchFamily="34" charset="-120"/>
              </a:rPr>
              <a:t>2.2e-16</a:t>
            </a:r>
            <a:endParaRPr lang="en-US" sz="1800" dirty="0"/>
          </a:p>
        </p:txBody>
      </p:sp>
      <p:sp>
        <p:nvSpPr>
          <p:cNvPr id="20" name="Text 18"/>
          <p:cNvSpPr/>
          <p:nvPr/>
        </p:nvSpPr>
        <p:spPr>
          <a:xfrm>
            <a:off x="9244584" y="4718304"/>
            <a:ext cx="2194560" cy="457200"/>
          </a:xfrm>
          <a:prstGeom prst="rect">
            <a:avLst/>
          </a:prstGeom>
          <a:noFill/>
          <a:ln/>
        </p:spPr>
        <p:txBody>
          <a:bodyPr wrap="square" lIns="0" tIns="0" rIns="0" bIns="0" rtlCol="0" anchor="ctr"/>
          <a:lstStyle/>
          <a:p>
            <a:pPr algn="l" indent="0" marL="0">
              <a:buNone/>
            </a:pPr>
            <a:r>
              <a:rPr lang="en-US" sz="1150" dirty="0">
                <a:solidFill>
                  <a:srgbClr val="6E5A48"/>
                </a:solidFill>
                <a:latin typeface="Calibri" pitchFamily="34" charset="0"/>
                <a:ea typeface="Calibri" pitchFamily="34" charset="-122"/>
                <a:cs typeface="Calibri" pitchFamily="34" charset="-120"/>
              </a:rPr>
              <a:t>sum constraint</a:t>
            </a:r>
            <a:endParaRPr lang="en-US" sz="1150" dirty="0"/>
          </a:p>
        </p:txBody>
      </p:sp>
      <p:sp>
        <p:nvSpPr>
          <p:cNvPr id="21" name="Shape 19"/>
          <p:cNvSpPr/>
          <p:nvPr/>
        </p:nvSpPr>
        <p:spPr>
          <a:xfrm>
            <a:off x="566928" y="5541264"/>
            <a:ext cx="11055096" cy="566928"/>
          </a:xfrm>
          <a:prstGeom prst="roundRect">
            <a:avLst>
              <a:gd name="adj" fmla="val 25806"/>
            </a:avLst>
          </a:prstGeom>
          <a:solidFill>
            <a:srgbClr val="7A4F9E"/>
          </a:solidFill>
          <a:ln/>
        </p:spPr>
      </p:sp>
      <p:sp>
        <p:nvSpPr>
          <p:cNvPr id="22" name="Text 20"/>
          <p:cNvSpPr/>
          <p:nvPr/>
        </p:nvSpPr>
        <p:spPr>
          <a:xfrm>
            <a:off x="978408" y="5541264"/>
            <a:ext cx="10232136" cy="566928"/>
          </a:xfrm>
          <a:prstGeom prst="rect">
            <a:avLst/>
          </a:prstGeom>
          <a:noFill/>
          <a:ln/>
        </p:spPr>
        <p:txBody>
          <a:bodyPr wrap="square" lIns="0" tIns="0" rIns="0" bIns="0" rtlCol="0" anchor="ctr"/>
          <a:lstStyle/>
          <a:p>
            <a:pPr algn="l" indent="0" marL="0">
              <a:buNone/>
            </a:pPr>
            <a:r>
              <a:rPr lang="en-US" sz="1250" b="1" dirty="0">
                <a:solidFill>
                  <a:srgbClr val="FFFFFF"/>
                </a:solidFill>
                <a:latin typeface="Calibri" pitchFamily="34" charset="0"/>
                <a:ea typeface="Calibri" pitchFamily="34" charset="-122"/>
                <a:cs typeface="Calibri" pitchFamily="34" charset="-120"/>
              </a:rPr>
              <a:t>Largest error across 15,350 games: 3.3 × 10⁻¹⁶. That is machine precision, not agreement to a few decimals.</a:t>
            </a:r>
            <a:endParaRPr lang="en-US" sz="1250" dirty="0"/>
          </a:p>
        </p:txBody>
      </p:sp>
      <p:sp>
        <p:nvSpPr>
          <p:cNvPr id="23" name="Text 21"/>
          <p:cNvSpPr/>
          <p:nvPr/>
        </p:nvSpPr>
        <p:spPr>
          <a:xfrm>
            <a:off x="566928" y="6254496"/>
            <a:ext cx="11055096" cy="365760"/>
          </a:xfrm>
          <a:prstGeom prst="rect">
            <a:avLst/>
          </a:prstGeom>
          <a:noFill/>
          <a:ln/>
        </p:spPr>
        <p:txBody>
          <a:bodyPr wrap="square" lIns="0" tIns="0" rIns="0" bIns="0" rtlCol="0" anchor="ctr"/>
          <a:lstStyle/>
          <a:p>
            <a:pPr algn="l" indent="0" marL="0">
              <a:buNone/>
            </a:pPr>
            <a:r>
              <a:rPr lang="en-US" sz="1050" i="1" dirty="0">
                <a:solidFill>
                  <a:srgbClr val="6E5A48"/>
                </a:solidFill>
                <a:latin typeface="Calibri" pitchFamily="34" charset="0"/>
                <a:ea typeface="Calibri" pitchFamily="34" charset="-122"/>
                <a:cs typeface="Calibri" pitchFamily="34" charset="-120"/>
              </a:rPr>
              <a:t>Clarke, Kovalchik and Ingram (2017) proved this for two-competitor races. Whelan (2025) gives the closed form for Shin’s insider share.</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7EC"/>
        </a:solidFill>
      </p:bgPr>
    </p:bg>
    <p:spTree>
      <p:nvGrpSpPr>
        <p:cNvPr id="1" name=""/>
        <p:cNvGrpSpPr/>
        <p:nvPr/>
      </p:nvGrpSpPr>
      <p:grpSpPr>
        <a:xfrm>
          <a:off x="0" y="0"/>
          <a:ext cx="0" cy="0"/>
          <a:chOff x="0" y="0"/>
          <a:chExt cx="0" cy="0"/>
        </a:xfrm>
      </p:grpSpPr>
      <p:sp>
        <p:nvSpPr>
          <p:cNvPr id="2" name="Shape 0"/>
          <p:cNvSpPr/>
          <p:nvPr/>
        </p:nvSpPr>
        <p:spPr>
          <a:xfrm>
            <a:off x="566928" y="310896"/>
            <a:ext cx="3712464" cy="384048"/>
          </a:xfrm>
          <a:prstGeom prst="roundRect">
            <a:avLst>
              <a:gd name="adj" fmla="val 119048"/>
            </a:avLst>
          </a:prstGeom>
          <a:solidFill>
            <a:srgbClr val="7A4F9E"/>
          </a:solidFill>
          <a:ln/>
        </p:spPr>
      </p:sp>
      <p:sp>
        <p:nvSpPr>
          <p:cNvPr id="3" name="Text 1"/>
          <p:cNvSpPr/>
          <p:nvPr/>
        </p:nvSpPr>
        <p:spPr>
          <a:xfrm>
            <a:off x="566928" y="310896"/>
            <a:ext cx="3712464" cy="384048"/>
          </a:xfrm>
          <a:prstGeom prst="rect">
            <a:avLst/>
          </a:prstGeom>
          <a:noFill/>
          <a:ln/>
        </p:spPr>
        <p:txBody>
          <a:bodyPr wrap="square" lIns="0" tIns="0" rIns="0" bIns="0" rtlCol="0" anchor="ctr"/>
          <a:lstStyle/>
          <a:p>
            <a:pPr algn="ctr" indent="0" marL="0">
              <a:buNone/>
            </a:pPr>
            <a:r>
              <a:rPr lang="en-US" sz="1050" b="1" spc="140" kern="0" dirty="0">
                <a:solidFill>
                  <a:srgbClr val="FFFFFF"/>
                </a:solidFill>
                <a:latin typeface="Calibri" pitchFamily="34" charset="0"/>
                <a:ea typeface="Calibri" pitchFamily="34" charset="-122"/>
                <a:cs typeface="Calibri" pitchFamily="34" charset="-120"/>
              </a:rPr>
              <a:t>SIXTEEN LOGGED CORRECTIONS</a:t>
            </a:r>
            <a:endParaRPr lang="en-US" sz="1050" dirty="0"/>
          </a:p>
        </p:txBody>
      </p:sp>
      <p:sp>
        <p:nvSpPr>
          <p:cNvPr id="4" name="Text 2"/>
          <p:cNvSpPr/>
          <p:nvPr/>
        </p:nvSpPr>
        <p:spPr>
          <a:xfrm>
            <a:off x="566928" y="841248"/>
            <a:ext cx="11055096" cy="786384"/>
          </a:xfrm>
          <a:prstGeom prst="rect">
            <a:avLst/>
          </a:prstGeom>
          <a:noFill/>
          <a:ln/>
        </p:spPr>
        <p:txBody>
          <a:bodyPr wrap="square" lIns="0" tIns="0" rIns="0" bIns="0" rtlCol="0" anchor="ctr"/>
          <a:lstStyle/>
          <a:p>
            <a:pPr algn="l" indent="0" marL="0">
              <a:buNone/>
            </a:pPr>
            <a:r>
              <a:rPr lang="en-US" sz="3100" b="1" dirty="0">
                <a:solidFill>
                  <a:srgbClr val="2A2118"/>
                </a:solidFill>
                <a:latin typeface="Century Gothic" pitchFamily="34" charset="0"/>
                <a:ea typeface="Century Gothic" pitchFamily="34" charset="-122"/>
                <a:cs typeface="Century Gothic" pitchFamily="34" charset="-120"/>
              </a:rPr>
              <a:t>Things this paper got wrong, on the record</a:t>
            </a:r>
            <a:endParaRPr lang="en-US" sz="3100" dirty="0"/>
          </a:p>
        </p:txBody>
      </p:sp>
      <p:sp>
        <p:nvSpPr>
          <p:cNvPr id="5" name="Shape 3"/>
          <p:cNvSpPr/>
          <p:nvPr/>
        </p:nvSpPr>
        <p:spPr>
          <a:xfrm>
            <a:off x="566928" y="1783080"/>
            <a:ext cx="11055096" cy="1280160"/>
          </a:xfrm>
          <a:prstGeom prst="roundRect">
            <a:avLst>
              <a:gd name="adj" fmla="val 11429"/>
            </a:avLst>
          </a:prstGeom>
          <a:solidFill>
            <a:srgbClr val="FFFFFF"/>
          </a:solidFill>
          <a:ln/>
        </p:spPr>
      </p:sp>
      <p:sp>
        <p:nvSpPr>
          <p:cNvPr id="6" name="Shape 4"/>
          <p:cNvSpPr/>
          <p:nvPr/>
        </p:nvSpPr>
        <p:spPr>
          <a:xfrm>
            <a:off x="566928" y="1783080"/>
            <a:ext cx="100584" cy="1280160"/>
          </a:xfrm>
          <a:prstGeom prst="roundRect">
            <a:avLst>
              <a:gd name="adj" fmla="val 454545"/>
            </a:avLst>
          </a:prstGeom>
          <a:solidFill>
            <a:srgbClr val="DB5A28"/>
          </a:solidFill>
          <a:ln/>
        </p:spPr>
      </p:sp>
      <p:sp>
        <p:nvSpPr>
          <p:cNvPr id="7" name="Text 5"/>
          <p:cNvSpPr/>
          <p:nvPr/>
        </p:nvSpPr>
        <p:spPr>
          <a:xfrm>
            <a:off x="914400" y="1911096"/>
            <a:ext cx="10323576" cy="365760"/>
          </a:xfrm>
          <a:prstGeom prst="rect">
            <a:avLst/>
          </a:prstGeom>
          <a:noFill/>
          <a:ln/>
        </p:spPr>
        <p:txBody>
          <a:bodyPr wrap="square" lIns="0" tIns="0" rIns="0" bIns="0" rtlCol="0" anchor="ctr"/>
          <a:lstStyle/>
          <a:p>
            <a:pPr algn="l" indent="0" marL="0">
              <a:buNone/>
            </a:pPr>
            <a:r>
              <a:rPr lang="en-US" sz="1400" b="1" dirty="0">
                <a:solidFill>
                  <a:srgbClr val="DB5A28"/>
                </a:solidFill>
                <a:latin typeface="Century Gothic" pitchFamily="34" charset="0"/>
                <a:ea typeface="Century Gothic" pitchFamily="34" charset="-122"/>
                <a:cs typeface="Century Gothic" pitchFamily="34" charset="-120"/>
              </a:rPr>
              <a:t>A literature range with no source</a:t>
            </a:r>
            <a:endParaRPr lang="en-US" sz="1400" dirty="0"/>
          </a:p>
        </p:txBody>
      </p:sp>
      <p:sp>
        <p:nvSpPr>
          <p:cNvPr id="8" name="Text 6"/>
          <p:cNvSpPr/>
          <p:nvPr/>
        </p:nvSpPr>
        <p:spPr>
          <a:xfrm>
            <a:off x="914400" y="2313432"/>
            <a:ext cx="10277856" cy="658368"/>
          </a:xfrm>
          <a:prstGeom prst="rect">
            <a:avLst/>
          </a:prstGeom>
          <a:noFill/>
          <a:ln/>
        </p:spPr>
        <p:txBody>
          <a:bodyPr wrap="square" lIns="0" tIns="0" rIns="0" bIns="0" rtlCol="0" anchor="t"/>
          <a:lstStyle/>
          <a:p>
            <a:pPr algn="l" indent="0" marL="0">
              <a:lnSpc>
                <a:spcPct val="134000"/>
              </a:lnSpc>
              <a:buNone/>
            </a:pPr>
            <a:r>
              <a:rPr lang="en-US" sz="1250" dirty="0">
                <a:solidFill>
                  <a:srgbClr val="6E5A48"/>
                </a:solidFill>
                <a:latin typeface="Calibri" pitchFamily="34" charset="0"/>
                <a:ea typeface="Calibri" pitchFamily="34" charset="-122"/>
                <a:cs typeface="Calibri" pitchFamily="34" charset="-120"/>
              </a:rPr>
              <a:t>An early draft cited favorite bias of 1.7 to 5.1 points. Neither number could be traced to any paper I cited. Both were removed rather than re-sourced.</a:t>
            </a:r>
            <a:endParaRPr lang="en-US" sz="1250" dirty="0"/>
          </a:p>
        </p:txBody>
      </p:sp>
      <p:sp>
        <p:nvSpPr>
          <p:cNvPr id="9" name="Shape 7"/>
          <p:cNvSpPr/>
          <p:nvPr/>
        </p:nvSpPr>
        <p:spPr>
          <a:xfrm>
            <a:off x="566928" y="3227832"/>
            <a:ext cx="11055096" cy="1280160"/>
          </a:xfrm>
          <a:prstGeom prst="roundRect">
            <a:avLst>
              <a:gd name="adj" fmla="val 11429"/>
            </a:avLst>
          </a:prstGeom>
          <a:solidFill>
            <a:srgbClr val="FFFFFF"/>
          </a:solidFill>
          <a:ln/>
        </p:spPr>
      </p:sp>
      <p:sp>
        <p:nvSpPr>
          <p:cNvPr id="10" name="Shape 8"/>
          <p:cNvSpPr/>
          <p:nvPr/>
        </p:nvSpPr>
        <p:spPr>
          <a:xfrm>
            <a:off x="566928" y="3227832"/>
            <a:ext cx="100584" cy="1280160"/>
          </a:xfrm>
          <a:prstGeom prst="roundRect">
            <a:avLst>
              <a:gd name="adj" fmla="val 454545"/>
            </a:avLst>
          </a:prstGeom>
          <a:solidFill>
            <a:srgbClr val="7A4F9E"/>
          </a:solidFill>
          <a:ln/>
        </p:spPr>
      </p:sp>
      <p:sp>
        <p:nvSpPr>
          <p:cNvPr id="11" name="Text 9"/>
          <p:cNvSpPr/>
          <p:nvPr/>
        </p:nvSpPr>
        <p:spPr>
          <a:xfrm>
            <a:off x="914400" y="3355848"/>
            <a:ext cx="10323576" cy="365760"/>
          </a:xfrm>
          <a:prstGeom prst="rect">
            <a:avLst/>
          </a:prstGeom>
          <a:noFill/>
          <a:ln/>
        </p:spPr>
        <p:txBody>
          <a:bodyPr wrap="square" lIns="0" tIns="0" rIns="0" bIns="0" rtlCol="0" anchor="ctr"/>
          <a:lstStyle/>
          <a:p>
            <a:pPr algn="l" indent="0" marL="0">
              <a:buNone/>
            </a:pPr>
            <a:r>
              <a:rPr lang="en-US" sz="1400" b="1" dirty="0">
                <a:solidFill>
                  <a:srgbClr val="7A4F9E"/>
                </a:solidFill>
                <a:latin typeface="Century Gothic" pitchFamily="34" charset="0"/>
                <a:ea typeface="Century Gothic" pitchFamily="34" charset="-122"/>
                <a:cs typeface="Century Gothic" pitchFamily="34" charset="-120"/>
              </a:rPr>
              <a:t>A power claim doing the wrong job</a:t>
            </a:r>
            <a:endParaRPr lang="en-US" sz="1400" dirty="0"/>
          </a:p>
        </p:txBody>
      </p:sp>
      <p:sp>
        <p:nvSpPr>
          <p:cNvPr id="12" name="Text 10"/>
          <p:cNvSpPr/>
          <p:nvPr/>
        </p:nvSpPr>
        <p:spPr>
          <a:xfrm>
            <a:off x="914400" y="3758184"/>
            <a:ext cx="10277856" cy="658368"/>
          </a:xfrm>
          <a:prstGeom prst="rect">
            <a:avLst/>
          </a:prstGeom>
          <a:noFill/>
          <a:ln/>
        </p:spPr>
        <p:txBody>
          <a:bodyPr wrap="square" lIns="0" tIns="0" rIns="0" bIns="0" rtlCol="0" anchor="t"/>
          <a:lstStyle/>
          <a:p>
            <a:pPr algn="l" indent="0" marL="0">
              <a:lnSpc>
                <a:spcPct val="134000"/>
              </a:lnSpc>
              <a:buNone/>
            </a:pPr>
            <a:r>
              <a:rPr lang="en-US" sz="1250" dirty="0">
                <a:solidFill>
                  <a:srgbClr val="6E5A48"/>
                </a:solidFill>
                <a:latin typeface="Calibri" pitchFamily="34" charset="0"/>
                <a:ea typeface="Calibri" pitchFamily="34" charset="-122"/>
                <a:cs typeface="Calibri" pitchFamily="34" charset="-120"/>
              </a:rPr>
              <a:t>The minimum detectable effect was being used as if it ruled small effects out. It does not. An equivalence test now carries that claim.</a:t>
            </a:r>
            <a:endParaRPr lang="en-US" sz="1250" dirty="0"/>
          </a:p>
        </p:txBody>
      </p:sp>
      <p:sp>
        <p:nvSpPr>
          <p:cNvPr id="13" name="Shape 11"/>
          <p:cNvSpPr/>
          <p:nvPr/>
        </p:nvSpPr>
        <p:spPr>
          <a:xfrm>
            <a:off x="566928" y="4672584"/>
            <a:ext cx="11055096" cy="1280160"/>
          </a:xfrm>
          <a:prstGeom prst="roundRect">
            <a:avLst>
              <a:gd name="adj" fmla="val 11429"/>
            </a:avLst>
          </a:prstGeom>
          <a:solidFill>
            <a:srgbClr val="FFFFFF"/>
          </a:solidFill>
          <a:ln/>
        </p:spPr>
      </p:sp>
      <p:sp>
        <p:nvSpPr>
          <p:cNvPr id="14" name="Shape 12"/>
          <p:cNvSpPr/>
          <p:nvPr/>
        </p:nvSpPr>
        <p:spPr>
          <a:xfrm>
            <a:off x="566928" y="4672584"/>
            <a:ext cx="100584" cy="1280160"/>
          </a:xfrm>
          <a:prstGeom prst="roundRect">
            <a:avLst>
              <a:gd name="adj" fmla="val 454545"/>
            </a:avLst>
          </a:prstGeom>
          <a:solidFill>
            <a:srgbClr val="2E63C8"/>
          </a:solidFill>
          <a:ln/>
        </p:spPr>
      </p:sp>
      <p:sp>
        <p:nvSpPr>
          <p:cNvPr id="15" name="Text 13"/>
          <p:cNvSpPr/>
          <p:nvPr/>
        </p:nvSpPr>
        <p:spPr>
          <a:xfrm>
            <a:off x="914400" y="4800600"/>
            <a:ext cx="10323576" cy="365760"/>
          </a:xfrm>
          <a:prstGeom prst="rect">
            <a:avLst/>
          </a:prstGeom>
          <a:noFill/>
          <a:ln/>
        </p:spPr>
        <p:txBody>
          <a:bodyPr wrap="square" lIns="0" tIns="0" rIns="0" bIns="0" rtlCol="0" anchor="ctr"/>
          <a:lstStyle/>
          <a:p>
            <a:pPr algn="l" indent="0" marL="0">
              <a:buNone/>
            </a:pPr>
            <a:r>
              <a:rPr lang="en-US" sz="1400" b="1" dirty="0">
                <a:solidFill>
                  <a:srgbClr val="2E63C8"/>
                </a:solidFill>
                <a:latin typeface="Century Gothic" pitchFamily="34" charset="0"/>
                <a:ea typeface="Century Gothic" pitchFamily="34" charset="-122"/>
                <a:cs typeface="Century Gothic" pitchFamily="34" charset="-120"/>
              </a:rPr>
              <a:t>A table comparing different samples</a:t>
            </a:r>
            <a:endParaRPr lang="en-US" sz="1400" dirty="0"/>
          </a:p>
        </p:txBody>
      </p:sp>
      <p:sp>
        <p:nvSpPr>
          <p:cNvPr id="16" name="Text 14"/>
          <p:cNvSpPr/>
          <p:nvPr/>
        </p:nvSpPr>
        <p:spPr>
          <a:xfrm>
            <a:off x="914400" y="5202936"/>
            <a:ext cx="10277856" cy="658368"/>
          </a:xfrm>
          <a:prstGeom prst="rect">
            <a:avLst/>
          </a:prstGeom>
          <a:noFill/>
          <a:ln/>
        </p:spPr>
        <p:txBody>
          <a:bodyPr wrap="square" lIns="0" tIns="0" rIns="0" bIns="0" rtlCol="0" anchor="t"/>
          <a:lstStyle/>
          <a:p>
            <a:pPr algn="l" indent="0" marL="0">
              <a:lnSpc>
                <a:spcPct val="134000"/>
              </a:lnSpc>
              <a:buNone/>
            </a:pPr>
            <a:r>
              <a:rPr lang="en-US" sz="1250" dirty="0">
                <a:solidFill>
                  <a:srgbClr val="6E5A48"/>
                </a:solidFill>
                <a:latin typeface="Calibri" pitchFamily="34" charset="0"/>
                <a:ea typeface="Calibri" pitchFamily="34" charset="-122"/>
                <a:cs typeface="Calibri" pitchFamily="34" charset="-120"/>
              </a:rPr>
              <a:t>Each vig rule selected its own games, so one comparison mixed the rule with sample composition. Fixing it retracted a claim about power normalization.</a:t>
            </a:r>
            <a:endParaRPr lang="en-US" sz="1250" dirty="0"/>
          </a:p>
        </p:txBody>
      </p:sp>
      <p:sp>
        <p:nvSpPr>
          <p:cNvPr id="17" name="Text 15"/>
          <p:cNvSpPr/>
          <p:nvPr/>
        </p:nvSpPr>
        <p:spPr>
          <a:xfrm>
            <a:off x="566928" y="6254496"/>
            <a:ext cx="11055096" cy="365760"/>
          </a:xfrm>
          <a:prstGeom prst="rect">
            <a:avLst/>
          </a:prstGeom>
          <a:noFill/>
          <a:ln/>
        </p:spPr>
        <p:txBody>
          <a:bodyPr wrap="square" lIns="0" tIns="0" rIns="0" bIns="0" rtlCol="0" anchor="ctr"/>
          <a:lstStyle/>
          <a:p>
            <a:pPr algn="l" indent="0" marL="0">
              <a:buNone/>
            </a:pPr>
            <a:r>
              <a:rPr lang="en-US" sz="1050" i="1" dirty="0">
                <a:solidFill>
                  <a:srgbClr val="6E5A48"/>
                </a:solidFill>
                <a:latin typeface="Calibri" pitchFamily="34" charset="0"/>
                <a:ea typeface="Calibri" pitchFamily="34" charset="-122"/>
                <a:cs typeface="Calibri" pitchFamily="34" charset="-120"/>
              </a:rPr>
              <a:t>All sixteen are in docs/errata.md with the numbers before and after. A result nobody can check is not a result.</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7EC"/>
        </a:solidFill>
      </p:bgPr>
    </p:bg>
    <p:spTree>
      <p:nvGrpSpPr>
        <p:cNvPr id="1" name=""/>
        <p:cNvGrpSpPr/>
        <p:nvPr/>
      </p:nvGrpSpPr>
      <p:grpSpPr>
        <a:xfrm>
          <a:off x="0" y="0"/>
          <a:ext cx="0" cy="0"/>
          <a:chOff x="0" y="0"/>
          <a:chExt cx="0" cy="0"/>
        </a:xfrm>
      </p:grpSpPr>
      <p:sp>
        <p:nvSpPr>
          <p:cNvPr id="2" name="Shape 0"/>
          <p:cNvSpPr/>
          <p:nvPr/>
        </p:nvSpPr>
        <p:spPr>
          <a:xfrm>
            <a:off x="566928" y="310896"/>
            <a:ext cx="2354580" cy="384048"/>
          </a:xfrm>
          <a:prstGeom prst="roundRect">
            <a:avLst>
              <a:gd name="adj" fmla="val 119048"/>
            </a:avLst>
          </a:prstGeom>
          <a:solidFill>
            <a:srgbClr val="0F8A6E"/>
          </a:solidFill>
          <a:ln/>
        </p:spPr>
      </p:sp>
      <p:sp>
        <p:nvSpPr>
          <p:cNvPr id="3" name="Text 1"/>
          <p:cNvSpPr/>
          <p:nvPr/>
        </p:nvSpPr>
        <p:spPr>
          <a:xfrm>
            <a:off x="566928" y="310896"/>
            <a:ext cx="2354580" cy="384048"/>
          </a:xfrm>
          <a:prstGeom prst="rect">
            <a:avLst/>
          </a:prstGeom>
          <a:noFill/>
          <a:ln/>
        </p:spPr>
        <p:txBody>
          <a:bodyPr wrap="square" lIns="0" tIns="0" rIns="0" bIns="0" rtlCol="0" anchor="ctr"/>
          <a:lstStyle/>
          <a:p>
            <a:pPr algn="ctr" indent="0" marL="0">
              <a:buNone/>
            </a:pPr>
            <a:r>
              <a:rPr lang="en-US" sz="1050" b="1" spc="140" kern="0" dirty="0">
                <a:solidFill>
                  <a:srgbClr val="FFFFFF"/>
                </a:solidFill>
                <a:latin typeface="Calibri" pitchFamily="34" charset="0"/>
                <a:ea typeface="Calibri" pitchFamily="34" charset="-122"/>
                <a:cs typeface="Calibri" pitchFamily="34" charset="-120"/>
              </a:rPr>
              <a:t>REPRODUCIBILITY</a:t>
            </a:r>
            <a:endParaRPr lang="en-US" sz="1050" dirty="0"/>
          </a:p>
        </p:txBody>
      </p:sp>
      <p:sp>
        <p:nvSpPr>
          <p:cNvPr id="4" name="Text 2"/>
          <p:cNvSpPr/>
          <p:nvPr/>
        </p:nvSpPr>
        <p:spPr>
          <a:xfrm>
            <a:off x="566928" y="841248"/>
            <a:ext cx="11055096" cy="786384"/>
          </a:xfrm>
          <a:prstGeom prst="rect">
            <a:avLst/>
          </a:prstGeom>
          <a:noFill/>
          <a:ln/>
        </p:spPr>
        <p:txBody>
          <a:bodyPr wrap="square" lIns="0" tIns="0" rIns="0" bIns="0" rtlCol="0" anchor="ctr"/>
          <a:lstStyle/>
          <a:p>
            <a:pPr algn="l" indent="0" marL="0">
              <a:buNone/>
            </a:pPr>
            <a:r>
              <a:rPr lang="en-US" sz="3100" b="1" dirty="0">
                <a:solidFill>
                  <a:srgbClr val="2A2118"/>
                </a:solidFill>
                <a:latin typeface="Century Gothic" pitchFamily="34" charset="0"/>
                <a:ea typeface="Century Gothic" pitchFamily="34" charset="-122"/>
                <a:cs typeface="Century Gothic" pitchFamily="34" charset="-120"/>
              </a:rPr>
              <a:t>One command rebuilds every number</a:t>
            </a:r>
            <a:endParaRPr lang="en-US" sz="3100" dirty="0"/>
          </a:p>
        </p:txBody>
      </p:sp>
      <p:sp>
        <p:nvSpPr>
          <p:cNvPr id="5" name="Shape 3"/>
          <p:cNvSpPr/>
          <p:nvPr/>
        </p:nvSpPr>
        <p:spPr>
          <a:xfrm>
            <a:off x="566928" y="1783080"/>
            <a:ext cx="11055096" cy="868680"/>
          </a:xfrm>
          <a:prstGeom prst="roundRect">
            <a:avLst>
              <a:gd name="adj" fmla="val 16842"/>
            </a:avLst>
          </a:prstGeom>
          <a:solidFill>
            <a:srgbClr val="2A2118"/>
          </a:solidFill>
          <a:ln/>
        </p:spPr>
      </p:sp>
      <p:sp>
        <p:nvSpPr>
          <p:cNvPr id="6" name="Text 4"/>
          <p:cNvSpPr/>
          <p:nvPr/>
        </p:nvSpPr>
        <p:spPr>
          <a:xfrm>
            <a:off x="1024128" y="1783080"/>
            <a:ext cx="10140696" cy="868680"/>
          </a:xfrm>
          <a:prstGeom prst="rect">
            <a:avLst/>
          </a:prstGeom>
          <a:noFill/>
          <a:ln/>
        </p:spPr>
        <p:txBody>
          <a:bodyPr wrap="square" lIns="0" tIns="0" rIns="0" bIns="0" rtlCol="0" anchor="ctr"/>
          <a:lstStyle/>
          <a:p>
            <a:pPr algn="l" indent="0" marL="0">
              <a:buNone/>
            </a:pPr>
            <a:r>
              <a:rPr lang="en-US" sz="1900" b="1" dirty="0">
                <a:solidFill>
                  <a:srgbClr val="7FE0C0"/>
                </a:solidFill>
                <a:latin typeface="Consolas" pitchFamily="34" charset="0"/>
                <a:ea typeface="Consolas" pitchFamily="34" charset="-122"/>
                <a:cs typeface="Consolas" pitchFamily="34" charset="-120"/>
              </a:rPr>
              <a:t>$ bash run_all.sh</a:t>
            </a:r>
            <a:endParaRPr lang="en-US" sz="1900" dirty="0"/>
          </a:p>
        </p:txBody>
      </p:sp>
      <p:sp>
        <p:nvSpPr>
          <p:cNvPr id="7" name="Shape 5"/>
          <p:cNvSpPr/>
          <p:nvPr/>
        </p:nvSpPr>
        <p:spPr>
          <a:xfrm>
            <a:off x="566928" y="2880360"/>
            <a:ext cx="5358384" cy="566928"/>
          </a:xfrm>
          <a:prstGeom prst="roundRect">
            <a:avLst>
              <a:gd name="adj" fmla="val 25806"/>
            </a:avLst>
          </a:prstGeom>
          <a:solidFill>
            <a:srgbClr val="FFFFFF"/>
          </a:solidFill>
          <a:ln/>
        </p:spPr>
      </p:sp>
      <p:sp>
        <p:nvSpPr>
          <p:cNvPr id="8" name="Shape 6"/>
          <p:cNvSpPr/>
          <p:nvPr/>
        </p:nvSpPr>
        <p:spPr>
          <a:xfrm>
            <a:off x="713232" y="2980944"/>
            <a:ext cx="365760" cy="365760"/>
          </a:xfrm>
          <a:prstGeom prst="ellipse">
            <a:avLst/>
          </a:prstGeom>
          <a:solidFill>
            <a:srgbClr val="0F8A6E"/>
          </a:solidFill>
          <a:ln/>
        </p:spPr>
      </p:sp>
      <p:sp>
        <p:nvSpPr>
          <p:cNvPr id="9" name="Text 7"/>
          <p:cNvSpPr/>
          <p:nvPr/>
        </p:nvSpPr>
        <p:spPr>
          <a:xfrm>
            <a:off x="713232" y="298094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p:nvPr/>
        </p:nvSpPr>
        <p:spPr>
          <a:xfrm>
            <a:off x="1225296" y="2880360"/>
            <a:ext cx="4572000" cy="566928"/>
          </a:xfrm>
          <a:prstGeom prst="rect">
            <a:avLst/>
          </a:prstGeom>
          <a:noFill/>
          <a:ln/>
        </p:spPr>
        <p:txBody>
          <a:bodyPr wrap="square" lIns="0" tIns="0" rIns="0" bIns="0" rtlCol="0" anchor="ctr"/>
          <a:lstStyle/>
          <a:p>
            <a:pPr algn="l" indent="0" marL="0">
              <a:buNone/>
            </a:pPr>
            <a:r>
              <a:rPr lang="en-US" sz="1300" dirty="0">
                <a:solidFill>
                  <a:srgbClr val="2A2118"/>
                </a:solidFill>
                <a:latin typeface="Calibri" pitchFamily="34" charset="0"/>
                <a:ea typeface="Calibri" pitchFamily="34" charset="-122"/>
                <a:cs typeface="Calibri" pitchFamily="34" charset="-120"/>
              </a:rPr>
              <a:t>verify the data</a:t>
            </a:r>
            <a:endParaRPr lang="en-US" sz="1300" dirty="0"/>
          </a:p>
        </p:txBody>
      </p:sp>
      <p:sp>
        <p:nvSpPr>
          <p:cNvPr id="11" name="Shape 9"/>
          <p:cNvSpPr/>
          <p:nvPr/>
        </p:nvSpPr>
        <p:spPr>
          <a:xfrm>
            <a:off x="566928" y="3538728"/>
            <a:ext cx="5358384" cy="566928"/>
          </a:xfrm>
          <a:prstGeom prst="roundRect">
            <a:avLst>
              <a:gd name="adj" fmla="val 25806"/>
            </a:avLst>
          </a:prstGeom>
          <a:solidFill>
            <a:srgbClr val="FFFFFF"/>
          </a:solidFill>
          <a:ln/>
        </p:spPr>
      </p:sp>
      <p:sp>
        <p:nvSpPr>
          <p:cNvPr id="12" name="Shape 10"/>
          <p:cNvSpPr/>
          <p:nvPr/>
        </p:nvSpPr>
        <p:spPr>
          <a:xfrm>
            <a:off x="713232" y="3639312"/>
            <a:ext cx="365760" cy="365760"/>
          </a:xfrm>
          <a:prstGeom prst="ellipse">
            <a:avLst/>
          </a:prstGeom>
          <a:solidFill>
            <a:srgbClr val="2E63C8"/>
          </a:solidFill>
          <a:ln/>
        </p:spPr>
      </p:sp>
      <p:sp>
        <p:nvSpPr>
          <p:cNvPr id="13" name="Text 11"/>
          <p:cNvSpPr/>
          <p:nvPr/>
        </p:nvSpPr>
        <p:spPr>
          <a:xfrm>
            <a:off x="713232" y="36393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1225296" y="3538728"/>
            <a:ext cx="4572000" cy="566928"/>
          </a:xfrm>
          <a:prstGeom prst="rect">
            <a:avLst/>
          </a:prstGeom>
          <a:noFill/>
          <a:ln/>
        </p:spPr>
        <p:txBody>
          <a:bodyPr wrap="square" lIns="0" tIns="0" rIns="0" bIns="0" rtlCol="0" anchor="ctr"/>
          <a:lstStyle/>
          <a:p>
            <a:pPr algn="l" indent="0" marL="0">
              <a:buNone/>
            </a:pPr>
            <a:r>
              <a:rPr lang="en-US" sz="1300" dirty="0">
                <a:solidFill>
                  <a:srgbClr val="2A2118"/>
                </a:solidFill>
                <a:latin typeface="Calibri" pitchFamily="34" charset="0"/>
                <a:ea typeface="Calibri" pitchFamily="34" charset="-122"/>
                <a:cs typeface="Calibri" pitchFamily="34" charset="-120"/>
              </a:rPr>
              <a:t>build the dataset</a:t>
            </a:r>
            <a:endParaRPr lang="en-US" sz="1300" dirty="0"/>
          </a:p>
        </p:txBody>
      </p:sp>
      <p:sp>
        <p:nvSpPr>
          <p:cNvPr id="15" name="Shape 13"/>
          <p:cNvSpPr/>
          <p:nvPr/>
        </p:nvSpPr>
        <p:spPr>
          <a:xfrm>
            <a:off x="566928" y="4197096"/>
            <a:ext cx="5358384" cy="566928"/>
          </a:xfrm>
          <a:prstGeom prst="roundRect">
            <a:avLst>
              <a:gd name="adj" fmla="val 25806"/>
            </a:avLst>
          </a:prstGeom>
          <a:solidFill>
            <a:srgbClr val="FFFFFF"/>
          </a:solidFill>
          <a:ln/>
        </p:spPr>
      </p:sp>
      <p:sp>
        <p:nvSpPr>
          <p:cNvPr id="16" name="Shape 14"/>
          <p:cNvSpPr/>
          <p:nvPr/>
        </p:nvSpPr>
        <p:spPr>
          <a:xfrm>
            <a:off x="713232" y="4297680"/>
            <a:ext cx="365760" cy="365760"/>
          </a:xfrm>
          <a:prstGeom prst="ellipse">
            <a:avLst/>
          </a:prstGeom>
          <a:solidFill>
            <a:srgbClr val="7A4F9E"/>
          </a:solidFill>
          <a:ln/>
        </p:spPr>
      </p:sp>
      <p:sp>
        <p:nvSpPr>
          <p:cNvPr id="17" name="Text 15"/>
          <p:cNvSpPr/>
          <p:nvPr/>
        </p:nvSpPr>
        <p:spPr>
          <a:xfrm>
            <a:off x="713232" y="42976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1225296" y="4197096"/>
            <a:ext cx="4572000" cy="566928"/>
          </a:xfrm>
          <a:prstGeom prst="rect">
            <a:avLst/>
          </a:prstGeom>
          <a:noFill/>
          <a:ln/>
        </p:spPr>
        <p:txBody>
          <a:bodyPr wrap="square" lIns="0" tIns="0" rIns="0" bIns="0" rtlCol="0" anchor="ctr"/>
          <a:lstStyle/>
          <a:p>
            <a:pPr algn="l" indent="0" marL="0">
              <a:buNone/>
            </a:pPr>
            <a:r>
              <a:rPr lang="en-US" sz="1300" dirty="0">
                <a:solidFill>
                  <a:srgbClr val="2A2118"/>
                </a:solidFill>
                <a:latin typeface="Calibri" pitchFamily="34" charset="0"/>
                <a:ea typeface="Calibri" pitchFamily="34" charset="-122"/>
                <a:cs typeface="Calibri" pitchFamily="34" charset="-120"/>
              </a:rPr>
              <a:t>confirmatory tests</a:t>
            </a:r>
            <a:endParaRPr lang="en-US" sz="1300" dirty="0"/>
          </a:p>
        </p:txBody>
      </p:sp>
      <p:sp>
        <p:nvSpPr>
          <p:cNvPr id="19" name="Shape 17"/>
          <p:cNvSpPr/>
          <p:nvPr/>
        </p:nvSpPr>
        <p:spPr>
          <a:xfrm>
            <a:off x="566928" y="4855464"/>
            <a:ext cx="5358384" cy="566928"/>
          </a:xfrm>
          <a:prstGeom prst="roundRect">
            <a:avLst>
              <a:gd name="adj" fmla="val 25806"/>
            </a:avLst>
          </a:prstGeom>
          <a:solidFill>
            <a:srgbClr val="FFFFFF"/>
          </a:solidFill>
          <a:ln/>
        </p:spPr>
      </p:sp>
      <p:sp>
        <p:nvSpPr>
          <p:cNvPr id="20" name="Shape 18"/>
          <p:cNvSpPr/>
          <p:nvPr/>
        </p:nvSpPr>
        <p:spPr>
          <a:xfrm>
            <a:off x="713232" y="4956048"/>
            <a:ext cx="365760" cy="365760"/>
          </a:xfrm>
          <a:prstGeom prst="ellipse">
            <a:avLst/>
          </a:prstGeom>
          <a:solidFill>
            <a:srgbClr val="DB5A28"/>
          </a:solidFill>
          <a:ln/>
        </p:spPr>
      </p:sp>
      <p:sp>
        <p:nvSpPr>
          <p:cNvPr id="21" name="Text 19"/>
          <p:cNvSpPr/>
          <p:nvPr/>
        </p:nvSpPr>
        <p:spPr>
          <a:xfrm>
            <a:off x="713232" y="495604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p:nvPr/>
        </p:nvSpPr>
        <p:spPr>
          <a:xfrm>
            <a:off x="1225296" y="4855464"/>
            <a:ext cx="4572000" cy="566928"/>
          </a:xfrm>
          <a:prstGeom prst="rect">
            <a:avLst/>
          </a:prstGeom>
          <a:noFill/>
          <a:ln/>
        </p:spPr>
        <p:txBody>
          <a:bodyPr wrap="square" lIns="0" tIns="0" rIns="0" bIns="0" rtlCol="0" anchor="ctr"/>
          <a:lstStyle/>
          <a:p>
            <a:pPr algn="l" indent="0" marL="0">
              <a:buNone/>
            </a:pPr>
            <a:r>
              <a:rPr lang="en-US" sz="1300" dirty="0">
                <a:solidFill>
                  <a:srgbClr val="2A2118"/>
                </a:solidFill>
                <a:latin typeface="Calibri" pitchFamily="34" charset="0"/>
                <a:ea typeface="Calibri" pitchFamily="34" charset="-122"/>
                <a:cs typeface="Calibri" pitchFamily="34" charset="-120"/>
              </a:rPr>
              <a:t>robustness</a:t>
            </a:r>
            <a:endParaRPr lang="en-US" sz="1300" dirty="0"/>
          </a:p>
        </p:txBody>
      </p:sp>
      <p:sp>
        <p:nvSpPr>
          <p:cNvPr id="23" name="Shape 21"/>
          <p:cNvSpPr/>
          <p:nvPr/>
        </p:nvSpPr>
        <p:spPr>
          <a:xfrm>
            <a:off x="566928" y="5513832"/>
            <a:ext cx="5358384" cy="566928"/>
          </a:xfrm>
          <a:prstGeom prst="roundRect">
            <a:avLst>
              <a:gd name="adj" fmla="val 25806"/>
            </a:avLst>
          </a:prstGeom>
          <a:solidFill>
            <a:srgbClr val="FFFFFF"/>
          </a:solidFill>
          <a:ln/>
        </p:spPr>
      </p:sp>
      <p:sp>
        <p:nvSpPr>
          <p:cNvPr id="24" name="Shape 22"/>
          <p:cNvSpPr/>
          <p:nvPr/>
        </p:nvSpPr>
        <p:spPr>
          <a:xfrm>
            <a:off x="713232" y="5614416"/>
            <a:ext cx="365760" cy="365760"/>
          </a:xfrm>
          <a:prstGeom prst="ellipse">
            <a:avLst/>
          </a:prstGeom>
          <a:solidFill>
            <a:srgbClr val="0F8A6E"/>
          </a:solidFill>
          <a:ln/>
        </p:spPr>
      </p:sp>
      <p:sp>
        <p:nvSpPr>
          <p:cNvPr id="25" name="Text 23"/>
          <p:cNvSpPr/>
          <p:nvPr/>
        </p:nvSpPr>
        <p:spPr>
          <a:xfrm>
            <a:off x="713232" y="561441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6" name="Text 24"/>
          <p:cNvSpPr/>
          <p:nvPr/>
        </p:nvSpPr>
        <p:spPr>
          <a:xfrm>
            <a:off x="1225296" y="5513832"/>
            <a:ext cx="4572000" cy="566928"/>
          </a:xfrm>
          <a:prstGeom prst="rect">
            <a:avLst/>
          </a:prstGeom>
          <a:noFill/>
          <a:ln/>
        </p:spPr>
        <p:txBody>
          <a:bodyPr wrap="square" lIns="0" tIns="0" rIns="0" bIns="0" rtlCol="0" anchor="ctr"/>
          <a:lstStyle/>
          <a:p>
            <a:pPr algn="l" indent="0" marL="0">
              <a:buNone/>
            </a:pPr>
            <a:r>
              <a:rPr lang="en-US" sz="1300" dirty="0">
                <a:solidFill>
                  <a:srgbClr val="2A2118"/>
                </a:solidFill>
                <a:latin typeface="Calibri" pitchFamily="34" charset="0"/>
                <a:ea typeface="Calibri" pitchFamily="34" charset="-122"/>
                <a:cs typeface="Calibri" pitchFamily="34" charset="-120"/>
              </a:rPr>
              <a:t>figures</a:t>
            </a:r>
            <a:endParaRPr lang="en-US" sz="1300" dirty="0"/>
          </a:p>
        </p:txBody>
      </p:sp>
      <p:sp>
        <p:nvSpPr>
          <p:cNvPr id="27" name="Shape 25"/>
          <p:cNvSpPr/>
          <p:nvPr/>
        </p:nvSpPr>
        <p:spPr>
          <a:xfrm>
            <a:off x="6263640" y="2880360"/>
            <a:ext cx="5358384" cy="566928"/>
          </a:xfrm>
          <a:prstGeom prst="roundRect">
            <a:avLst>
              <a:gd name="adj" fmla="val 25806"/>
            </a:avLst>
          </a:prstGeom>
          <a:solidFill>
            <a:srgbClr val="FFFFFF"/>
          </a:solidFill>
          <a:ln/>
        </p:spPr>
      </p:sp>
      <p:sp>
        <p:nvSpPr>
          <p:cNvPr id="28" name="Shape 26"/>
          <p:cNvSpPr/>
          <p:nvPr/>
        </p:nvSpPr>
        <p:spPr>
          <a:xfrm>
            <a:off x="6409944" y="2980944"/>
            <a:ext cx="365760" cy="365760"/>
          </a:xfrm>
          <a:prstGeom prst="ellipse">
            <a:avLst/>
          </a:prstGeom>
          <a:solidFill>
            <a:srgbClr val="2E63C8"/>
          </a:solidFill>
          <a:ln/>
        </p:spPr>
      </p:sp>
      <p:sp>
        <p:nvSpPr>
          <p:cNvPr id="29" name="Text 27"/>
          <p:cNvSpPr/>
          <p:nvPr/>
        </p:nvSpPr>
        <p:spPr>
          <a:xfrm>
            <a:off x="6409944" y="298094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6922008" y="2880360"/>
            <a:ext cx="4572000" cy="566928"/>
          </a:xfrm>
          <a:prstGeom prst="rect">
            <a:avLst/>
          </a:prstGeom>
          <a:noFill/>
          <a:ln/>
        </p:spPr>
        <p:txBody>
          <a:bodyPr wrap="square" lIns="0" tIns="0" rIns="0" bIns="0" rtlCol="0" anchor="ctr"/>
          <a:lstStyle/>
          <a:p>
            <a:pPr algn="l" indent="0" marL="0">
              <a:buNone/>
            </a:pPr>
            <a:r>
              <a:rPr lang="en-US" sz="1300" dirty="0">
                <a:solidFill>
                  <a:srgbClr val="2A2118"/>
                </a:solidFill>
                <a:latin typeface="Calibri" pitchFamily="34" charset="0"/>
                <a:ea typeface="Calibri" pitchFamily="34" charset="-122"/>
                <a:cs typeface="Calibri" pitchFamily="34" charset="-120"/>
              </a:rPr>
              <a:t>vig rules and dependence</a:t>
            </a:r>
            <a:endParaRPr lang="en-US" sz="1300" dirty="0"/>
          </a:p>
        </p:txBody>
      </p:sp>
      <p:sp>
        <p:nvSpPr>
          <p:cNvPr id="31" name="Shape 29"/>
          <p:cNvSpPr/>
          <p:nvPr/>
        </p:nvSpPr>
        <p:spPr>
          <a:xfrm>
            <a:off x="6263640" y="3538728"/>
            <a:ext cx="5358384" cy="566928"/>
          </a:xfrm>
          <a:prstGeom prst="roundRect">
            <a:avLst>
              <a:gd name="adj" fmla="val 25806"/>
            </a:avLst>
          </a:prstGeom>
          <a:solidFill>
            <a:srgbClr val="FFFFFF"/>
          </a:solidFill>
          <a:ln/>
        </p:spPr>
      </p:sp>
      <p:sp>
        <p:nvSpPr>
          <p:cNvPr id="32" name="Shape 30"/>
          <p:cNvSpPr/>
          <p:nvPr/>
        </p:nvSpPr>
        <p:spPr>
          <a:xfrm>
            <a:off x="6409944" y="3639312"/>
            <a:ext cx="365760" cy="365760"/>
          </a:xfrm>
          <a:prstGeom prst="ellipse">
            <a:avLst/>
          </a:prstGeom>
          <a:solidFill>
            <a:srgbClr val="7A4F9E"/>
          </a:solidFill>
          <a:ln/>
        </p:spPr>
      </p:sp>
      <p:sp>
        <p:nvSpPr>
          <p:cNvPr id="33" name="Text 31"/>
          <p:cNvSpPr/>
          <p:nvPr/>
        </p:nvSpPr>
        <p:spPr>
          <a:xfrm>
            <a:off x="6409944" y="363931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4" name="Text 32"/>
          <p:cNvSpPr/>
          <p:nvPr/>
        </p:nvSpPr>
        <p:spPr>
          <a:xfrm>
            <a:off x="6922008" y="3538728"/>
            <a:ext cx="4572000" cy="566928"/>
          </a:xfrm>
          <a:prstGeom prst="rect">
            <a:avLst/>
          </a:prstGeom>
          <a:noFill/>
          <a:ln/>
        </p:spPr>
        <p:txBody>
          <a:bodyPr wrap="square" lIns="0" tIns="0" rIns="0" bIns="0" rtlCol="0" anchor="ctr"/>
          <a:lstStyle/>
          <a:p>
            <a:pPr algn="l" indent="0" marL="0">
              <a:buNone/>
            </a:pPr>
            <a:r>
              <a:rPr lang="en-US" sz="1300" dirty="0">
                <a:solidFill>
                  <a:srgbClr val="2A2118"/>
                </a:solidFill>
                <a:latin typeface="Calibri" pitchFamily="34" charset="0"/>
                <a:ea typeface="Calibri" pitchFamily="34" charset="-122"/>
                <a:cs typeface="Calibri" pitchFamily="34" charset="-120"/>
              </a:rPr>
              <a:t>power curve</a:t>
            </a:r>
            <a:endParaRPr lang="en-US" sz="1300" dirty="0"/>
          </a:p>
        </p:txBody>
      </p:sp>
      <p:sp>
        <p:nvSpPr>
          <p:cNvPr id="35" name="Shape 33"/>
          <p:cNvSpPr/>
          <p:nvPr/>
        </p:nvSpPr>
        <p:spPr>
          <a:xfrm>
            <a:off x="6263640" y="4197096"/>
            <a:ext cx="5358384" cy="566928"/>
          </a:xfrm>
          <a:prstGeom prst="roundRect">
            <a:avLst>
              <a:gd name="adj" fmla="val 25806"/>
            </a:avLst>
          </a:prstGeom>
          <a:solidFill>
            <a:srgbClr val="FFFFFF"/>
          </a:solidFill>
          <a:ln/>
        </p:spPr>
      </p:sp>
      <p:sp>
        <p:nvSpPr>
          <p:cNvPr id="36" name="Shape 34"/>
          <p:cNvSpPr/>
          <p:nvPr/>
        </p:nvSpPr>
        <p:spPr>
          <a:xfrm>
            <a:off x="6409944" y="4297680"/>
            <a:ext cx="365760" cy="365760"/>
          </a:xfrm>
          <a:prstGeom prst="ellipse">
            <a:avLst/>
          </a:prstGeom>
          <a:solidFill>
            <a:srgbClr val="DB5A28"/>
          </a:solidFill>
          <a:ln/>
        </p:spPr>
      </p:sp>
      <p:sp>
        <p:nvSpPr>
          <p:cNvPr id="37" name="Text 35"/>
          <p:cNvSpPr/>
          <p:nvPr/>
        </p:nvSpPr>
        <p:spPr>
          <a:xfrm>
            <a:off x="6409944" y="429768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8" name="Text 36"/>
          <p:cNvSpPr/>
          <p:nvPr/>
        </p:nvSpPr>
        <p:spPr>
          <a:xfrm>
            <a:off x="6922008" y="4197096"/>
            <a:ext cx="4572000" cy="566928"/>
          </a:xfrm>
          <a:prstGeom prst="rect">
            <a:avLst/>
          </a:prstGeom>
          <a:noFill/>
          <a:ln/>
        </p:spPr>
        <p:txBody>
          <a:bodyPr wrap="square" lIns="0" tIns="0" rIns="0" bIns="0" rtlCol="0" anchor="ctr"/>
          <a:lstStyle/>
          <a:p>
            <a:pPr algn="l" indent="0" marL="0">
              <a:buNone/>
            </a:pPr>
            <a:r>
              <a:rPr lang="en-US" sz="1300" dirty="0">
                <a:solidFill>
                  <a:srgbClr val="2A2118"/>
                </a:solidFill>
                <a:latin typeface="Calibri" pitchFamily="34" charset="0"/>
                <a:ea typeface="Calibri" pitchFamily="34" charset="-122"/>
                <a:cs typeface="Calibri" pitchFamily="34" charset="-120"/>
              </a:rPr>
              <a:t>Shin proof</a:t>
            </a:r>
            <a:endParaRPr lang="en-US" sz="1300" dirty="0"/>
          </a:p>
        </p:txBody>
      </p:sp>
      <p:sp>
        <p:nvSpPr>
          <p:cNvPr id="39" name="Shape 37"/>
          <p:cNvSpPr/>
          <p:nvPr/>
        </p:nvSpPr>
        <p:spPr>
          <a:xfrm>
            <a:off x="6263640" y="4855464"/>
            <a:ext cx="5358384" cy="566928"/>
          </a:xfrm>
          <a:prstGeom prst="roundRect">
            <a:avLst>
              <a:gd name="adj" fmla="val 25806"/>
            </a:avLst>
          </a:prstGeom>
          <a:solidFill>
            <a:srgbClr val="FFFFFF"/>
          </a:solidFill>
          <a:ln/>
        </p:spPr>
      </p:sp>
      <p:sp>
        <p:nvSpPr>
          <p:cNvPr id="40" name="Shape 38"/>
          <p:cNvSpPr/>
          <p:nvPr/>
        </p:nvSpPr>
        <p:spPr>
          <a:xfrm>
            <a:off x="6409944" y="4956048"/>
            <a:ext cx="365760" cy="365760"/>
          </a:xfrm>
          <a:prstGeom prst="ellipse">
            <a:avLst/>
          </a:prstGeom>
          <a:solidFill>
            <a:srgbClr val="0F8A6E"/>
          </a:solidFill>
          <a:ln/>
        </p:spPr>
      </p:sp>
      <p:sp>
        <p:nvSpPr>
          <p:cNvPr id="41" name="Text 39"/>
          <p:cNvSpPr/>
          <p:nvPr/>
        </p:nvSpPr>
        <p:spPr>
          <a:xfrm>
            <a:off x="6409944" y="495604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2" name="Text 40"/>
          <p:cNvSpPr/>
          <p:nvPr/>
        </p:nvSpPr>
        <p:spPr>
          <a:xfrm>
            <a:off x="6922008" y="4855464"/>
            <a:ext cx="4572000" cy="566928"/>
          </a:xfrm>
          <a:prstGeom prst="rect">
            <a:avLst/>
          </a:prstGeom>
          <a:noFill/>
          <a:ln/>
        </p:spPr>
        <p:txBody>
          <a:bodyPr wrap="square" lIns="0" tIns="0" rIns="0" bIns="0" rtlCol="0" anchor="ctr"/>
          <a:lstStyle/>
          <a:p>
            <a:pPr algn="l" indent="0" marL="0">
              <a:buNone/>
            </a:pPr>
            <a:r>
              <a:rPr lang="en-US" sz="1300" dirty="0">
                <a:solidFill>
                  <a:srgbClr val="2A2118"/>
                </a:solidFill>
                <a:latin typeface="Calibri" pitchFamily="34" charset="0"/>
                <a:ea typeface="Calibri" pitchFamily="34" charset="-122"/>
                <a:cs typeface="Calibri" pitchFamily="34" charset="-120"/>
              </a:rPr>
              <a:t>return simulation</a:t>
            </a:r>
            <a:endParaRPr lang="en-US" sz="1300" dirty="0"/>
          </a:p>
        </p:txBody>
      </p:sp>
      <p:sp>
        <p:nvSpPr>
          <p:cNvPr id="43" name="Shape 41"/>
          <p:cNvSpPr/>
          <p:nvPr/>
        </p:nvSpPr>
        <p:spPr>
          <a:xfrm>
            <a:off x="6263640" y="5513832"/>
            <a:ext cx="5358384" cy="566928"/>
          </a:xfrm>
          <a:prstGeom prst="roundRect">
            <a:avLst>
              <a:gd name="adj" fmla="val 25806"/>
            </a:avLst>
          </a:prstGeom>
          <a:solidFill>
            <a:srgbClr val="FFFFFF"/>
          </a:solidFill>
          <a:ln/>
        </p:spPr>
      </p:sp>
      <p:sp>
        <p:nvSpPr>
          <p:cNvPr id="44" name="Shape 42"/>
          <p:cNvSpPr/>
          <p:nvPr/>
        </p:nvSpPr>
        <p:spPr>
          <a:xfrm>
            <a:off x="6409944" y="5614416"/>
            <a:ext cx="365760" cy="365760"/>
          </a:xfrm>
          <a:prstGeom prst="ellipse">
            <a:avLst/>
          </a:prstGeom>
          <a:solidFill>
            <a:srgbClr val="2E63C8"/>
          </a:solidFill>
          <a:ln/>
        </p:spPr>
      </p:sp>
      <p:sp>
        <p:nvSpPr>
          <p:cNvPr id="45" name="Text 43"/>
          <p:cNvSpPr/>
          <p:nvPr/>
        </p:nvSpPr>
        <p:spPr>
          <a:xfrm>
            <a:off x="6409944" y="561441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46" name="Text 44"/>
          <p:cNvSpPr/>
          <p:nvPr/>
        </p:nvSpPr>
        <p:spPr>
          <a:xfrm>
            <a:off x="6922008" y="5513832"/>
            <a:ext cx="4572000" cy="566928"/>
          </a:xfrm>
          <a:prstGeom prst="rect">
            <a:avLst/>
          </a:prstGeom>
          <a:noFill/>
          <a:ln/>
        </p:spPr>
        <p:txBody>
          <a:bodyPr wrap="square" lIns="0" tIns="0" rIns="0" bIns="0" rtlCol="0" anchor="ctr"/>
          <a:lstStyle/>
          <a:p>
            <a:pPr algn="l" indent="0" marL="0">
              <a:buNone/>
            </a:pPr>
            <a:r>
              <a:rPr lang="en-US" sz="1300" dirty="0">
                <a:solidFill>
                  <a:srgbClr val="2A2118"/>
                </a:solidFill>
                <a:latin typeface="Calibri" pitchFamily="34" charset="0"/>
                <a:ea typeface="Calibri" pitchFamily="34" charset="-122"/>
                <a:cs typeface="Calibri" pitchFamily="34" charset="-120"/>
              </a:rPr>
              <a:t>equivalence and fixed sample</a:t>
            </a:r>
            <a:endParaRPr lang="en-US" sz="1300" dirty="0"/>
          </a:p>
        </p:txBody>
      </p:sp>
      <p:sp>
        <p:nvSpPr>
          <p:cNvPr id="47" name="Text 45"/>
          <p:cNvSpPr/>
          <p:nvPr/>
        </p:nvSpPr>
        <p:spPr>
          <a:xfrm>
            <a:off x="566928" y="6254496"/>
            <a:ext cx="11055096" cy="365760"/>
          </a:xfrm>
          <a:prstGeom prst="rect">
            <a:avLst/>
          </a:prstGeom>
          <a:noFill/>
          <a:ln/>
        </p:spPr>
        <p:txBody>
          <a:bodyPr wrap="square" lIns="0" tIns="0" rIns="0" bIns="0" rtlCol="0" anchor="ctr"/>
          <a:lstStyle/>
          <a:p>
            <a:pPr algn="l" indent="0" marL="0">
              <a:buNone/>
            </a:pPr>
            <a:r>
              <a:rPr lang="en-US" sz="1050" i="1" dirty="0">
                <a:solidFill>
                  <a:srgbClr val="6E5A48"/>
                </a:solidFill>
                <a:latin typeface="Calibri" pitchFamily="34" charset="0"/>
                <a:ea typeface="Calibri" pitchFamily="34" charset="-122"/>
                <a:cs typeface="Calibri" pitchFamily="34" charset="-120"/>
              </a:rPr>
              <a:t>Six minutes, 49 files, from the raw archive. Verification runs first and stops the pipeline if it fails.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7EC"/>
        </a:solidFill>
      </p:bgPr>
    </p:bg>
    <p:spTree>
      <p:nvGrpSpPr>
        <p:cNvPr id="1" name=""/>
        <p:cNvGrpSpPr/>
        <p:nvPr/>
      </p:nvGrpSpPr>
      <p:grpSpPr>
        <a:xfrm>
          <a:off x="0" y="0"/>
          <a:ext cx="0" cy="0"/>
          <a:chOff x="0" y="0"/>
          <a:chExt cx="0" cy="0"/>
        </a:xfrm>
      </p:grpSpPr>
      <p:sp>
        <p:nvSpPr>
          <p:cNvPr id="2" name="Shape 0"/>
          <p:cNvSpPr/>
          <p:nvPr/>
        </p:nvSpPr>
        <p:spPr>
          <a:xfrm>
            <a:off x="566928" y="310896"/>
            <a:ext cx="3218688" cy="384048"/>
          </a:xfrm>
          <a:prstGeom prst="roundRect">
            <a:avLst>
              <a:gd name="adj" fmla="val 119048"/>
            </a:avLst>
          </a:prstGeom>
          <a:solidFill>
            <a:srgbClr val="2E63C8"/>
          </a:solidFill>
          <a:ln/>
        </p:spPr>
      </p:sp>
      <p:sp>
        <p:nvSpPr>
          <p:cNvPr id="3" name="Text 1"/>
          <p:cNvSpPr/>
          <p:nvPr/>
        </p:nvSpPr>
        <p:spPr>
          <a:xfrm>
            <a:off x="566928" y="310896"/>
            <a:ext cx="3218688" cy="384048"/>
          </a:xfrm>
          <a:prstGeom prst="rect">
            <a:avLst/>
          </a:prstGeom>
          <a:noFill/>
          <a:ln/>
        </p:spPr>
        <p:txBody>
          <a:bodyPr wrap="square" lIns="0" tIns="0" rIns="0" bIns="0" rtlCol="0" anchor="ctr"/>
          <a:lstStyle/>
          <a:p>
            <a:pPr algn="ctr" indent="0" marL="0">
              <a:buNone/>
            </a:pPr>
            <a:r>
              <a:rPr lang="en-US" sz="1050" b="1" spc="140" kern="0" dirty="0">
                <a:solidFill>
                  <a:srgbClr val="FFFFFF"/>
                </a:solidFill>
                <a:latin typeface="Calibri" pitchFamily="34" charset="0"/>
                <a:ea typeface="Calibri" pitchFamily="34" charset="-122"/>
                <a:cs typeface="Calibri" pitchFamily="34" charset="-120"/>
              </a:rPr>
              <a:t>WHAT TO TAKE FROM THIS</a:t>
            </a:r>
            <a:endParaRPr lang="en-US" sz="1050" dirty="0"/>
          </a:p>
        </p:txBody>
      </p:sp>
      <p:sp>
        <p:nvSpPr>
          <p:cNvPr id="4" name="Text 2"/>
          <p:cNvSpPr/>
          <p:nvPr/>
        </p:nvSpPr>
        <p:spPr>
          <a:xfrm>
            <a:off x="566928" y="841248"/>
            <a:ext cx="11055096" cy="786384"/>
          </a:xfrm>
          <a:prstGeom prst="rect">
            <a:avLst/>
          </a:prstGeom>
          <a:noFill/>
          <a:ln/>
        </p:spPr>
        <p:txBody>
          <a:bodyPr wrap="square" lIns="0" tIns="0" rIns="0" bIns="0" rtlCol="0" anchor="ctr"/>
          <a:lstStyle/>
          <a:p>
            <a:pPr algn="l" indent="0" marL="0">
              <a:buNone/>
            </a:pPr>
            <a:r>
              <a:rPr lang="en-US" sz="3100" b="1" dirty="0">
                <a:solidFill>
                  <a:srgbClr val="2A2118"/>
                </a:solidFill>
                <a:latin typeface="Century Gothic" pitchFamily="34" charset="0"/>
                <a:ea typeface="Century Gothic" pitchFamily="34" charset="-122"/>
                <a:cs typeface="Century Gothic" pitchFamily="34" charset="-120"/>
              </a:rPr>
              <a:t>Two conclusions, one of them useful</a:t>
            </a:r>
            <a:endParaRPr lang="en-US" sz="3100" dirty="0"/>
          </a:p>
        </p:txBody>
      </p:sp>
      <p:sp>
        <p:nvSpPr>
          <p:cNvPr id="5" name="Shape 3"/>
          <p:cNvSpPr/>
          <p:nvPr/>
        </p:nvSpPr>
        <p:spPr>
          <a:xfrm>
            <a:off x="566928" y="1828800"/>
            <a:ext cx="5358384" cy="2834640"/>
          </a:xfrm>
          <a:prstGeom prst="roundRect">
            <a:avLst>
              <a:gd name="adj" fmla="val 5161"/>
            </a:avLst>
          </a:prstGeom>
          <a:solidFill>
            <a:srgbClr val="FDEEDC"/>
          </a:solidFill>
          <a:ln/>
        </p:spPr>
      </p:sp>
      <p:sp>
        <p:nvSpPr>
          <p:cNvPr id="6" name="Text 4"/>
          <p:cNvSpPr/>
          <p:nvPr/>
        </p:nvSpPr>
        <p:spPr>
          <a:xfrm>
            <a:off x="877824" y="2066544"/>
            <a:ext cx="4736592" cy="365760"/>
          </a:xfrm>
          <a:prstGeom prst="rect">
            <a:avLst/>
          </a:prstGeom>
          <a:noFill/>
          <a:ln/>
        </p:spPr>
        <p:txBody>
          <a:bodyPr wrap="square" lIns="0" tIns="0" rIns="0" bIns="0" rtlCol="0" anchor="ctr"/>
          <a:lstStyle/>
          <a:p>
            <a:pPr algn="l" indent="0" marL="0">
              <a:buNone/>
            </a:pPr>
            <a:r>
              <a:rPr lang="en-US" sz="1500" b="1" dirty="0">
                <a:solidFill>
                  <a:srgbClr val="6E5A48"/>
                </a:solidFill>
                <a:latin typeface="Century Gothic" pitchFamily="34" charset="0"/>
                <a:ea typeface="Century Gothic" pitchFamily="34" charset="-122"/>
                <a:cs typeface="Century Gothic" pitchFamily="34" charset="-120"/>
              </a:rPr>
              <a:t>For bettors</a:t>
            </a:r>
            <a:endParaRPr lang="en-US" sz="1500" dirty="0"/>
          </a:p>
        </p:txBody>
      </p:sp>
      <p:sp>
        <p:nvSpPr>
          <p:cNvPr id="7" name="Text 5"/>
          <p:cNvSpPr/>
          <p:nvPr/>
        </p:nvSpPr>
        <p:spPr>
          <a:xfrm>
            <a:off x="877824" y="2487168"/>
            <a:ext cx="4754880" cy="2011680"/>
          </a:xfrm>
          <a:prstGeom prst="rect">
            <a:avLst/>
          </a:prstGeom>
          <a:noFill/>
          <a:ln/>
        </p:spPr>
        <p:txBody>
          <a:bodyPr wrap="square" lIns="0" tIns="0" rIns="0" bIns="0" rtlCol="0" anchor="t"/>
          <a:lstStyle/>
          <a:p>
            <a:pPr algn="l" indent="0" marL="0">
              <a:lnSpc>
                <a:spcPct val="134000"/>
              </a:lnSpc>
              <a:buNone/>
            </a:pPr>
            <a:r>
              <a:rPr lang="en-US" sz="1350" dirty="0">
                <a:solidFill>
                  <a:srgbClr val="2A2118"/>
                </a:solidFill>
                <a:latin typeface="Calibri" pitchFamily="34" charset="0"/>
                <a:ea typeface="Calibri" pitchFamily="34" charset="-122"/>
                <a:cs typeface="Calibri" pitchFamily="34" charset="-120"/>
              </a:rPr>
              <a:t>In these archived prices, over this period, under the rule fixed in advance, simply backing favorites or underdogs offered nothing worth having.</a:t>
            </a:r>
            <a:endParaRPr lang="en-US" sz="1350" dirty="0"/>
          </a:p>
          <a:p>
            <a:pPr algn="l" indent="0" marL="0">
              <a:lnSpc>
                <a:spcPct val="134000"/>
              </a:lnSpc>
              <a:buNone/>
            </a:pPr>
            <a:endParaRPr lang="en-US" sz="1350" dirty="0"/>
          </a:p>
          <a:p>
            <a:pPr algn="l" indent="0" marL="0">
              <a:lnSpc>
                <a:spcPct val="134000"/>
              </a:lnSpc>
              <a:buNone/>
            </a:pPr>
            <a:r>
              <a:rPr lang="en-US" sz="1350" dirty="0">
                <a:solidFill>
                  <a:srgbClr val="2A2118"/>
                </a:solidFill>
                <a:latin typeface="Calibri" pitchFamily="34" charset="0"/>
                <a:ea typeface="Calibri" pitchFamily="34" charset="-122"/>
                <a:cs typeface="Calibri" pitchFamily="34" charset="-120"/>
              </a:rPr>
              <a:t>That is a narrow statement and it should stay narrow.</a:t>
            </a:r>
            <a:endParaRPr lang="en-US" sz="1350" dirty="0"/>
          </a:p>
        </p:txBody>
      </p:sp>
      <p:sp>
        <p:nvSpPr>
          <p:cNvPr id="8" name="Shape 6"/>
          <p:cNvSpPr/>
          <p:nvPr/>
        </p:nvSpPr>
        <p:spPr>
          <a:xfrm>
            <a:off x="6263640" y="1828800"/>
            <a:ext cx="5358384" cy="2834640"/>
          </a:xfrm>
          <a:prstGeom prst="roundRect">
            <a:avLst>
              <a:gd name="adj" fmla="val 5161"/>
            </a:avLst>
          </a:prstGeom>
          <a:solidFill>
            <a:srgbClr val="DEE6F8"/>
          </a:solidFill>
          <a:ln/>
        </p:spPr>
      </p:sp>
      <p:sp>
        <p:nvSpPr>
          <p:cNvPr id="9" name="Text 7"/>
          <p:cNvSpPr/>
          <p:nvPr/>
        </p:nvSpPr>
        <p:spPr>
          <a:xfrm>
            <a:off x="6574536" y="2066544"/>
            <a:ext cx="4736592" cy="365760"/>
          </a:xfrm>
          <a:prstGeom prst="rect">
            <a:avLst/>
          </a:prstGeom>
          <a:noFill/>
          <a:ln/>
        </p:spPr>
        <p:txBody>
          <a:bodyPr wrap="square" lIns="0" tIns="0" rIns="0" bIns="0" rtlCol="0" anchor="ctr"/>
          <a:lstStyle/>
          <a:p>
            <a:pPr algn="l" indent="0" marL="0">
              <a:buNone/>
            </a:pPr>
            <a:r>
              <a:rPr lang="en-US" sz="1500" b="1" dirty="0">
                <a:solidFill>
                  <a:srgbClr val="2E63C8"/>
                </a:solidFill>
                <a:latin typeface="Century Gothic" pitchFamily="34" charset="0"/>
                <a:ea typeface="Century Gothic" pitchFamily="34" charset="-122"/>
                <a:cs typeface="Century Gothic" pitchFamily="34" charset="-120"/>
              </a:rPr>
              <a:t>For researchers</a:t>
            </a:r>
            <a:endParaRPr lang="en-US" sz="1500" dirty="0"/>
          </a:p>
        </p:txBody>
      </p:sp>
      <p:sp>
        <p:nvSpPr>
          <p:cNvPr id="10" name="Text 8"/>
          <p:cNvSpPr/>
          <p:nvPr/>
        </p:nvSpPr>
        <p:spPr>
          <a:xfrm>
            <a:off x="6574536" y="2487168"/>
            <a:ext cx="4754880" cy="2011680"/>
          </a:xfrm>
          <a:prstGeom prst="rect">
            <a:avLst/>
          </a:prstGeom>
          <a:noFill/>
          <a:ln/>
        </p:spPr>
        <p:txBody>
          <a:bodyPr wrap="square" lIns="0" tIns="0" rIns="0" bIns="0" rtlCol="0" anchor="t"/>
          <a:lstStyle/>
          <a:p>
            <a:pPr algn="l" indent="0" marL="0">
              <a:lnSpc>
                <a:spcPct val="134000"/>
              </a:lnSpc>
              <a:buNone/>
            </a:pPr>
            <a:r>
              <a:rPr lang="en-US" sz="1350" dirty="0">
                <a:solidFill>
                  <a:srgbClr val="2A2118"/>
                </a:solidFill>
                <a:latin typeface="Calibri" pitchFamily="34" charset="0"/>
                <a:ea typeface="Calibri" pitchFamily="34" charset="-122"/>
                <a:cs typeface="Calibri" pitchFamily="34" charset="-120"/>
              </a:rPr>
              <a:t>The evidence for favorite bias is not robust to how the margin is removed. That dependence is invisible to a single-rule bucket test.</a:t>
            </a:r>
            <a:endParaRPr lang="en-US" sz="1350" dirty="0"/>
          </a:p>
          <a:p>
            <a:pPr algn="l" indent="0" marL="0">
              <a:lnSpc>
                <a:spcPct val="134000"/>
              </a:lnSpc>
              <a:buNone/>
            </a:pPr>
            <a:endParaRPr lang="en-US" sz="1350" dirty="0"/>
          </a:p>
          <a:p>
            <a:pPr algn="l" indent="0" marL="0">
              <a:lnSpc>
                <a:spcPct val="134000"/>
              </a:lnSpc>
              <a:buNone/>
            </a:pPr>
            <a:r>
              <a:rPr lang="en-US" sz="1350" dirty="0">
                <a:solidFill>
                  <a:srgbClr val="2A2118"/>
                </a:solidFill>
                <a:latin typeface="Calibri" pitchFamily="34" charset="0"/>
                <a:ea typeface="Calibri" pitchFamily="34" charset="-122"/>
                <a:cs typeface="Calibri" pitchFamily="34" charset="-120"/>
              </a:rPr>
              <a:t>Reporting the sensitivity is not a caveat attached to the result. It is the result.</a:t>
            </a:r>
            <a:endParaRPr lang="en-US" sz="1350" dirty="0"/>
          </a:p>
        </p:txBody>
      </p:sp>
      <p:sp>
        <p:nvSpPr>
          <p:cNvPr id="11" name="Shape 9"/>
          <p:cNvSpPr/>
          <p:nvPr/>
        </p:nvSpPr>
        <p:spPr>
          <a:xfrm>
            <a:off x="566928" y="4892040"/>
            <a:ext cx="11055096" cy="1005840"/>
          </a:xfrm>
          <a:prstGeom prst="roundRect">
            <a:avLst>
              <a:gd name="adj" fmla="val 14545"/>
            </a:avLst>
          </a:prstGeom>
          <a:solidFill>
            <a:srgbClr val="DB5A28"/>
          </a:solidFill>
          <a:ln/>
        </p:spPr>
      </p:sp>
      <p:sp>
        <p:nvSpPr>
          <p:cNvPr id="12" name="Text 10"/>
          <p:cNvSpPr/>
          <p:nvPr/>
        </p:nvSpPr>
        <p:spPr>
          <a:xfrm>
            <a:off x="1024128" y="4892040"/>
            <a:ext cx="10140696" cy="1005840"/>
          </a:xfrm>
          <a:prstGeom prst="rect">
            <a:avLst/>
          </a:prstGeom>
          <a:noFill/>
          <a:ln/>
        </p:spPr>
        <p:txBody>
          <a:bodyPr wrap="square" lIns="0" tIns="0" rIns="0" bIns="0" rtlCol="0" anchor="ctr"/>
          <a:lstStyle/>
          <a:p>
            <a:pPr algn="l" indent="0" marL="0">
              <a:buNone/>
            </a:pPr>
            <a:r>
              <a:rPr lang="en-US" sz="1650" b="1" dirty="0">
                <a:solidFill>
                  <a:srgbClr val="FFFFFF"/>
                </a:solidFill>
                <a:latin typeface="Century Gothic" pitchFamily="34" charset="0"/>
                <a:ea typeface="Century Gothic" pitchFamily="34" charset="-122"/>
                <a:cs typeface="Century Gothic" pitchFamily="34" charset="-120"/>
              </a:rPr>
              <a:t>The title of this paper used to be a question about calibration. The data changed it into a question about method.</a:t>
            </a:r>
            <a:endParaRPr lang="en-US" sz="16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7EC"/>
        </a:solidFill>
      </p:bgPr>
    </p:bg>
    <p:spTree>
      <p:nvGrpSpPr>
        <p:cNvPr id="1" name=""/>
        <p:cNvGrpSpPr/>
        <p:nvPr/>
      </p:nvGrpSpPr>
      <p:grpSpPr>
        <a:xfrm>
          <a:off x="0" y="0"/>
          <a:ext cx="0" cy="0"/>
          <a:chOff x="0" y="0"/>
          <a:chExt cx="0" cy="0"/>
        </a:xfrm>
      </p:grpSpPr>
      <p:sp>
        <p:nvSpPr>
          <p:cNvPr id="2" name="Shape 0"/>
          <p:cNvSpPr/>
          <p:nvPr/>
        </p:nvSpPr>
        <p:spPr>
          <a:xfrm>
            <a:off x="566928" y="310896"/>
            <a:ext cx="3589020" cy="384048"/>
          </a:xfrm>
          <a:prstGeom prst="roundRect">
            <a:avLst>
              <a:gd name="adj" fmla="val 119048"/>
            </a:avLst>
          </a:prstGeom>
          <a:solidFill>
            <a:srgbClr val="6E5A48"/>
          </a:solidFill>
          <a:ln/>
        </p:spPr>
      </p:sp>
      <p:sp>
        <p:nvSpPr>
          <p:cNvPr id="3" name="Text 1"/>
          <p:cNvSpPr/>
          <p:nvPr/>
        </p:nvSpPr>
        <p:spPr>
          <a:xfrm>
            <a:off x="566928" y="310896"/>
            <a:ext cx="3589020" cy="384048"/>
          </a:xfrm>
          <a:prstGeom prst="rect">
            <a:avLst/>
          </a:prstGeom>
          <a:noFill/>
          <a:ln/>
        </p:spPr>
        <p:txBody>
          <a:bodyPr wrap="square" lIns="0" tIns="0" rIns="0" bIns="0" rtlCol="0" anchor="ctr"/>
          <a:lstStyle/>
          <a:p>
            <a:pPr algn="ctr" indent="0" marL="0">
              <a:buNone/>
            </a:pPr>
            <a:r>
              <a:rPr lang="en-US" sz="1050" b="1" spc="140" kern="0" dirty="0">
                <a:solidFill>
                  <a:srgbClr val="FFFFFF"/>
                </a:solidFill>
                <a:latin typeface="Calibri" pitchFamily="34" charset="0"/>
                <a:ea typeface="Calibri" pitchFamily="34" charset="-122"/>
                <a:cs typeface="Calibri" pitchFamily="34" charset="-120"/>
              </a:rPr>
              <a:t>WHAT THIS CANNOT TELL YOU</a:t>
            </a:r>
            <a:endParaRPr lang="en-US" sz="1050" dirty="0"/>
          </a:p>
        </p:txBody>
      </p:sp>
      <p:sp>
        <p:nvSpPr>
          <p:cNvPr id="4" name="Text 2"/>
          <p:cNvSpPr/>
          <p:nvPr/>
        </p:nvSpPr>
        <p:spPr>
          <a:xfrm>
            <a:off x="566928" y="841248"/>
            <a:ext cx="11055096" cy="786384"/>
          </a:xfrm>
          <a:prstGeom prst="rect">
            <a:avLst/>
          </a:prstGeom>
          <a:noFill/>
          <a:ln/>
        </p:spPr>
        <p:txBody>
          <a:bodyPr wrap="square" lIns="0" tIns="0" rIns="0" bIns="0" rtlCol="0" anchor="ctr"/>
          <a:lstStyle/>
          <a:p>
            <a:pPr algn="l" indent="0" marL="0">
              <a:buNone/>
            </a:pPr>
            <a:r>
              <a:rPr lang="en-US" sz="3100" b="1" dirty="0">
                <a:solidFill>
                  <a:srgbClr val="2A2118"/>
                </a:solidFill>
                <a:latin typeface="Century Gothic" pitchFamily="34" charset="0"/>
                <a:ea typeface="Century Gothic" pitchFamily="34" charset="-122"/>
                <a:cs typeface="Century Gothic" pitchFamily="34" charset="-120"/>
              </a:rPr>
              <a:t>Limits, stated plainly</a:t>
            </a:r>
            <a:endParaRPr lang="en-US" sz="3100" dirty="0"/>
          </a:p>
        </p:txBody>
      </p:sp>
      <p:sp>
        <p:nvSpPr>
          <p:cNvPr id="5" name="Shape 3"/>
          <p:cNvSpPr/>
          <p:nvPr/>
        </p:nvSpPr>
        <p:spPr>
          <a:xfrm>
            <a:off x="566928" y="1828800"/>
            <a:ext cx="5358384" cy="1828800"/>
          </a:xfrm>
          <a:prstGeom prst="roundRect">
            <a:avLst>
              <a:gd name="adj" fmla="val 8000"/>
            </a:avLst>
          </a:prstGeom>
          <a:solidFill>
            <a:srgbClr val="FFFFFF"/>
          </a:solidFill>
          <a:ln/>
        </p:spPr>
      </p:sp>
      <p:sp>
        <p:nvSpPr>
          <p:cNvPr id="6" name="Shape 4"/>
          <p:cNvSpPr/>
          <p:nvPr/>
        </p:nvSpPr>
        <p:spPr>
          <a:xfrm>
            <a:off x="566928" y="1828800"/>
            <a:ext cx="5358384" cy="91440"/>
          </a:xfrm>
          <a:prstGeom prst="roundRect">
            <a:avLst>
              <a:gd name="adj" fmla="val 500000"/>
            </a:avLst>
          </a:prstGeom>
          <a:solidFill>
            <a:srgbClr val="7A4F9E"/>
          </a:solidFill>
          <a:ln/>
        </p:spPr>
      </p:sp>
      <p:sp>
        <p:nvSpPr>
          <p:cNvPr id="7" name="Text 5"/>
          <p:cNvSpPr/>
          <p:nvPr/>
        </p:nvSpPr>
        <p:spPr>
          <a:xfrm>
            <a:off x="896112" y="2103120"/>
            <a:ext cx="4754880" cy="411480"/>
          </a:xfrm>
          <a:prstGeom prst="rect">
            <a:avLst/>
          </a:prstGeom>
          <a:noFill/>
          <a:ln/>
        </p:spPr>
        <p:txBody>
          <a:bodyPr wrap="square" lIns="0" tIns="0" rIns="0" bIns="0" rtlCol="0" anchor="ctr"/>
          <a:lstStyle/>
          <a:p>
            <a:pPr algn="l" indent="0" marL="0">
              <a:buNone/>
            </a:pPr>
            <a:r>
              <a:rPr lang="en-US" sz="1400" b="1" dirty="0">
                <a:solidFill>
                  <a:srgbClr val="7A4F9E"/>
                </a:solidFill>
                <a:latin typeface="Century Gothic" pitchFamily="34" charset="0"/>
                <a:ea typeface="Century Gothic" pitchFamily="34" charset="-122"/>
                <a:cs typeface="Century Gothic" pitchFamily="34" charset="-120"/>
              </a:rPr>
              <a:t>The freeze has no outside timestamp</a:t>
            </a:r>
            <a:endParaRPr lang="en-US" sz="1400" dirty="0"/>
          </a:p>
        </p:txBody>
      </p:sp>
      <p:sp>
        <p:nvSpPr>
          <p:cNvPr id="8" name="Text 6"/>
          <p:cNvSpPr/>
          <p:nvPr/>
        </p:nvSpPr>
        <p:spPr>
          <a:xfrm>
            <a:off x="896112" y="2615184"/>
            <a:ext cx="4718304" cy="914400"/>
          </a:xfrm>
          <a:prstGeom prst="rect">
            <a:avLst/>
          </a:prstGeom>
          <a:noFill/>
          <a:ln/>
        </p:spPr>
        <p:txBody>
          <a:bodyPr wrap="square" lIns="0" tIns="0" rIns="0" bIns="0" rtlCol="0" anchor="t"/>
          <a:lstStyle/>
          <a:p>
            <a:pPr algn="l" indent="0" marL="0">
              <a:lnSpc>
                <a:spcPct val="134000"/>
              </a:lnSpc>
              <a:buNone/>
            </a:pPr>
            <a:r>
              <a:rPr lang="en-US" sz="1250" dirty="0">
                <a:solidFill>
                  <a:srgbClr val="6E5A48"/>
                </a:solidFill>
                <a:latin typeface="Calibri" pitchFamily="34" charset="0"/>
                <a:ea typeface="Calibri" pitchFamily="34" charset="-122"/>
                <a:cs typeface="Calibri" pitchFamily="34" charset="-120"/>
              </a:rPr>
              <a:t>The plan was fixed before I saw outcomes, but the record is in my own files. Pre-specified, not pre-registered.</a:t>
            </a:r>
            <a:endParaRPr lang="en-US" sz="1250" dirty="0"/>
          </a:p>
        </p:txBody>
      </p:sp>
      <p:sp>
        <p:nvSpPr>
          <p:cNvPr id="9" name="Shape 7"/>
          <p:cNvSpPr/>
          <p:nvPr/>
        </p:nvSpPr>
        <p:spPr>
          <a:xfrm>
            <a:off x="6263640" y="1828800"/>
            <a:ext cx="5358384" cy="1828800"/>
          </a:xfrm>
          <a:prstGeom prst="roundRect">
            <a:avLst>
              <a:gd name="adj" fmla="val 8000"/>
            </a:avLst>
          </a:prstGeom>
          <a:solidFill>
            <a:srgbClr val="FFFFFF"/>
          </a:solidFill>
          <a:ln/>
        </p:spPr>
      </p:sp>
      <p:sp>
        <p:nvSpPr>
          <p:cNvPr id="10" name="Shape 8"/>
          <p:cNvSpPr/>
          <p:nvPr/>
        </p:nvSpPr>
        <p:spPr>
          <a:xfrm>
            <a:off x="6263640" y="1828800"/>
            <a:ext cx="5358384" cy="91440"/>
          </a:xfrm>
          <a:prstGeom prst="roundRect">
            <a:avLst>
              <a:gd name="adj" fmla="val 500000"/>
            </a:avLst>
          </a:prstGeom>
          <a:solidFill>
            <a:srgbClr val="2E63C8"/>
          </a:solidFill>
          <a:ln/>
        </p:spPr>
      </p:sp>
      <p:sp>
        <p:nvSpPr>
          <p:cNvPr id="11" name="Text 9"/>
          <p:cNvSpPr/>
          <p:nvPr/>
        </p:nvSpPr>
        <p:spPr>
          <a:xfrm>
            <a:off x="6592824" y="2103120"/>
            <a:ext cx="4754880" cy="411480"/>
          </a:xfrm>
          <a:prstGeom prst="rect">
            <a:avLst/>
          </a:prstGeom>
          <a:noFill/>
          <a:ln/>
        </p:spPr>
        <p:txBody>
          <a:bodyPr wrap="square" lIns="0" tIns="0" rIns="0" bIns="0" rtlCol="0" anchor="ctr"/>
          <a:lstStyle/>
          <a:p>
            <a:pPr algn="l" indent="0" marL="0">
              <a:buNone/>
            </a:pPr>
            <a:r>
              <a:rPr lang="en-US" sz="1400" b="1" dirty="0">
                <a:solidFill>
                  <a:srgbClr val="2E63C8"/>
                </a:solidFill>
                <a:latin typeface="Century Gothic" pitchFamily="34" charset="0"/>
                <a:ea typeface="Century Gothic" pitchFamily="34" charset="-122"/>
                <a:cs typeface="Century Gothic" pitchFamily="34" charset="-120"/>
              </a:rPr>
              <a:t>One consensus line per game</a:t>
            </a:r>
            <a:endParaRPr lang="en-US" sz="1400" dirty="0"/>
          </a:p>
        </p:txBody>
      </p:sp>
      <p:sp>
        <p:nvSpPr>
          <p:cNvPr id="12" name="Text 10"/>
          <p:cNvSpPr/>
          <p:nvPr/>
        </p:nvSpPr>
        <p:spPr>
          <a:xfrm>
            <a:off x="6592824" y="2615184"/>
            <a:ext cx="4718304" cy="914400"/>
          </a:xfrm>
          <a:prstGeom prst="rect">
            <a:avLst/>
          </a:prstGeom>
          <a:noFill/>
          <a:ln/>
        </p:spPr>
        <p:txBody>
          <a:bodyPr wrap="square" lIns="0" tIns="0" rIns="0" bIns="0" rtlCol="0" anchor="t"/>
          <a:lstStyle/>
          <a:p>
            <a:pPr algn="l" indent="0" marL="0">
              <a:lnSpc>
                <a:spcPct val="134000"/>
              </a:lnSpc>
              <a:buNone/>
            </a:pPr>
            <a:r>
              <a:rPr lang="en-US" sz="1250" dirty="0">
                <a:solidFill>
                  <a:srgbClr val="6E5A48"/>
                </a:solidFill>
                <a:latin typeface="Calibri" pitchFamily="34" charset="0"/>
                <a:ea typeface="Calibri" pitchFamily="34" charset="-122"/>
                <a:cs typeface="Calibri" pitchFamily="34" charset="-120"/>
              </a:rPr>
              <a:t>No line shopping, no book identity, and the timing of each quote is unrecorded. Nothing here speaks to closing lines.</a:t>
            </a:r>
            <a:endParaRPr lang="en-US" sz="1250" dirty="0"/>
          </a:p>
        </p:txBody>
      </p:sp>
      <p:sp>
        <p:nvSpPr>
          <p:cNvPr id="13" name="Shape 11"/>
          <p:cNvSpPr/>
          <p:nvPr/>
        </p:nvSpPr>
        <p:spPr>
          <a:xfrm>
            <a:off x="566928" y="3840480"/>
            <a:ext cx="5358384" cy="1828800"/>
          </a:xfrm>
          <a:prstGeom prst="roundRect">
            <a:avLst>
              <a:gd name="adj" fmla="val 8000"/>
            </a:avLst>
          </a:prstGeom>
          <a:solidFill>
            <a:srgbClr val="FFFFFF"/>
          </a:solidFill>
          <a:ln/>
        </p:spPr>
      </p:sp>
      <p:sp>
        <p:nvSpPr>
          <p:cNvPr id="14" name="Shape 12"/>
          <p:cNvSpPr/>
          <p:nvPr/>
        </p:nvSpPr>
        <p:spPr>
          <a:xfrm>
            <a:off x="566928" y="3840480"/>
            <a:ext cx="5358384" cy="91440"/>
          </a:xfrm>
          <a:prstGeom prst="roundRect">
            <a:avLst>
              <a:gd name="adj" fmla="val 500000"/>
            </a:avLst>
          </a:prstGeom>
          <a:solidFill>
            <a:srgbClr val="0F8A6E"/>
          </a:solidFill>
          <a:ln/>
        </p:spPr>
      </p:sp>
      <p:sp>
        <p:nvSpPr>
          <p:cNvPr id="15" name="Text 13"/>
          <p:cNvSpPr/>
          <p:nvPr/>
        </p:nvSpPr>
        <p:spPr>
          <a:xfrm>
            <a:off x="896112" y="4114800"/>
            <a:ext cx="4754880" cy="411480"/>
          </a:xfrm>
          <a:prstGeom prst="rect">
            <a:avLst/>
          </a:prstGeom>
          <a:noFill/>
          <a:ln/>
        </p:spPr>
        <p:txBody>
          <a:bodyPr wrap="square" lIns="0" tIns="0" rIns="0" bIns="0" rtlCol="0" anchor="ctr"/>
          <a:lstStyle/>
          <a:p>
            <a:pPr algn="l" indent="0" marL="0">
              <a:buNone/>
            </a:pPr>
            <a:r>
              <a:rPr lang="en-US" sz="1400" b="1" dirty="0">
                <a:solidFill>
                  <a:srgbClr val="0F8A6E"/>
                </a:solidFill>
                <a:latin typeface="Century Gothic" pitchFamily="34" charset="0"/>
                <a:ea typeface="Century Gothic" pitchFamily="34" charset="-122"/>
                <a:cs typeface="Century Gothic" pitchFamily="34" charset="-120"/>
              </a:rPr>
              <a:t>Thirteen clusters is not many</a:t>
            </a:r>
            <a:endParaRPr lang="en-US" sz="1400" dirty="0"/>
          </a:p>
        </p:txBody>
      </p:sp>
      <p:sp>
        <p:nvSpPr>
          <p:cNvPr id="16" name="Text 14"/>
          <p:cNvSpPr/>
          <p:nvPr/>
        </p:nvSpPr>
        <p:spPr>
          <a:xfrm>
            <a:off x="896112" y="4626864"/>
            <a:ext cx="4718304" cy="914400"/>
          </a:xfrm>
          <a:prstGeom prst="rect">
            <a:avLst/>
          </a:prstGeom>
          <a:noFill/>
          <a:ln/>
        </p:spPr>
        <p:txBody>
          <a:bodyPr wrap="square" lIns="0" tIns="0" rIns="0" bIns="0" rtlCol="0" anchor="t"/>
          <a:lstStyle/>
          <a:p>
            <a:pPr algn="l" indent="0" marL="0">
              <a:lnSpc>
                <a:spcPct val="134000"/>
              </a:lnSpc>
              <a:buNone/>
            </a:pPr>
            <a:r>
              <a:rPr lang="en-US" sz="1250" dirty="0">
                <a:solidFill>
                  <a:srgbClr val="6E5A48"/>
                </a:solidFill>
                <a:latin typeface="Calibri" pitchFamily="34" charset="0"/>
                <a:ea typeface="Calibri" pitchFamily="34" charset="-122"/>
                <a:cs typeface="Calibri" pitchFamily="34" charset="-120"/>
              </a:rPr>
              <a:t>Season-level cluster-robust variance needs more groups than this to be trusted, so those rows are sensitivity checks.</a:t>
            </a:r>
            <a:endParaRPr lang="en-US" sz="1250" dirty="0"/>
          </a:p>
        </p:txBody>
      </p:sp>
      <p:sp>
        <p:nvSpPr>
          <p:cNvPr id="17" name="Shape 15"/>
          <p:cNvSpPr/>
          <p:nvPr/>
        </p:nvSpPr>
        <p:spPr>
          <a:xfrm>
            <a:off x="6263640" y="3840480"/>
            <a:ext cx="5358384" cy="1828800"/>
          </a:xfrm>
          <a:prstGeom prst="roundRect">
            <a:avLst>
              <a:gd name="adj" fmla="val 8000"/>
            </a:avLst>
          </a:prstGeom>
          <a:solidFill>
            <a:srgbClr val="FFFFFF"/>
          </a:solidFill>
          <a:ln/>
        </p:spPr>
      </p:sp>
      <p:sp>
        <p:nvSpPr>
          <p:cNvPr id="18" name="Shape 16"/>
          <p:cNvSpPr/>
          <p:nvPr/>
        </p:nvSpPr>
        <p:spPr>
          <a:xfrm>
            <a:off x="6263640" y="3840480"/>
            <a:ext cx="5358384" cy="91440"/>
          </a:xfrm>
          <a:prstGeom prst="roundRect">
            <a:avLst>
              <a:gd name="adj" fmla="val 500000"/>
            </a:avLst>
          </a:prstGeom>
          <a:solidFill>
            <a:srgbClr val="DB5A28"/>
          </a:solidFill>
          <a:ln/>
        </p:spPr>
      </p:sp>
      <p:sp>
        <p:nvSpPr>
          <p:cNvPr id="19" name="Text 17"/>
          <p:cNvSpPr/>
          <p:nvPr/>
        </p:nvSpPr>
        <p:spPr>
          <a:xfrm>
            <a:off x="6592824" y="4114800"/>
            <a:ext cx="4754880" cy="411480"/>
          </a:xfrm>
          <a:prstGeom prst="rect">
            <a:avLst/>
          </a:prstGeom>
          <a:noFill/>
          <a:ln/>
        </p:spPr>
        <p:txBody>
          <a:bodyPr wrap="square" lIns="0" tIns="0" rIns="0" bIns="0" rtlCol="0" anchor="ctr"/>
          <a:lstStyle/>
          <a:p>
            <a:pPr algn="l" indent="0" marL="0">
              <a:buNone/>
            </a:pPr>
            <a:r>
              <a:rPr lang="en-US" sz="1400" b="1" dirty="0">
                <a:solidFill>
                  <a:srgbClr val="DB5A28"/>
                </a:solidFill>
                <a:latin typeface="Century Gothic" pitchFamily="34" charset="0"/>
                <a:ea typeface="Century Gothic" pitchFamily="34" charset="-122"/>
                <a:cs typeface="Century Gothic" pitchFamily="34" charset="-120"/>
              </a:rPr>
              <a:t>The archive stops in March 2020</a:t>
            </a:r>
            <a:endParaRPr lang="en-US" sz="1400" dirty="0"/>
          </a:p>
        </p:txBody>
      </p:sp>
      <p:sp>
        <p:nvSpPr>
          <p:cNvPr id="20" name="Text 18"/>
          <p:cNvSpPr/>
          <p:nvPr/>
        </p:nvSpPr>
        <p:spPr>
          <a:xfrm>
            <a:off x="6592824" y="4626864"/>
            <a:ext cx="4718304" cy="914400"/>
          </a:xfrm>
          <a:prstGeom prst="rect">
            <a:avLst/>
          </a:prstGeom>
          <a:noFill/>
          <a:ln/>
        </p:spPr>
        <p:txBody>
          <a:bodyPr wrap="square" lIns="0" tIns="0" rIns="0" bIns="0" rtlCol="0" anchor="t"/>
          <a:lstStyle/>
          <a:p>
            <a:pPr algn="l" indent="0" marL="0">
              <a:lnSpc>
                <a:spcPct val="134000"/>
              </a:lnSpc>
              <a:buNone/>
            </a:pPr>
            <a:r>
              <a:rPr lang="en-US" sz="1250" dirty="0">
                <a:solidFill>
                  <a:srgbClr val="6E5A48"/>
                </a:solidFill>
                <a:latin typeface="Calibri" pitchFamily="34" charset="0"/>
                <a:ea typeface="Calibri" pitchFamily="34" charset="-122"/>
                <a:cs typeface="Calibri" pitchFamily="34" charset="-120"/>
              </a:rPr>
              <a:t>Everything predates most of the US legal expansion. No claim is made about what came after.</a:t>
            </a:r>
            <a:endParaRPr lang="en-US" sz="1250" dirty="0"/>
          </a:p>
        </p:txBody>
      </p:sp>
      <p:sp>
        <p:nvSpPr>
          <p:cNvPr id="21" name="Text 19"/>
          <p:cNvSpPr/>
          <p:nvPr/>
        </p:nvSpPr>
        <p:spPr>
          <a:xfrm>
            <a:off x="566928" y="6254496"/>
            <a:ext cx="11055096" cy="365760"/>
          </a:xfrm>
          <a:prstGeom prst="rect">
            <a:avLst/>
          </a:prstGeom>
          <a:noFill/>
          <a:ln/>
        </p:spPr>
        <p:txBody>
          <a:bodyPr wrap="square" lIns="0" tIns="0" rIns="0" bIns="0" rtlCol="0" anchor="ctr"/>
          <a:lstStyle/>
          <a:p>
            <a:pPr algn="l" indent="0" marL="0">
              <a:buNone/>
            </a:pPr>
            <a:r>
              <a:rPr lang="en-US" sz="1050" i="1" dirty="0">
                <a:solidFill>
                  <a:srgbClr val="6E5A48"/>
                </a:solidFill>
                <a:latin typeface="Calibri" pitchFamily="34" charset="0"/>
                <a:ea typeface="Calibri" pitchFamily="34" charset="-122"/>
                <a:cs typeface="Calibri" pitchFamily="34" charset="-120"/>
              </a:rPr>
              <a:t>Every one of these is in the paper. None of them was found by a reviewer first.</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8A6E"/>
        </a:solidFill>
      </p:bgPr>
    </p:bg>
    <p:spTree>
      <p:nvGrpSpPr>
        <p:cNvPr id="1" name=""/>
        <p:cNvGrpSpPr/>
        <p:nvPr/>
      </p:nvGrpSpPr>
      <p:grpSpPr>
        <a:xfrm>
          <a:off x="0" y="0"/>
          <a:ext cx="0" cy="0"/>
          <a:chOff x="0" y="0"/>
          <a:chExt cx="0" cy="0"/>
        </a:xfrm>
      </p:grpSpPr>
      <p:sp>
        <p:nvSpPr>
          <p:cNvPr id="2" name="Shape 0"/>
          <p:cNvSpPr/>
          <p:nvPr/>
        </p:nvSpPr>
        <p:spPr>
          <a:xfrm>
            <a:off x="-1097280" y="4389120"/>
            <a:ext cx="3657600" cy="3657600"/>
          </a:xfrm>
          <a:prstGeom prst="ellipse">
            <a:avLst/>
          </a:prstGeom>
          <a:solidFill>
            <a:srgbClr val="FFFFFF">
              <a:alpha val="12000"/>
            </a:srgbClr>
          </a:solidFill>
          <a:ln/>
        </p:spPr>
      </p:sp>
      <p:sp>
        <p:nvSpPr>
          <p:cNvPr id="3" name="Shape 1"/>
          <p:cNvSpPr/>
          <p:nvPr/>
        </p:nvSpPr>
        <p:spPr>
          <a:xfrm>
            <a:off x="9966960" y="-914400"/>
            <a:ext cx="3108960" cy="3108960"/>
          </a:xfrm>
          <a:prstGeom prst="ellipse">
            <a:avLst/>
          </a:prstGeom>
          <a:solidFill>
            <a:srgbClr val="FFFFFF">
              <a:alpha val="10000"/>
            </a:srgbClr>
          </a:solidFill>
          <a:ln/>
        </p:spPr>
      </p:sp>
      <p:sp>
        <p:nvSpPr>
          <p:cNvPr id="4" name="Shape 2"/>
          <p:cNvSpPr/>
          <p:nvPr/>
        </p:nvSpPr>
        <p:spPr>
          <a:xfrm>
            <a:off x="10881360" y="4754880"/>
            <a:ext cx="1280160" cy="1280160"/>
          </a:xfrm>
          <a:prstGeom prst="ellipse">
            <a:avLst/>
          </a:prstGeom>
          <a:solidFill>
            <a:srgbClr val="FFF7EC">
              <a:alpha val="0"/>
            </a:srgbClr>
          </a:solidFill>
          <a:ln w="38100">
            <a:solidFill>
              <a:srgbClr val="FFFFFF"/>
            </a:solidFill>
            <a:prstDash val="solid"/>
          </a:ln>
        </p:spPr>
      </p:sp>
      <p:sp>
        <p:nvSpPr>
          <p:cNvPr id="5" name="Text 3"/>
          <p:cNvSpPr/>
          <p:nvPr/>
        </p:nvSpPr>
        <p:spPr>
          <a:xfrm>
            <a:off x="566928" y="1600200"/>
            <a:ext cx="9692640" cy="914400"/>
          </a:xfrm>
          <a:prstGeom prst="rect">
            <a:avLst/>
          </a:prstGeom>
          <a:noFill/>
          <a:ln/>
        </p:spPr>
        <p:txBody>
          <a:bodyPr wrap="square" lIns="0" tIns="0" rIns="0" bIns="0" rtlCol="0" anchor="ctr"/>
          <a:lstStyle/>
          <a:p>
            <a:pPr algn="l" indent="0" marL="0">
              <a:buNone/>
            </a:pPr>
            <a:r>
              <a:rPr lang="en-US" sz="4200" b="1" dirty="0">
                <a:solidFill>
                  <a:srgbClr val="FFFFFF"/>
                </a:solidFill>
                <a:latin typeface="Century Gothic" pitchFamily="34" charset="0"/>
                <a:ea typeface="Century Gothic" pitchFamily="34" charset="-122"/>
                <a:cs typeface="Century Gothic" pitchFamily="34" charset="-120"/>
              </a:rPr>
              <a:t>Questions? Holes in it?</a:t>
            </a:r>
            <a:endParaRPr lang="en-US" sz="4200" dirty="0"/>
          </a:p>
        </p:txBody>
      </p:sp>
      <p:sp>
        <p:nvSpPr>
          <p:cNvPr id="6" name="Text 4"/>
          <p:cNvSpPr/>
          <p:nvPr/>
        </p:nvSpPr>
        <p:spPr>
          <a:xfrm>
            <a:off x="566928" y="2651760"/>
            <a:ext cx="8961120" cy="822960"/>
          </a:xfrm>
          <a:prstGeom prst="rect">
            <a:avLst/>
          </a:prstGeom>
          <a:noFill/>
          <a:ln/>
        </p:spPr>
        <p:txBody>
          <a:bodyPr wrap="square" lIns="0" tIns="0" rIns="0" bIns="0" rtlCol="0" anchor="ctr"/>
          <a:lstStyle/>
          <a:p>
            <a:pPr algn="l" indent="0" marL="0">
              <a:lnSpc>
                <a:spcPct val="125000"/>
              </a:lnSpc>
              <a:buNone/>
            </a:pPr>
            <a:r>
              <a:rPr lang="en-US" sz="1600" dirty="0">
                <a:solidFill>
                  <a:srgbClr val="FFFFFF"/>
                </a:solidFill>
                <a:latin typeface="Calibri" pitchFamily="34" charset="0"/>
                <a:ea typeface="Calibri" pitchFamily="34" charset="-122"/>
                <a:cs typeface="Calibri" pitchFamily="34" charset="-120"/>
              </a:rPr>
              <a:t>The whole thing rebuilds from raw data with one command. I would rather it broke now than after someone cites it.</a:t>
            </a:r>
            <a:endParaRPr lang="en-US" sz="1600" dirty="0"/>
          </a:p>
        </p:txBody>
      </p:sp>
      <p:sp>
        <p:nvSpPr>
          <p:cNvPr id="7" name="Shape 5"/>
          <p:cNvSpPr/>
          <p:nvPr/>
        </p:nvSpPr>
        <p:spPr>
          <a:xfrm>
            <a:off x="566928" y="3749040"/>
            <a:ext cx="10241280" cy="868680"/>
          </a:xfrm>
          <a:prstGeom prst="roundRect">
            <a:avLst>
              <a:gd name="adj" fmla="val 16842"/>
            </a:avLst>
          </a:prstGeom>
          <a:solidFill>
            <a:srgbClr val="FFFFFF"/>
          </a:solidFill>
          <a:ln/>
        </p:spPr>
      </p:sp>
      <p:sp>
        <p:nvSpPr>
          <p:cNvPr id="8" name="Text 6"/>
          <p:cNvSpPr/>
          <p:nvPr/>
        </p:nvSpPr>
        <p:spPr>
          <a:xfrm>
            <a:off x="978408" y="3749040"/>
            <a:ext cx="9418320" cy="868680"/>
          </a:xfrm>
          <a:prstGeom prst="rect">
            <a:avLst/>
          </a:prstGeom>
          <a:noFill/>
          <a:ln/>
        </p:spPr>
        <p:txBody>
          <a:bodyPr wrap="square" lIns="0" tIns="0" rIns="0" bIns="0" rtlCol="0" anchor="ctr"/>
          <a:lstStyle/>
          <a:p>
            <a:pPr algn="l" indent="0" marL="0">
              <a:buNone/>
            </a:pPr>
            <a:r>
              <a:rPr lang="en-US" sz="1600" b="1" dirty="0">
                <a:solidFill>
                  <a:srgbClr val="0F8A6E"/>
                </a:solidFill>
                <a:latin typeface="Consolas" pitchFamily="34" charset="0"/>
                <a:ea typeface="Consolas" pitchFamily="34" charset="-122"/>
                <a:cs typeface="Consolas" pitchFamily="34" charset="-120"/>
              </a:rPr>
              <a:t>github.com/jacobburdier05/nba-moneyline-calibration</a:t>
            </a:r>
            <a:endParaRPr lang="en-US" sz="1600" dirty="0"/>
          </a:p>
        </p:txBody>
      </p:sp>
      <p:sp>
        <p:nvSpPr>
          <p:cNvPr id="9" name="Text 7"/>
          <p:cNvSpPr/>
          <p:nvPr/>
        </p:nvSpPr>
        <p:spPr>
          <a:xfrm>
            <a:off x="566928" y="4983480"/>
            <a:ext cx="9692640" cy="45720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Jacob Burdier   ·   jacobburdier@gmail.com   ·   The Scholars’ Academy, class of 2027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Vig Removal Changes the Answer</dc:title>
  <dc:subject>PptxGenJS Presentation</dc:subject>
  <dc:creator>Jacob Burdier</dc:creator>
  <cp:lastModifiedBy>Jacob Burdier</cp:lastModifiedBy>
  <cp:revision>1</cp:revision>
  <dcterms:created xsi:type="dcterms:W3CDTF">2026-09-07T23:41:41Z</dcterms:created>
  <dcterms:modified xsi:type="dcterms:W3CDTF">2026-09-07T23:41:41Z</dcterms:modified>
</cp:coreProperties>
</file>